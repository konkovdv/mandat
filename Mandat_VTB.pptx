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уть и проблема" id="{5F66533D-0133-0796-09D1-DD08489DD58B}">
          <p14:sldIdLst>
            <p14:sldId id="256"/>
            <p14:sldId id="257"/>
            <p14:sldId id="258"/>
            <p14:sldId id="259"/>
            <p14:sldId id="260"/>
          </p14:sldIdLst>
        </p14:section>
        <p14:section name="Решение" id="{161E7DF1-CEAB-74AA-10CD-C0CCB73015C8}">
          <p14:sldIdLst>
            <p14:sldId id="261"/>
            <p14:sldId id="262"/>
            <p14:sldId id="263"/>
            <p14:sldId id="264"/>
            <p14:sldId id="265"/>
          </p14:sldIdLst>
        </p14:section>
        <p14:section name="Эффект и доказательства" id="{9BD79BC3-B6F8-1359-5B59-C0BBADFACBD8}">
          <p14:sldIdLst>
            <p14:sldId id="266"/>
            <p14:sldId id="267"/>
            <p14:sldId id="268"/>
            <p14:sldId id="269"/>
          </p14:sldIdLst>
        </p14:section>
        <p14:section name="Стадия, пилот, запросы" id="{E7B11A6C-2EDD-4EA5-0CAE-5A0A73D3C0E6}">
          <p14:sldIdLst>
            <p14:sldId id="270"/>
            <p14:sldId id="271"/>
            <p14:sldId id="272"/>
            <p14:sldId id="273"/>
            <p14:sldId id="274"/>
          </p14:sldIdLst>
        </p14:section>
        <p14:section name="Приложение" id="{296F1ABF-4E6F-FFD5-2A96-63C31DE865E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lang="ru-RU" sz="13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 (сценарии)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Консервативный · 10% · 20 мин</c:v>
                </c:pt>
                <c:pt idx="1">
                  <c:v>Базовый · 15% · 30 мин</c:v>
                </c:pt>
                <c:pt idx="2">
                  <c:v>Оптимистичный · 25% · 40 мин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E3-4200-8582-0FEECC7AAD2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5391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— команда «Мандат». За несколько минут покажем, почему дать новому бухгалтеру право подписи в интернет-банке сегодня означает визит в офис и ручную сверку, почему тот же процесс — лазейка для мошенников, и как один движок закрывает обе проблемы.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запомнить один слайд — этот. Проблема: новый представитель компании — это визит в офис и ручная сверка, а мошенники используют тот же процесс. Решение: движок, который отвечает на вопрос о полномочиях с доказательством. Эффект: высвобождение операционной нагрузки и быстрые права для типовых случаев. Запрос: владелец процесса, данные и теневой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в одной фразе: компания не может быстро и безопасно дать новому сотруднику права в банке. В ВТБ, если представителя нет среди абонентов, его добавляют в офисе. Передоверие технически не поддерживается. Онлайн-заявки на рынке есть, но документы к ним всё равно разбирают люди, и как банки проверяют входящие доверенности, публично не описано. При этом МЧД уже около пяти миллионов, а бумажные доверенности никто не отменял. Это гипотеза, и мы её проверяем интервью и опросом до 1 ноября.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именно сейчас. Первый миллион МЧД набрался к июню 2024 года, сейчас их около пяти миллионов. В августе подписан 315-ФЗ: с сентября 2027 года основной становится единая форма МЧД с Госуслуг, обмен с Госуслугами ФНС ожидает до конца года. Поток входящих доверенностей в банк будет только расти. Второе — мошенники: доля юрлиц в похищенных средствах за квартал выросла с 7,8 до 11,3 процента. Мы не выдаём это за свою экономию, это контекст: полномочия и защита от захвата — одна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продукта три пользователя. Боль платит владелец бизнеса: ему нужно быстро и безопасно дать права сотруднику. Бухгалтеру нужно начать работать в день назначения. Сотруднику банка нужен готовый вывод с доказательствами вместо ручной сверки. Платит банк — владелец процесса обслуживания юрлиц. Честно: эти формулировки — гипотезы, интервью стартуют 12 октября.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отвечает на один вопрос: может ли этот человек сделать эту операцию от имени этой компании на эту дату. Четыре шага: принять документы, проверить цепочку на дату, подготовить решение о правах и дальше следить за событиями. Ответ всегда один из трёх, и неизвестное никогда не превращается в «да». Важно: мы проверяем полномочия, а не личность — идентификация остаётся за существующими каналами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выглядит работа сотрудника. Слева карточка вердикта: операция, ответ и цепочка доказательств. Первые два звена подтверждают, третье ломается: в первой доверенности передоверие запрещено. Сотрудник видит не просто «отказ», а конкретное звено и норму. Справа событийный сценарий: смена директора, новая доверенность и смена реквизитов за три часа. Мы не блокируем сами — останавливаем автоматику и зовём человека. Все данные синтетические.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в четырёх блоках. Вход: XML проверяется по схеме, сканы разбираются в изолированном процессе, реестры подключаются через адаптеры — в пилоте мы меняем заглушки на интеграции банка, не трогая ядро. Правила — это данные с нормой, версией и подписью юриста. Модель только извлекает факты и при неуверенности отказывается. Каждое решение — с трассой и в журнале. Это совпадает с позицией ЦБ: объяснимость и человек в сложных решениях.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вопрос жюри: это уже кто-то делает? Да, проверка МЧД под документ в документообороте — норма: 1С-ЭДО проверяет реестр, подпись, цепочку передоверия и полномочия по виду документа и сумме. Это хорошо: задача решаема. Но банку нужен другой ответ — можно ли дать человеку права на банковскую операцию с учётом устава, бумаги и ЕГРЮЛ, и что делать с этими правами, когда сменился директор. Этого в открытых описаниях нет ни у кого. Контур и 1С мы можем использовать как источники.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Вторая половина продукта — постоянный контроль. Источники событий: ЕГРЮЛ, реестр МЧД и сам интернет-банк. Когда меняется звено цепочки, мы находим все права, которые от него зависят, и отправляем их на перепроверку, цель — меньше суток. Важно, чего мы не делаем: не ловим подделку в ФНС и не отзываем права автоматически, потому что по позиции ФНС смена директора доверенность не прекращает. Политику задаёт банк.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Эффект для банка в трёх числах. Первое — высвобождение нагрузки: в консервативном сценарии около 33 ставок, диапазон до 167; формула на слайде, все допущения подписаны, и мы просим две недели данных ВТБ, чтобы заменить их фактом. Второе — права в день обращения для типовых случаев. Третье — время реакции на событие: меньше суток вместо «при следующем обращении клиента». Плюс стоимость низкая: ядро работает на обычных серверах, модель нужна только для сканов.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метрика для клиента — доля представителей, получивших права без офиса. Главная защитная для банка — ложные «подтверждено»: это единственная ошибка, которую мы не имеем права совершать, поэтому покрытие автоматикой растёт только при нуле таких ошибок. Мерим на открытом синтетическом корпусе с атакующими кейсами и двумя разметками, а время — в эксперименте с одними и теми же участниками.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Банку важно, где живут данные. Всё работает внутри контура, внешних вызовов нет. Персональные данные псевдонимизируются, есть сроки хранения и удаление. По 115-ФЗ мы не подменяем идентификацию — мы проверяем полномочия после неё. Подпись проверяют сертифицированные средства банка. Модели — on-prem и решений не принимают. Каждое решение лежит в журнале с хеш-цепочкой.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сами назовём риски, которые банк увидит первыми. Ложное подтверждение — асимметричные пороги и воздержание. Ошибка в правилах — ссылка на норму и юрист. Ошибка модели — без цитаты нет факта. Интеграция — на пилоте её нет, мы только рекомендуем. Данные — внутри контура. Сопровождение — открытый код и передача команде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мы сейчас. Ядро проверки с доказательствами уже работает в моём открытом проекте AeroBIM: больше трёх тысяч автотестов. Это другая предметная область — строительная документация, — поэтому прямо говорим: банковского продукта пока нет, мы переносим проверенное ядро. К 1 ноября — вертикальный срез на синтетике, к 29 ноября — MVP с измерениями и защитой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 простой. Спринт 1 — доказать проблему и показать срез. Спринт 2 — MVP с измерениями и защитой данных. Спринт 3 — сценарий пилота. Сам пилот теневой: шесть недель «Мандат» работает рядом с ручной проверкой на одной операции и ни на что не влияет, а в конце мы сравниваем результаты по заранее согласованным критериям. Это совпадает с тем, как Акселератор ВТБ описывает пилоты: ограниченный кейс без сложных интеграций, амбассадор, измеримые метрики.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запросы конкретны. Владелец процесса и амбассадор. Регламент одной операции. Данные — обезличенные пакеты или хотя бы экспертная разметка нашего корпуса. Базовые цифры, чтобы заменить допущения фактами. Проверка правил юристом банка. Песочница. И главный запрос — шестинедельный теневой пилот через Акселератор ВТБ с заранее согласованными метриками.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Я отвечаю за архитектуру и правила, Елена — за методику измерения и качество. Добираем продакта-исследователя и юриста. Мы честно говорим: мы не вендор продакшена; наш результат — проверенные правила, протокол, итоги пилота и открытая эталонная реализация, которую может принять команда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наши гипотезы проверяемыми уже в первом спринте.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EFEB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dirty="0">
                <a:solidFill>
                  <a:srgbClr val="5A6673"/>
                </a:solidFill>
              </a:defRPr>
            </a:lvl1pPr>
          </a:lstStyle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6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KonkovDV/Manda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graph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97280"/>
            <a:ext cx="4206240" cy="4206240"/>
          </a:xfrm>
          <a:prstGeom prst="rect">
            <a:avLst/>
          </a:prstGeom>
        </p:spPr>
      </p:pic>
      <p:sp>
        <p:nvSpPr>
          <p:cNvPr id="3" name="text-1"/>
          <p:cNvSpPr txBox="1"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</a:t>
            </a:r>
            <a:endParaRPr lang="en-US" sz="1400" dirty="0"/>
          </a:p>
        </p:txBody>
      </p:sp>
      <p:sp>
        <p:nvSpPr>
          <p:cNvPr id="4" name="text-2"/>
          <p:cNvSpPr txBox="1"/>
          <p:nvPr/>
        </p:nvSpPr>
        <p:spPr>
          <a:xfrm>
            <a:off x="640080" y="123444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6600" b="1" dirty="0">
                <a:solidFill>
                  <a:schemeClr val="accent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5" name="text-3"/>
          <p:cNvSpPr txBox="1"/>
          <p:nvPr/>
        </p:nvSpPr>
        <p:spPr>
          <a:xfrm>
            <a:off x="640080" y="24688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26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600" dirty="0"/>
          </a:p>
        </p:txBody>
      </p:sp>
      <p:sp>
        <p:nvSpPr>
          <p:cNvPr id="6" name="text-4"/>
          <p:cNvSpPr txBox="1"/>
          <p:nvPr/>
        </p:nvSpPr>
        <p:spPr>
          <a:xfrm>
            <a:off x="640080" y="33375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Может ли этот человек действовать от имени компании? Ответ за минуты — с доказательством до пункта документа</a:t>
            </a:r>
            <a:endParaRPr lang="en-US" sz="1600" dirty="0"/>
          </a:p>
        </p:txBody>
      </p:sp>
      <p:sp>
        <p:nvSpPr>
          <p:cNvPr id="7" name="text-5"/>
          <p:cNvSpPr txBox="1"/>
          <p:nvPr/>
        </p:nvSpPr>
        <p:spPr>
          <a:xfrm>
            <a:off x="640080" y="4754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Спикер</a:t>
            </a:r>
            <a:endParaRPr lang="en-US" sz="1400" dirty="0"/>
          </a:p>
        </p:txBody>
      </p:sp>
      <p:sp>
        <p:nvSpPr>
          <p:cNvPr id="8" name="text-6"/>
          <p:cNvSpPr txBox="1"/>
          <p:nvPr/>
        </p:nvSpPr>
        <p:spPr>
          <a:xfrm>
            <a:off x="640080" y="5074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Коньков Дмитрий</a:t>
            </a:r>
            <a:endParaRPr lang="en-US" sz="2200" dirty="0"/>
          </a:p>
        </p:txBody>
      </p:sp>
      <p:sp>
        <p:nvSpPr>
          <p:cNvPr id="9" name="text-7"/>
          <p:cNvSpPr txBox="1"/>
          <p:nvPr/>
        </p:nvSpPr>
        <p:spPr>
          <a:xfrm>
            <a:off x="64008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Капитан команды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Суть за 30 секунд</a:t>
            </a:r>
            <a:endParaRPr lang="en-US" sz="2600" dirty="0"/>
          </a:p>
        </p:txBody>
      </p:sp>
      <p:sp>
        <p:nvSpPr>
          <p:cNvPr id="3" name="card-8"/>
          <p:cNvSpPr/>
          <p:nvPr/>
        </p:nvSpPr>
        <p:spPr>
          <a:xfrm>
            <a:off x="548640" y="1325880"/>
            <a:ext cx="5449824" cy="2240280"/>
          </a:xfrm>
          <a:prstGeom prst="roundRect">
            <a:avLst>
              <a:gd name="adj" fmla="val 3265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icon-bg-9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720901"/>
            <a:ext cx="307238" cy="307238"/>
          </a:xfrm>
          <a:prstGeom prst="rect">
            <a:avLst/>
          </a:prstGeom>
        </p:spPr>
      </p:pic>
      <p:sp>
        <p:nvSpPr>
          <p:cNvPr id="6" name="text-11"/>
          <p:cNvSpPr txBox="1"/>
          <p:nvPr/>
        </p:nvSpPr>
        <p:spPr>
          <a:xfrm>
            <a:off x="1554480" y="1673352"/>
            <a:ext cx="4169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accent1"/>
                </a:solidFill>
              </a:rPr>
              <a:t>Проблема</a:t>
            </a:r>
            <a:endParaRPr lang="en-US" sz="1900" dirty="0"/>
          </a:p>
        </p:txBody>
      </p:sp>
      <p:sp>
        <p:nvSpPr>
          <p:cNvPr id="7" name="text-12"/>
          <p:cNvSpPr txBox="1"/>
          <p:nvPr/>
        </p:nvSpPr>
        <p:spPr>
          <a:xfrm>
            <a:off x="822960" y="2286000"/>
            <a:ext cx="4901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Чтобы дать новому бухгалтеру право подписи, клиент едет в офис, а сотрудник вручную сверяет доверенность, устав и выписку. Мошенники пользуются тем же процессом.</a:t>
            </a:r>
            <a:endParaRPr lang="en-US" sz="1500" dirty="0"/>
          </a:p>
        </p:txBody>
      </p:sp>
      <p:sp>
        <p:nvSpPr>
          <p:cNvPr id="8" name="card-13"/>
          <p:cNvSpPr/>
          <p:nvPr/>
        </p:nvSpPr>
        <p:spPr>
          <a:xfrm>
            <a:off x="6190488" y="1325880"/>
            <a:ext cx="5449824" cy="2240280"/>
          </a:xfrm>
          <a:prstGeom prst="roundRect">
            <a:avLst>
              <a:gd name="adj" fmla="val 3265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" name="icon-bg-14"/>
          <p:cNvSpPr/>
          <p:nvPr/>
        </p:nvSpPr>
        <p:spPr>
          <a:xfrm>
            <a:off x="6464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5509" y="1720901"/>
            <a:ext cx="307238" cy="307238"/>
          </a:xfrm>
          <a:prstGeom prst="rect">
            <a:avLst/>
          </a:prstGeom>
        </p:spPr>
      </p:pic>
      <p:sp>
        <p:nvSpPr>
          <p:cNvPr id="11" name="text-16"/>
          <p:cNvSpPr txBox="1"/>
          <p:nvPr/>
        </p:nvSpPr>
        <p:spPr>
          <a:xfrm>
            <a:off x="7196328" y="1673352"/>
            <a:ext cx="4169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accent1"/>
                </a:solidFill>
              </a:rPr>
              <a:t>Решение</a:t>
            </a:r>
            <a:endParaRPr lang="en-US" sz="1900" dirty="0"/>
          </a:p>
        </p:txBody>
      </p:sp>
      <p:sp>
        <p:nvSpPr>
          <p:cNvPr id="12" name="text-17"/>
          <p:cNvSpPr txBox="1"/>
          <p:nvPr/>
        </p:nvSpPr>
        <p:spPr>
          <a:xfrm>
            <a:off x="6464808" y="2286000"/>
            <a:ext cx="4901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On-prem движок отвечает, вправе ли человек провести операцию от имени компании на дату, и готовит решение о правах в интернет-банке с доказательством по каждому шагу.</a:t>
            </a:r>
            <a:endParaRPr lang="en-US" sz="1500" dirty="0"/>
          </a:p>
        </p:txBody>
      </p:sp>
      <p:sp>
        <p:nvSpPr>
          <p:cNvPr id="13" name="card-18"/>
          <p:cNvSpPr/>
          <p:nvPr/>
        </p:nvSpPr>
        <p:spPr>
          <a:xfrm>
            <a:off x="548640" y="3794760"/>
            <a:ext cx="5449824" cy="2240280"/>
          </a:xfrm>
          <a:prstGeom prst="roundRect">
            <a:avLst>
              <a:gd name="adj" fmla="val 3265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icon-bg-19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-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1" y="4189781"/>
            <a:ext cx="307238" cy="307238"/>
          </a:xfrm>
          <a:prstGeom prst="rect">
            <a:avLst/>
          </a:prstGeom>
        </p:spPr>
      </p:pic>
      <p:sp>
        <p:nvSpPr>
          <p:cNvPr id="16" name="text-21"/>
          <p:cNvSpPr txBox="1"/>
          <p:nvPr/>
        </p:nvSpPr>
        <p:spPr>
          <a:xfrm>
            <a:off x="1554480" y="4142232"/>
            <a:ext cx="4169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accent1"/>
                </a:solidFill>
              </a:rPr>
              <a:t>Эффект для ВТБ</a:t>
            </a:r>
            <a:endParaRPr lang="en-US" sz="1900" dirty="0"/>
          </a:p>
        </p:txBody>
      </p:sp>
      <p:sp>
        <p:nvSpPr>
          <p:cNvPr id="17" name="text-22"/>
          <p:cNvSpPr txBox="1"/>
          <p:nvPr/>
        </p:nvSpPr>
        <p:spPr>
          <a:xfrm>
            <a:off x="822960" y="4754880"/>
            <a:ext cx="4901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33–167 ставок операционной нагрузки в год (сценарии), права в день обращения для типовых случаев, перепроверка прав при смене директора или отзыве МЧД.</a:t>
            </a:r>
            <a:endParaRPr lang="en-US" sz="1500" dirty="0"/>
          </a:p>
        </p:txBody>
      </p:sp>
      <p:sp>
        <p:nvSpPr>
          <p:cNvPr id="18" name="card-23"/>
          <p:cNvSpPr/>
          <p:nvPr/>
        </p:nvSpPr>
        <p:spPr>
          <a:xfrm>
            <a:off x="6190488" y="3794760"/>
            <a:ext cx="5449824" cy="2240280"/>
          </a:xfrm>
          <a:prstGeom prst="roundRect">
            <a:avLst>
              <a:gd name="adj" fmla="val 3265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icon-bg-24"/>
          <p:cNvSpPr/>
          <p:nvPr/>
        </p:nvSpPr>
        <p:spPr>
          <a:xfrm>
            <a:off x="6464808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2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5509" y="4189781"/>
            <a:ext cx="307238" cy="307238"/>
          </a:xfrm>
          <a:prstGeom prst="rect">
            <a:avLst/>
          </a:prstGeom>
        </p:spPr>
      </p:pic>
      <p:sp>
        <p:nvSpPr>
          <p:cNvPr id="21" name="text-26"/>
          <p:cNvSpPr txBox="1"/>
          <p:nvPr/>
        </p:nvSpPr>
        <p:spPr>
          <a:xfrm>
            <a:off x="7196328" y="4142232"/>
            <a:ext cx="4169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accent1"/>
                </a:solidFill>
              </a:rPr>
              <a:t>Наш запрос</a:t>
            </a:r>
            <a:endParaRPr lang="en-US" sz="1900" dirty="0"/>
          </a:p>
        </p:txBody>
      </p:sp>
      <p:sp>
        <p:nvSpPr>
          <p:cNvPr id="22" name="text-27"/>
          <p:cNvSpPr txBox="1"/>
          <p:nvPr/>
        </p:nvSpPr>
        <p:spPr>
          <a:xfrm>
            <a:off x="6464808" y="4754880"/>
            <a:ext cx="4901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Владелец процесса, регламент одной операции, обезличенные пакеты или тестовый контур и 6-недельный теневой пилот через Акселератор ВТБ.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Новый представитель компании — это визит в офис и ручная сверка</a:t>
            </a:r>
            <a:endParaRPr lang="en-US" sz="2600" dirty="0"/>
          </a:p>
        </p:txBody>
      </p:sp>
      <p:sp>
        <p:nvSpPr>
          <p:cNvPr id="3" name="text-28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Ситуация: </a:t>
            </a:r>
            <a:r>
              <a:rPr lang="en-US" sz="1600" dirty="0">
                <a:solidFill>
                  <a:schemeClr val="bg1"/>
                </a:solidFill>
              </a:rPr>
              <a:t>компания наняла бухгалтера и хочет сегодня дать ему право подписывать платёжки в интернет-банке.</a:t>
            </a:r>
            <a:endParaRPr lang="en-US" sz="1600" dirty="0"/>
          </a:p>
        </p:txBody>
      </p:sp>
      <p:sp>
        <p:nvSpPr>
          <p:cNvPr id="4" name="card-29"/>
          <p:cNvSpPr/>
          <p:nvPr/>
        </p:nvSpPr>
        <p:spPr>
          <a:xfrm>
            <a:off x="548640" y="178308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" name="icon-bg-30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3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02" y="2168042"/>
            <a:ext cx="281635" cy="281635"/>
          </a:xfrm>
          <a:prstGeom prst="rect">
            <a:avLst/>
          </a:prstGeom>
        </p:spPr>
      </p:pic>
      <p:sp>
        <p:nvSpPr>
          <p:cNvPr id="7" name="text-32"/>
          <p:cNvSpPr txBox="1"/>
          <p:nvPr/>
        </p:nvSpPr>
        <p:spPr>
          <a:xfrm>
            <a:off x="1463040" y="211226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Клиент</a:t>
            </a:r>
            <a:endParaRPr lang="en-US" sz="1700" dirty="0"/>
          </a:p>
        </p:txBody>
      </p:sp>
      <p:sp>
        <p:nvSpPr>
          <p:cNvPr id="8" name="text-33"/>
          <p:cNvSpPr txBox="1"/>
          <p:nvPr/>
        </p:nvSpPr>
        <p:spPr>
          <a:xfrm>
            <a:off x="822960" y="274320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По условиям сервиса МЧД «ВТБ Бизнес» представителя, которого нет среди абонентов, добавляют в офисе банка.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Онлайн-заявки на изменения юрдела у ряда банков есть, но документы к ним по-прежнему прикладывают и разбирают.</a:t>
            </a:r>
            <a:endParaRPr lang="en-US" sz="1400" dirty="0"/>
          </a:p>
        </p:txBody>
      </p:sp>
      <p:sp>
        <p:nvSpPr>
          <p:cNvPr id="9" name="card-34"/>
          <p:cNvSpPr/>
          <p:nvPr/>
        </p:nvSpPr>
        <p:spPr>
          <a:xfrm>
            <a:off x="4297680" y="178308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icon-bg-35"/>
          <p:cNvSpPr/>
          <p:nvPr/>
        </p:nvSpPr>
        <p:spPr>
          <a:xfrm>
            <a:off x="457200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3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42" y="2168042"/>
            <a:ext cx="281635" cy="281635"/>
          </a:xfrm>
          <a:prstGeom prst="rect">
            <a:avLst/>
          </a:prstGeom>
        </p:spPr>
      </p:pic>
      <p:sp>
        <p:nvSpPr>
          <p:cNvPr id="12" name="text-37"/>
          <p:cNvSpPr txBox="1"/>
          <p:nvPr/>
        </p:nvSpPr>
        <p:spPr>
          <a:xfrm>
            <a:off x="5212080" y="211226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Банк</a:t>
            </a:r>
            <a:endParaRPr lang="en-US" sz="1700" dirty="0"/>
          </a:p>
        </p:txBody>
      </p:sp>
      <p:sp>
        <p:nvSpPr>
          <p:cNvPr id="13" name="text-38"/>
          <p:cNvSpPr txBox="1"/>
          <p:nvPr/>
        </p:nvSpPr>
        <p:spPr>
          <a:xfrm>
            <a:off x="4572000" y="274320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Передоверие в сервисе МЧД ВТБ только отмечается признаком, технически не поддерживается; проверять введённые данные банк не обязан.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Как банки проверяют входящие МЧД и бумажные доверенности, публично не описано.</a:t>
            </a:r>
            <a:endParaRPr lang="en-US" sz="1400" dirty="0"/>
          </a:p>
        </p:txBody>
      </p:sp>
      <p:sp>
        <p:nvSpPr>
          <p:cNvPr id="14" name="card-39"/>
          <p:cNvSpPr/>
          <p:nvPr/>
        </p:nvSpPr>
        <p:spPr>
          <a:xfrm>
            <a:off x="8046720" y="1783080"/>
            <a:ext cx="3593592" cy="338328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-40"/>
          <p:cNvSpPr txBox="1"/>
          <p:nvPr/>
        </p:nvSpPr>
        <p:spPr>
          <a:xfrm>
            <a:off x="832104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Рынок</a:t>
            </a:r>
            <a:endParaRPr lang="en-US" sz="1700" dirty="0"/>
          </a:p>
        </p:txBody>
      </p:sp>
      <p:sp>
        <p:nvSpPr>
          <p:cNvPr id="16" name="text-41"/>
          <p:cNvSpPr txBox="1"/>
          <p:nvPr/>
        </p:nvSpPr>
        <p:spPr>
          <a:xfrm>
            <a:off x="8321040" y="2468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bg1"/>
                </a:solidFill>
              </a:rPr>
              <a:t>≈5 млн</a:t>
            </a:r>
            <a:endParaRPr lang="en-US" sz="4000" dirty="0"/>
          </a:p>
        </p:txBody>
      </p:sp>
      <p:sp>
        <p:nvSpPr>
          <p:cNvPr id="17" name="text-42"/>
          <p:cNvSpPr txBox="1"/>
          <p:nvPr/>
        </p:nvSpPr>
        <p:spPr>
          <a:xfrm>
            <a:off x="8321040" y="32461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МЧД в реестре ФНС (июль 2026); первый миллион — июнь 2024.</a:t>
            </a:r>
            <a:endParaRPr lang="en-US" sz="1400" dirty="0"/>
          </a:p>
        </p:txBody>
      </p:sp>
      <p:sp>
        <p:nvSpPr>
          <p:cNvPr id="18" name="text-43"/>
          <p:cNvSpPr txBox="1"/>
          <p:nvPr/>
        </p:nvSpPr>
        <p:spPr>
          <a:xfrm>
            <a:off x="8321040" y="402336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Бумажные доверенности не отменены (письмо Минцифры от 18.09.2024 № П15-305662) — поток смешанный.</a:t>
            </a:r>
            <a:endParaRPr lang="en-US" sz="1300" dirty="0"/>
          </a:p>
        </p:txBody>
      </p:sp>
      <p:sp>
        <p:nvSpPr>
          <p:cNvPr id="19" name="h1-box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10203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44"/>
          <p:cNvSpPr txBox="1"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Гипотеза H1 (проверяем до 1 ноября): </a:t>
            </a:r>
            <a:r>
              <a:rPr lang="en-US" sz="1400" dirty="0">
                <a:solidFill>
                  <a:schemeClr val="bg1"/>
                </a:solidFill>
              </a:rPr>
              <a:t>не менее 30% случаев добавления представителя требуют визита в офис или повторной подачи документов. Метод: 8–12 интервью, опрос n ≥ 50, карта процесса.</a:t>
            </a:r>
            <a:endParaRPr lang="en-US" sz="1400" dirty="0"/>
          </a:p>
        </p:txBody>
      </p:sp>
      <p:sp>
        <p:nvSpPr>
          <p:cNvPr id="21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vtb.ru/r/terms_mchd; myurist.online, 27.07.2026; comnews.ru, 25.06.2024; buh.ru — письмо Минцифры от 18.09.2024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Почему сейчас: поток доверенностей растёт, мошенники идут в бизнес</a:t>
            </a:r>
            <a:endParaRPr lang="en-US" sz="2600" dirty="0"/>
          </a:p>
        </p:txBody>
      </p:sp>
      <p:sp>
        <p:nvSpPr>
          <p:cNvPr id="3" name="text-45"/>
          <p:cNvSpPr txBox="1"/>
          <p:nvPr/>
        </p:nvSpPr>
        <p:spPr>
          <a:xfrm>
            <a:off x="548640" y="1234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Регуляторный календарь</a:t>
            </a:r>
            <a:endParaRPr lang="en-US" sz="1700" dirty="0"/>
          </a:p>
        </p:txBody>
      </p:sp>
      <p:sp>
        <p:nvSpPr>
          <p:cNvPr id="4" name="dot-46"/>
          <p:cNvSpPr/>
          <p:nvPr/>
        </p:nvSpPr>
        <p:spPr>
          <a:xfrm>
            <a:off x="594360" y="184708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l-line-47"/>
          <p:cNvSpPr/>
          <p:nvPr/>
        </p:nvSpPr>
        <p:spPr>
          <a:xfrm>
            <a:off x="694944" y="2066544"/>
            <a:ext cx="0" cy="56692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</a:ln>
        </p:spPr>
      </p:sp>
      <p:sp>
        <p:nvSpPr>
          <p:cNvPr id="6" name="text-48"/>
          <p:cNvSpPr txBox="1"/>
          <p:nvPr/>
        </p:nvSpPr>
        <p:spPr>
          <a:xfrm>
            <a:off x="100584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06.2024</a:t>
            </a:r>
            <a:endParaRPr lang="en-US" sz="1500" dirty="0"/>
          </a:p>
        </p:txBody>
      </p:sp>
      <p:sp>
        <p:nvSpPr>
          <p:cNvPr id="7" name="text-49"/>
          <p:cNvSpPr txBox="1"/>
          <p:nvPr/>
        </p:nvSpPr>
        <p:spPr>
          <a:xfrm>
            <a:off x="2743200" y="1737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1 млн МЧД в реестре ФНС</a:t>
            </a:r>
            <a:endParaRPr lang="en-US" sz="1500" dirty="0"/>
          </a:p>
        </p:txBody>
      </p:sp>
      <p:sp>
        <p:nvSpPr>
          <p:cNvPr id="8" name="dot-50"/>
          <p:cNvSpPr/>
          <p:nvPr/>
        </p:nvSpPr>
        <p:spPr>
          <a:xfrm>
            <a:off x="594360" y="263347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l-line-51"/>
          <p:cNvSpPr/>
          <p:nvPr/>
        </p:nvSpPr>
        <p:spPr>
          <a:xfrm>
            <a:off x="694944" y="2852928"/>
            <a:ext cx="0" cy="56692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</a:ln>
        </p:spPr>
      </p:sp>
      <p:sp>
        <p:nvSpPr>
          <p:cNvPr id="10" name="text-52"/>
          <p:cNvSpPr txBox="1"/>
          <p:nvPr/>
        </p:nvSpPr>
        <p:spPr>
          <a:xfrm>
            <a:off x="1005840" y="252374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07.2026</a:t>
            </a:r>
            <a:endParaRPr lang="en-US" sz="1500" dirty="0"/>
          </a:p>
        </p:txBody>
      </p:sp>
      <p:sp>
        <p:nvSpPr>
          <p:cNvPr id="11" name="text-53"/>
          <p:cNvSpPr txBox="1"/>
          <p:nvPr/>
        </p:nvSpPr>
        <p:spPr>
          <a:xfrm>
            <a:off x="2743200" y="25237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около 5 млн МЧД</a:t>
            </a:r>
            <a:endParaRPr lang="en-US" sz="1500" dirty="0"/>
          </a:p>
        </p:txBody>
      </p:sp>
      <p:sp>
        <p:nvSpPr>
          <p:cNvPr id="12" name="dot-54"/>
          <p:cNvSpPr/>
          <p:nvPr/>
        </p:nvSpPr>
        <p:spPr>
          <a:xfrm>
            <a:off x="594360" y="341985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l-line-55"/>
          <p:cNvSpPr/>
          <p:nvPr/>
        </p:nvSpPr>
        <p:spPr>
          <a:xfrm>
            <a:off x="694944" y="3639312"/>
            <a:ext cx="0" cy="56692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</a:ln>
        </p:spPr>
      </p:sp>
      <p:sp>
        <p:nvSpPr>
          <p:cNvPr id="14" name="text-56"/>
          <p:cNvSpPr txBox="1"/>
          <p:nvPr/>
        </p:nvSpPr>
        <p:spPr>
          <a:xfrm>
            <a:off x="1005840" y="33101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04.08.2026</a:t>
            </a:r>
            <a:endParaRPr lang="en-US" sz="1500" dirty="0"/>
          </a:p>
        </p:txBody>
      </p:sp>
      <p:sp>
        <p:nvSpPr>
          <p:cNvPr id="15" name="text-57"/>
          <p:cNvSpPr txBox="1"/>
          <p:nvPr/>
        </p:nvSpPr>
        <p:spPr>
          <a:xfrm>
            <a:off x="2743200" y="33101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подписан 315-ФЗ об изменениях в 63-ФЗ</a:t>
            </a:r>
            <a:endParaRPr lang="en-US" sz="1500" dirty="0"/>
          </a:p>
        </p:txBody>
      </p:sp>
      <p:sp>
        <p:nvSpPr>
          <p:cNvPr id="16" name="dot-58"/>
          <p:cNvSpPr/>
          <p:nvPr/>
        </p:nvSpPr>
        <p:spPr>
          <a:xfrm>
            <a:off x="594360" y="420624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l-line-59"/>
          <p:cNvSpPr/>
          <p:nvPr/>
        </p:nvSpPr>
        <p:spPr>
          <a:xfrm>
            <a:off x="694944" y="4425696"/>
            <a:ext cx="0" cy="56692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</a:ln>
        </p:spPr>
      </p:sp>
      <p:sp>
        <p:nvSpPr>
          <p:cNvPr id="18" name="text-60"/>
          <p:cNvSpPr txBox="1"/>
          <p:nvPr/>
        </p:nvSpPr>
        <p:spPr>
          <a:xfrm>
            <a:off x="1005840" y="40965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до конца 2026</a:t>
            </a:r>
            <a:endParaRPr lang="en-US" sz="1500" dirty="0"/>
          </a:p>
        </p:txBody>
      </p:sp>
      <p:sp>
        <p:nvSpPr>
          <p:cNvPr id="19" name="text-61"/>
          <p:cNvSpPr txBox="1"/>
          <p:nvPr/>
        </p:nvSpPr>
        <p:spPr>
          <a:xfrm>
            <a:off x="2743200" y="40965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ФНС ожидает первый обмен МЧД с Госуслугами</a:t>
            </a:r>
            <a:endParaRPr lang="en-US" sz="1500" dirty="0"/>
          </a:p>
        </p:txBody>
      </p:sp>
      <p:sp>
        <p:nvSpPr>
          <p:cNvPr id="20" name="dot-62"/>
          <p:cNvSpPr/>
          <p:nvPr/>
        </p:nvSpPr>
        <p:spPr>
          <a:xfrm>
            <a:off x="594360" y="499262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-63"/>
          <p:cNvSpPr txBox="1"/>
          <p:nvPr/>
        </p:nvSpPr>
        <p:spPr>
          <a:xfrm>
            <a:off x="1005840" y="488289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01.09.2027</a:t>
            </a:r>
            <a:endParaRPr lang="en-US" sz="1500" dirty="0"/>
          </a:p>
        </p:txBody>
      </p:sp>
      <p:sp>
        <p:nvSpPr>
          <p:cNvPr id="22" name="text-64"/>
          <p:cNvSpPr txBox="1"/>
          <p:nvPr/>
        </p:nvSpPr>
        <p:spPr>
          <a:xfrm>
            <a:off x="2743200" y="488289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основной становится единая форма МЧД с Госуслуг</a:t>
            </a:r>
            <a:endParaRPr lang="en-US" sz="1500" dirty="0"/>
          </a:p>
        </p:txBody>
      </p:sp>
      <p:sp>
        <p:nvSpPr>
          <p:cNvPr id="23" name="card-65"/>
          <p:cNvSpPr/>
          <p:nvPr/>
        </p:nvSpPr>
        <p:spPr>
          <a:xfrm>
            <a:off x="6949440" y="1234440"/>
            <a:ext cx="4690872" cy="4892040"/>
          </a:xfrm>
          <a:prstGeom prst="roundRect">
            <a:avLst>
              <a:gd name="adj" fmla="val 1559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-66"/>
          <p:cNvSpPr txBox="1"/>
          <p:nvPr/>
        </p:nvSpPr>
        <p:spPr>
          <a:xfrm>
            <a:off x="7269480" y="1508760"/>
            <a:ext cx="4050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Мошенничество против юрлиц</a:t>
            </a:r>
            <a:endParaRPr lang="en-US" sz="1700" dirty="0"/>
          </a:p>
        </p:txBody>
      </p:sp>
      <p:sp>
        <p:nvSpPr>
          <p:cNvPr id="25" name="text-67"/>
          <p:cNvSpPr txBox="1"/>
          <p:nvPr/>
        </p:nvSpPr>
        <p:spPr>
          <a:xfrm>
            <a:off x="7269480" y="19659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4800" b="1" dirty="0">
                <a:solidFill>
                  <a:schemeClr val="bg1"/>
                </a:solidFill>
              </a:rPr>
              <a:t>11,3%</a:t>
            </a:r>
            <a:endParaRPr lang="en-US" sz="4800" dirty="0"/>
          </a:p>
        </p:txBody>
      </p:sp>
      <p:sp>
        <p:nvSpPr>
          <p:cNvPr id="26" name="text-68"/>
          <p:cNvSpPr txBox="1"/>
          <p:nvPr/>
        </p:nvSpPr>
        <p:spPr>
          <a:xfrm>
            <a:off x="9555480" y="2011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4"/>
                </a:solidFill>
              </a:rPr>
              <a:t>доля юрлиц в похищенных средствах во II кв. 2026; в I кв. — 7,8%</a:t>
            </a:r>
            <a:endParaRPr lang="en-US" sz="1200" dirty="0"/>
          </a:p>
        </p:txBody>
      </p:sp>
      <p:sp>
        <p:nvSpPr>
          <p:cNvPr id="27" name="text-69"/>
          <p:cNvSpPr txBox="1"/>
          <p:nvPr/>
        </p:nvSpPr>
        <p:spPr>
          <a:xfrm>
            <a:off x="7269480" y="3063240"/>
            <a:ext cx="4050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Банк России фиксирует рост вывода похищенного через юрлица (АРБ, 25.11.2025).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Известная схема «Космонавт»: подставной директор по поддельному решению участника на короткое время получает контроль над компанией, чтобы вывести деньги или взять кредиты.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accent4"/>
                </a:solidFill>
              </a:rPr>
              <a:t>Это контекст риска, а не наша экономия: большая часть хищений — социальная инженерия.</a:t>
            </a:r>
            <a:endParaRPr lang="en-US" sz="1400" dirty="0"/>
          </a:p>
        </p:txBody>
      </p:sp>
      <p:sp>
        <p:nvSpPr>
          <p:cNvPr id="28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comnews.ru, 25.06.2024; myurist.online, 27.07.2026; v2b.ru, 11.08.2026 (315-ФЗ); cbr.ru, пресс-релиз от 04.08.2026; finmarket.ru, 25.11.2025; bfm.ru, 05.04.2024</a:t>
            </a:r>
            <a:endParaRPr lang="en-US" sz="10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Три пользователя — одна работа: быстро и доказуемо подтвердить полномочие</a:t>
            </a:r>
            <a:endParaRPr lang="en-US" sz="2600" dirty="0"/>
          </a:p>
        </p:txBody>
      </p:sp>
      <p:sp>
        <p:nvSpPr>
          <p:cNvPr id="3" name="card-70"/>
          <p:cNvSpPr/>
          <p:nvPr/>
        </p:nvSpPr>
        <p:spPr>
          <a:xfrm>
            <a:off x="548640" y="1280160"/>
            <a:ext cx="3575304" cy="3794760"/>
          </a:xfrm>
          <a:prstGeom prst="roundRect">
            <a:avLst>
              <a:gd name="adj" fmla="val 2046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icon-bg-71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7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02" y="1665122"/>
            <a:ext cx="281635" cy="281635"/>
          </a:xfrm>
          <a:prstGeom prst="rect">
            <a:avLst/>
          </a:prstGeom>
        </p:spPr>
      </p:pic>
      <p:sp>
        <p:nvSpPr>
          <p:cNvPr id="6" name="text-73"/>
          <p:cNvSpPr txBox="1"/>
          <p:nvPr/>
        </p:nvSpPr>
        <p:spPr>
          <a:xfrm>
            <a:off x="1463040" y="1554480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Владелец или директор МСБ</a:t>
            </a:r>
            <a:endParaRPr lang="en-US" sz="1600" dirty="0"/>
          </a:p>
        </p:txBody>
      </p:sp>
      <p:sp>
        <p:nvSpPr>
          <p:cNvPr id="7" name="text-74"/>
          <p:cNvSpPr txBox="1"/>
          <p:nvPr/>
        </p:nvSpPr>
        <p:spPr>
          <a:xfrm>
            <a:off x="822960" y="2240280"/>
            <a:ext cx="3026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«Когда я нанимаю бухгалтера, я хочу сегодня дать ему право подписи в пределах лимита и быть уверенным, что так же легко права не получит мошенник».</a:t>
            </a:r>
            <a:endParaRPr lang="en-US" sz="1400" dirty="0"/>
          </a:p>
        </p:txBody>
      </p:sp>
      <p:sp>
        <p:nvSpPr>
          <p:cNvPr id="8" name="text-75"/>
          <p:cNvSpPr txBox="1"/>
          <p:nvPr/>
        </p:nvSpPr>
        <p:spPr>
          <a:xfrm>
            <a:off x="822960" y="411480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Получает: </a:t>
            </a:r>
            <a:r>
              <a:rPr lang="en-US" sz="1300" dirty="0">
                <a:solidFill>
                  <a:schemeClr val="accent4"/>
                </a:solidFill>
              </a:rPr>
              <a:t>Права в день обращения, лимиты, уведомления о рисках</a:t>
            </a:r>
            <a:endParaRPr lang="en-US" sz="1300" dirty="0"/>
          </a:p>
        </p:txBody>
      </p:sp>
      <p:sp>
        <p:nvSpPr>
          <p:cNvPr id="9" name="card-76"/>
          <p:cNvSpPr/>
          <p:nvPr/>
        </p:nvSpPr>
        <p:spPr>
          <a:xfrm>
            <a:off x="4306824" y="1280160"/>
            <a:ext cx="3575304" cy="3794760"/>
          </a:xfrm>
          <a:prstGeom prst="roundRect">
            <a:avLst>
              <a:gd name="adj" fmla="val 2046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icon-bg-77"/>
          <p:cNvSpPr/>
          <p:nvPr/>
        </p:nvSpPr>
        <p:spPr>
          <a:xfrm>
            <a:off x="4581144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7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786" y="1665122"/>
            <a:ext cx="281635" cy="281635"/>
          </a:xfrm>
          <a:prstGeom prst="rect">
            <a:avLst/>
          </a:prstGeom>
        </p:spPr>
      </p:pic>
      <p:sp>
        <p:nvSpPr>
          <p:cNvPr id="12" name="text-79"/>
          <p:cNvSpPr txBox="1"/>
          <p:nvPr/>
        </p:nvSpPr>
        <p:spPr>
          <a:xfrm>
            <a:off x="5221224" y="1554480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Бухгалтер или представитель</a:t>
            </a:r>
            <a:endParaRPr lang="en-US" sz="1600" dirty="0"/>
          </a:p>
        </p:txBody>
      </p:sp>
      <p:sp>
        <p:nvSpPr>
          <p:cNvPr id="13" name="text-80"/>
          <p:cNvSpPr txBox="1"/>
          <p:nvPr/>
        </p:nvSpPr>
        <p:spPr>
          <a:xfrm>
            <a:off x="4581144" y="2240280"/>
            <a:ext cx="3026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«Когда меня назначили, я хочу в тот же день начать работать в интернет-банке и сразу понять, каких документов не хватает».</a:t>
            </a:r>
            <a:endParaRPr lang="en-US" sz="1400" dirty="0"/>
          </a:p>
        </p:txBody>
      </p:sp>
      <p:sp>
        <p:nvSpPr>
          <p:cNvPr id="14" name="text-81"/>
          <p:cNvSpPr txBox="1"/>
          <p:nvPr/>
        </p:nvSpPr>
        <p:spPr>
          <a:xfrm>
            <a:off x="4581144" y="411480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Получает: </a:t>
            </a:r>
            <a:r>
              <a:rPr lang="en-US" sz="1300" dirty="0">
                <a:solidFill>
                  <a:schemeClr val="accent4"/>
                </a:solidFill>
              </a:rPr>
              <a:t>Понятный список недостающего, без повторных визитов</a:t>
            </a:r>
            <a:endParaRPr lang="en-US" sz="1300" dirty="0"/>
          </a:p>
        </p:txBody>
      </p:sp>
      <p:sp>
        <p:nvSpPr>
          <p:cNvPr id="15" name="card-82"/>
          <p:cNvSpPr/>
          <p:nvPr/>
        </p:nvSpPr>
        <p:spPr>
          <a:xfrm>
            <a:off x="8065008" y="1280160"/>
            <a:ext cx="3575304" cy="3794760"/>
          </a:xfrm>
          <a:prstGeom prst="roundRect">
            <a:avLst>
              <a:gd name="adj" fmla="val 2046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icon-bg-83"/>
          <p:cNvSpPr/>
          <p:nvPr/>
        </p:nvSpPr>
        <p:spPr>
          <a:xfrm>
            <a:off x="8339328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8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970" y="1665122"/>
            <a:ext cx="281635" cy="281635"/>
          </a:xfrm>
          <a:prstGeom prst="rect">
            <a:avLst/>
          </a:prstGeom>
        </p:spPr>
      </p:pic>
      <p:sp>
        <p:nvSpPr>
          <p:cNvPr id="18" name="text-85"/>
          <p:cNvSpPr txBox="1"/>
          <p:nvPr/>
        </p:nvSpPr>
        <p:spPr>
          <a:xfrm>
            <a:off x="8979408" y="1554480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Сотрудник банка</a:t>
            </a:r>
            <a:endParaRPr lang="en-US" sz="1600" dirty="0"/>
          </a:p>
        </p:txBody>
      </p:sp>
      <p:sp>
        <p:nvSpPr>
          <p:cNvPr id="19" name="text-86"/>
          <p:cNvSpPr txBox="1"/>
          <p:nvPr/>
        </p:nvSpPr>
        <p:spPr>
          <a:xfrm>
            <a:off x="8339328" y="2240280"/>
            <a:ext cx="3026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«Когда приходит пакет документов представителя, я хочу видеть готовый вывод с обоснованием и разбирать только спорное».</a:t>
            </a:r>
            <a:endParaRPr lang="en-US" sz="1400" dirty="0"/>
          </a:p>
        </p:txBody>
      </p:sp>
      <p:sp>
        <p:nvSpPr>
          <p:cNvPr id="20" name="text-87"/>
          <p:cNvSpPr txBox="1"/>
          <p:nvPr/>
        </p:nvSpPr>
        <p:spPr>
          <a:xfrm>
            <a:off x="8339328" y="411480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Получает: </a:t>
            </a:r>
            <a:r>
              <a:rPr lang="en-US" sz="1300" dirty="0">
                <a:solidFill>
                  <a:schemeClr val="accent4"/>
                </a:solidFill>
              </a:rPr>
              <a:t>Очередь исключений, трасса до документа, журнал для комплаенса</a:t>
            </a:r>
            <a:endParaRPr lang="en-US" sz="1300" dirty="0"/>
          </a:p>
        </p:txBody>
      </p:sp>
      <p:sp>
        <p:nvSpPr>
          <p:cNvPr id="21" name="payer-box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102033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2" name="text-88"/>
          <p:cNvSpPr txBox="1"/>
          <p:nvPr/>
        </p:nvSpPr>
        <p:spPr>
          <a:xfrm>
            <a:off x="777240" y="5321808"/>
            <a:ext cx="10698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Заказчик и плательщик — </a:t>
            </a:r>
            <a:r>
              <a:rPr lang="en-US" sz="1400" dirty="0">
                <a:solidFill>
                  <a:schemeClr val="bg1"/>
                </a:solidFill>
              </a:rPr>
              <a:t>владелец процесса обслуживания юрлиц в банке. Первый сегмент для пилота — действующие клиенты МСБ, которые добавляют представителя по МЧД. Формулировки JTBD — гипотезы, интервью с 12 октября.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Решение: один вопрос — три ответа</a:t>
            </a:r>
            <a:endParaRPr lang="en-US" sz="2600" dirty="0"/>
          </a:p>
        </p:txBody>
      </p:sp>
      <p:sp>
        <p:nvSpPr>
          <p:cNvPr id="3" name="question"/>
          <p:cNvSpPr/>
          <p:nvPr/>
        </p:nvSpPr>
        <p:spPr>
          <a:xfrm>
            <a:off x="548640" y="12344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102033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text-89"/>
          <p:cNvSpPr txBox="1"/>
          <p:nvPr/>
        </p:nvSpPr>
        <p:spPr>
          <a:xfrm>
            <a:off x="548640" y="1234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2600" b="1" dirty="0">
                <a:solidFill>
                  <a:schemeClr val="bg1"/>
                </a:solidFill>
              </a:rPr>
              <a:t>Может ли </a:t>
            </a:r>
            <a:r>
              <a:rPr lang="en-US" sz="2600" b="1" dirty="0">
                <a:solidFill>
                  <a:schemeClr val="accent1"/>
                </a:solidFill>
              </a:rPr>
              <a:t>X</a:t>
            </a:r>
            <a:r>
              <a:rPr lang="en-US" sz="2600" b="1" dirty="0">
                <a:solidFill>
                  <a:schemeClr val="bg1"/>
                </a:solidFill>
              </a:rPr>
              <a:t> совершить операцию </a:t>
            </a:r>
            <a:r>
              <a:rPr lang="en-US" sz="2600" b="1" dirty="0">
                <a:solidFill>
                  <a:schemeClr val="accent1"/>
                </a:solidFill>
              </a:rPr>
              <a:t>O</a:t>
            </a:r>
            <a:r>
              <a:rPr lang="en-US" sz="2600" b="1" dirty="0">
                <a:solidFill>
                  <a:schemeClr val="bg1"/>
                </a:solidFill>
              </a:rPr>
              <a:t> от имени компании </a:t>
            </a:r>
            <a:r>
              <a:rPr lang="en-US" sz="2600" b="1" dirty="0">
                <a:solidFill>
                  <a:schemeClr val="accent1"/>
                </a:solidFill>
              </a:rPr>
              <a:t>Y</a:t>
            </a:r>
            <a:r>
              <a:rPr lang="en-US" sz="2600" b="1" dirty="0">
                <a:solidFill>
                  <a:schemeClr val="bg1"/>
                </a:solidFill>
              </a:rPr>
              <a:t> на дату </a:t>
            </a:r>
            <a:r>
              <a:rPr lang="en-US" sz="2600" b="1" dirty="0">
                <a:solidFill>
                  <a:schemeClr val="accent1"/>
                </a:solidFill>
              </a:rPr>
              <a:t>t</a:t>
            </a:r>
            <a:r>
              <a:rPr lang="en-US" sz="2600" b="1" dirty="0">
                <a:solidFill>
                  <a:schemeClr val="bg1"/>
                </a:solidFill>
              </a:rPr>
              <a:t>?</a:t>
            </a:r>
            <a:endParaRPr lang="en-US" sz="2600" dirty="0"/>
          </a:p>
        </p:txBody>
      </p:sp>
      <p:sp>
        <p:nvSpPr>
          <p:cNvPr id="5" name="card-90"/>
          <p:cNvSpPr/>
          <p:nvPr/>
        </p:nvSpPr>
        <p:spPr>
          <a:xfrm>
            <a:off x="548640" y="2377440"/>
            <a:ext cx="2496312" cy="1965960"/>
          </a:xfrm>
          <a:prstGeom prst="roundRect">
            <a:avLst>
              <a:gd name="adj" fmla="val 3721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text-91"/>
          <p:cNvSpPr txBox="1"/>
          <p:nvPr/>
        </p:nvSpPr>
        <p:spPr>
          <a:xfrm>
            <a:off x="749808" y="2560320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 · ПРИНЯТЬ</a:t>
            </a:r>
            <a:endParaRPr lang="en-US" sz="1400" dirty="0"/>
          </a:p>
        </p:txBody>
      </p:sp>
      <p:sp>
        <p:nvSpPr>
          <p:cNvPr id="7" name="text-92"/>
          <p:cNvSpPr txBox="1"/>
          <p:nvPr/>
        </p:nvSpPr>
        <p:spPr>
          <a:xfrm>
            <a:off x="749808" y="29718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МЧД в XML (ЕМЧД 003, ФНС 5.03), бумажная доверенность, устав, протокол, данные ЕГРЮЛ</a:t>
            </a:r>
            <a:endParaRPr lang="en-US" sz="1300" dirty="0"/>
          </a:p>
        </p:txBody>
      </p:sp>
      <p:sp>
        <p:nvSpPr>
          <p:cNvPr id="8" name="arrow-93"/>
          <p:cNvSpPr/>
          <p:nvPr/>
        </p:nvSpPr>
        <p:spPr>
          <a:xfrm>
            <a:off x="3108960" y="3241548"/>
            <a:ext cx="237744" cy="23774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rd-94"/>
          <p:cNvSpPr/>
          <p:nvPr/>
        </p:nvSpPr>
        <p:spPr>
          <a:xfrm>
            <a:off x="3410712" y="2377440"/>
            <a:ext cx="2496312" cy="1965960"/>
          </a:xfrm>
          <a:prstGeom prst="roundRect">
            <a:avLst>
              <a:gd name="adj" fmla="val 3721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text-95"/>
          <p:cNvSpPr txBox="1"/>
          <p:nvPr/>
        </p:nvSpPr>
        <p:spPr>
          <a:xfrm>
            <a:off x="3611880" y="2560320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02 · ПРОВЕРИТЬ</a:t>
            </a:r>
            <a:endParaRPr lang="en-US" sz="1400" dirty="0"/>
          </a:p>
        </p:txBody>
      </p:sp>
      <p:sp>
        <p:nvSpPr>
          <p:cNvPr id="11" name="text-96"/>
          <p:cNvSpPr txBox="1"/>
          <p:nvPr/>
        </p:nvSpPr>
        <p:spPr>
          <a:xfrm>
            <a:off x="3611880" y="29718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Цепочка на дату: руководитель, доверенность, передоверие, сроки, отзыв, ограничения устава</a:t>
            </a:r>
            <a:endParaRPr lang="en-US" sz="1300" dirty="0"/>
          </a:p>
        </p:txBody>
      </p:sp>
      <p:sp>
        <p:nvSpPr>
          <p:cNvPr id="12" name="arrow-97"/>
          <p:cNvSpPr/>
          <p:nvPr/>
        </p:nvSpPr>
        <p:spPr>
          <a:xfrm>
            <a:off x="5971032" y="3241548"/>
            <a:ext cx="237744" cy="23774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ard-98"/>
          <p:cNvSpPr/>
          <p:nvPr/>
        </p:nvSpPr>
        <p:spPr>
          <a:xfrm>
            <a:off x="6272784" y="2377440"/>
            <a:ext cx="2496312" cy="1965960"/>
          </a:xfrm>
          <a:prstGeom prst="roundRect">
            <a:avLst>
              <a:gd name="adj" fmla="val 3721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text-99"/>
          <p:cNvSpPr txBox="1"/>
          <p:nvPr/>
        </p:nvSpPr>
        <p:spPr>
          <a:xfrm>
            <a:off x="6473952" y="2560320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03 · РЕШИТЬ</a:t>
            </a:r>
            <a:endParaRPr lang="en-US" sz="1400" dirty="0"/>
          </a:p>
        </p:txBody>
      </p:sp>
      <p:sp>
        <p:nvSpPr>
          <p:cNvPr id="15" name="text-100"/>
          <p:cNvSpPr txBox="1"/>
          <p:nvPr/>
        </p:nvSpPr>
        <p:spPr>
          <a:xfrm>
            <a:off x="6473952" y="29718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Решение о роли и лимитах в интернет-банке по регламенту банка; спорное — сотруднику</a:t>
            </a:r>
            <a:endParaRPr lang="en-US" sz="1300" dirty="0"/>
          </a:p>
        </p:txBody>
      </p:sp>
      <p:sp>
        <p:nvSpPr>
          <p:cNvPr id="16" name="arrow-101"/>
          <p:cNvSpPr/>
          <p:nvPr/>
        </p:nvSpPr>
        <p:spPr>
          <a:xfrm>
            <a:off x="8833104" y="3241548"/>
            <a:ext cx="237744" cy="23774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ard-102"/>
          <p:cNvSpPr/>
          <p:nvPr/>
        </p:nvSpPr>
        <p:spPr>
          <a:xfrm>
            <a:off x="9134856" y="2377440"/>
            <a:ext cx="2496312" cy="1965960"/>
          </a:xfrm>
          <a:prstGeom prst="roundRect">
            <a:avLst>
              <a:gd name="adj" fmla="val 3721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8" name="text-103"/>
          <p:cNvSpPr txBox="1"/>
          <p:nvPr/>
        </p:nvSpPr>
        <p:spPr>
          <a:xfrm>
            <a:off x="9336024" y="2560320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04 · СЛЕДИТЬ</a:t>
            </a:r>
            <a:endParaRPr lang="en-US" sz="1400" dirty="0"/>
          </a:p>
        </p:txBody>
      </p:sp>
      <p:sp>
        <p:nvSpPr>
          <p:cNvPr id="19" name="text-104"/>
          <p:cNvSpPr txBox="1"/>
          <p:nvPr/>
        </p:nvSpPr>
        <p:spPr>
          <a:xfrm>
            <a:off x="9336024" y="29718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Смена директора, отзыв или истечение МЧД, смена реквизитов — перепроверка выданных прав</a:t>
            </a:r>
            <a:endParaRPr lang="en-US" sz="1300" dirty="0"/>
          </a:p>
        </p:txBody>
      </p:sp>
      <p:sp>
        <p:nvSpPr>
          <p:cNvPr id="20" name="text-105"/>
          <p:cNvSpPr txBox="1"/>
          <p:nvPr/>
        </p:nvSpPr>
        <p:spPr>
          <a:xfrm>
            <a:off x="548640" y="4572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всегда один из трёх:</a:t>
            </a:r>
            <a:endParaRPr lang="en-US" sz="1500" dirty="0"/>
          </a:p>
        </p:txBody>
      </p:sp>
      <p:sp>
        <p:nvSpPr>
          <p:cNvPr id="21" name="pill-106"/>
          <p:cNvSpPr/>
          <p:nvPr/>
        </p:nvSpPr>
        <p:spPr>
          <a:xfrm>
            <a:off x="3383280" y="4590288"/>
            <a:ext cx="2103120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-107"/>
          <p:cNvSpPr txBox="1"/>
          <p:nvPr/>
        </p:nvSpPr>
        <p:spPr>
          <a:xfrm>
            <a:off x="3383280" y="459028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23" name="pill-108"/>
          <p:cNvSpPr/>
          <p:nvPr/>
        </p:nvSpPr>
        <p:spPr>
          <a:xfrm>
            <a:off x="5669280" y="4590288"/>
            <a:ext cx="210312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-109"/>
          <p:cNvSpPr txBox="1"/>
          <p:nvPr/>
        </p:nvSpPr>
        <p:spPr>
          <a:xfrm>
            <a:off x="5669280" y="459028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ОПРОВЕРГНУТО</a:t>
            </a:r>
            <a:endParaRPr lang="en-US" sz="1300" dirty="0"/>
          </a:p>
        </p:txBody>
      </p:sp>
      <p:sp>
        <p:nvSpPr>
          <p:cNvPr id="25" name="pill-110"/>
          <p:cNvSpPr/>
          <p:nvPr/>
        </p:nvSpPr>
        <p:spPr>
          <a:xfrm>
            <a:off x="7955280" y="4590288"/>
            <a:ext cx="3840480" cy="42062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-111"/>
          <p:cNvSpPr txBox="1"/>
          <p:nvPr/>
        </p:nvSpPr>
        <p:spPr>
          <a:xfrm>
            <a:off x="7955280" y="459028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НЕДОСТАТОЧНО ДАННЫХ → НА РАЗБОР</a:t>
            </a:r>
            <a:endParaRPr lang="en-US" sz="1300" dirty="0"/>
          </a:p>
        </p:txBody>
      </p:sp>
      <p:sp>
        <p:nvSpPr>
          <p:cNvPr id="27" name="text-112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Неизвестное никогда не становится «да». </a:t>
            </a:r>
            <a:r>
              <a:rPr lang="en-US" sz="1400" dirty="0">
                <a:solidFill>
                  <a:schemeClr val="accent4"/>
                </a:solidFill>
              </a:rPr>
              <a:t>«Мандат» проверяет полномочия, а не личность: представителя идентифицируют существующие каналы банка (КЭП, ЕБС, офис). Модель только извлекает факты из текста с цитатой; решают правила со ссылкой на норму.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tx1"/>
                </a:solidFill>
              </a:rPr>
              <a:t>Как это выглядит: решение с трассой до документа</a:t>
            </a:r>
            <a:endParaRPr lang="en-US" sz="2600" dirty="0"/>
          </a:p>
        </p:txBody>
      </p:sp>
      <p:sp>
        <p:nvSpPr>
          <p:cNvPr id="3" name="verdict-card"/>
          <p:cNvSpPr/>
          <p:nvPr/>
        </p:nvSpPr>
        <p:spPr>
          <a:xfrm>
            <a:off x="548640" y="1234440"/>
            <a:ext cx="6766560" cy="4892040"/>
          </a:xfrm>
          <a:prstGeom prst="roundRect">
            <a:avLst>
              <a:gd name="adj" fmla="val 1495"/>
            </a:avLst>
          </a:prstGeom>
          <a:solidFill>
            <a:srgbClr val="FBFAF7"/>
          </a:solidFill>
          <a:ln w="9525">
            <a:solidFill>
              <a:srgbClr val="D6CFC4"/>
            </a:solidFill>
            <a:prstDash val="solid"/>
          </a:ln>
          <a:effectLst>
            <a:outerShdw blurRad="101600" dist="38100" dir="5400000" algn="bl" rotWithShape="0">
              <a:srgbClr val="14202C">
                <a:alpha val="12000"/>
              </a:srgbClr>
            </a:outerShdw>
          </a:effectLst>
        </p:spPr>
      </p:sp>
      <p:sp>
        <p:nvSpPr>
          <p:cNvPr id="4" name="text-113"/>
          <p:cNvSpPr txBox="1"/>
          <p:nvPr/>
        </p:nvSpPr>
        <p:spPr>
          <a:xfrm>
            <a:off x="86868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A6673"/>
                </a:solidFill>
              </a:rPr>
              <a:t>Кейс A-0142 · ООО «Северный ветер» · синтетические данные</a:t>
            </a:r>
            <a:endParaRPr lang="en-US" sz="1200" dirty="0"/>
          </a:p>
        </p:txBody>
      </p:sp>
      <p:sp>
        <p:nvSpPr>
          <p:cNvPr id="5" name="verdict-pill"/>
          <p:cNvSpPr/>
          <p:nvPr/>
        </p:nvSpPr>
        <p:spPr>
          <a:xfrm>
            <a:off x="5166360" y="1481328"/>
            <a:ext cx="182880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text-114"/>
          <p:cNvSpPr txBox="1"/>
          <p:nvPr/>
        </p:nvSpPr>
        <p:spPr>
          <a:xfrm>
            <a:off x="5166360" y="14813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BFAF7"/>
                </a:solidFill>
              </a:rPr>
              <a:t>ОПРОВЕРГНУТО</a:t>
            </a:r>
            <a:endParaRPr lang="en-US" sz="1300" dirty="0"/>
          </a:p>
        </p:txBody>
      </p:sp>
      <p:sp>
        <p:nvSpPr>
          <p:cNvPr id="7" name="text-115"/>
          <p:cNvSpPr txBox="1"/>
          <p:nvPr/>
        </p:nvSpPr>
        <p:spPr>
          <a:xfrm>
            <a:off x="868680" y="205740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Операция: </a:t>
            </a:r>
            <a:r>
              <a:rPr lang="en-US" sz="1500" dirty="0">
                <a:solidFill>
                  <a:schemeClr val="tx1"/>
                </a:solidFill>
              </a:rPr>
              <a:t>подписание платёжного поручения на 480 000 ₽, представитель — Сидоров С. С.</a:t>
            </a:r>
            <a:endParaRPr lang="en-US" sz="1500" dirty="0"/>
          </a:p>
        </p:txBody>
      </p:sp>
      <p:sp>
        <p:nvSpPr>
          <p:cNvPr id="8" name="row-line-116"/>
          <p:cNvSpPr/>
          <p:nvPr/>
        </p:nvSpPr>
        <p:spPr>
          <a:xfrm>
            <a:off x="868680" y="2761488"/>
            <a:ext cx="6126480" cy="0"/>
          </a:xfrm>
          <a:prstGeom prst="line">
            <a:avLst/>
          </a:prstGeom>
          <a:noFill/>
          <a:ln w="9525">
            <a:solidFill>
              <a:srgbClr val="E2DBD0"/>
            </a:solidFill>
            <a:prstDash val="solid"/>
          </a:ln>
        </p:spPr>
      </p:sp>
      <p:sp>
        <p:nvSpPr>
          <p:cNvPr id="9" name="text-117"/>
          <p:cNvSpPr txBox="1"/>
          <p:nvPr/>
        </p:nvSpPr>
        <p:spPr>
          <a:xfrm>
            <a:off x="86868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7D4F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text-118"/>
          <p:cNvSpPr txBox="1"/>
          <p:nvPr/>
        </p:nvSpPr>
        <p:spPr>
          <a:xfrm>
            <a:off x="1280160" y="2834640"/>
            <a:ext cx="571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A47"/>
                </a:solidFill>
              </a:rPr>
              <a:t>ЕИО Иванов И. И. по ЕГРЮЛ на дату операции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E7D4F"/>
                </a:solidFill>
              </a:rPr>
              <a:t>подтверждает · ГРН записи</a:t>
            </a:r>
            <a:endParaRPr lang="en-US" sz="1300" dirty="0"/>
          </a:p>
        </p:txBody>
      </p:sp>
      <p:sp>
        <p:nvSpPr>
          <p:cNvPr id="11" name="row-line-119"/>
          <p:cNvSpPr/>
          <p:nvPr/>
        </p:nvSpPr>
        <p:spPr>
          <a:xfrm>
            <a:off x="868680" y="3630168"/>
            <a:ext cx="6126480" cy="0"/>
          </a:xfrm>
          <a:prstGeom prst="line">
            <a:avLst/>
          </a:prstGeom>
          <a:noFill/>
          <a:ln w="9525">
            <a:solidFill>
              <a:srgbClr val="E2DBD0"/>
            </a:solidFill>
            <a:prstDash val="solid"/>
          </a:ln>
        </p:spPr>
      </p:sp>
      <p:sp>
        <p:nvSpPr>
          <p:cNvPr id="12" name="text-120"/>
          <p:cNvSpPr txBox="1"/>
          <p:nvPr/>
        </p:nvSpPr>
        <p:spPr>
          <a:xfrm>
            <a:off x="868680" y="37033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7D4F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-121"/>
          <p:cNvSpPr txBox="1"/>
          <p:nvPr/>
        </p:nvSpPr>
        <p:spPr>
          <a:xfrm>
            <a:off x="1280160" y="3703320"/>
            <a:ext cx="571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A47"/>
                </a:solidFill>
              </a:rPr>
              <a:t>МЧД-1 Иванов → Петрова: подписание платёжных документов, до 31.12.2026, передоверие «без права»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E7D4F"/>
                </a:solidFill>
              </a:rPr>
              <a:t>подтверждает · XPath поля</a:t>
            </a:r>
            <a:endParaRPr lang="en-US" sz="1300" dirty="0"/>
          </a:p>
        </p:txBody>
      </p:sp>
      <p:sp>
        <p:nvSpPr>
          <p:cNvPr id="14" name="row-line-122"/>
          <p:cNvSpPr/>
          <p:nvPr/>
        </p:nvSpPr>
        <p:spPr>
          <a:xfrm>
            <a:off x="868680" y="4498848"/>
            <a:ext cx="6126480" cy="0"/>
          </a:xfrm>
          <a:prstGeom prst="line">
            <a:avLst/>
          </a:prstGeom>
          <a:noFill/>
          <a:ln w="9525">
            <a:solidFill>
              <a:srgbClr val="E2DBD0"/>
            </a:solidFill>
            <a:prstDash val="solid"/>
          </a:ln>
        </p:spPr>
      </p:sp>
      <p:sp>
        <p:nvSpPr>
          <p:cNvPr id="15" name="text-123"/>
          <p:cNvSpPr txBox="1"/>
          <p:nvPr/>
        </p:nvSpPr>
        <p:spPr>
          <a:xfrm>
            <a:off x="868680" y="45720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B04A0C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-124"/>
          <p:cNvSpPr txBox="1"/>
          <p:nvPr/>
        </p:nvSpPr>
        <p:spPr>
          <a:xfrm>
            <a:off x="1280160" y="4572000"/>
            <a:ext cx="5715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A47"/>
                </a:solidFill>
              </a:rPr>
              <a:t>МЧД-2 Петрова → Сидоров: передоверие запрещено в МЧД-1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04A0C"/>
                </a:solidFill>
              </a:rPr>
              <a:t>опровергает · ст. 187 ГК РФ</a:t>
            </a:r>
            <a:endParaRPr lang="en-US" sz="1300" dirty="0"/>
          </a:p>
        </p:txBody>
      </p:sp>
      <p:sp>
        <p:nvSpPr>
          <p:cNvPr id="17" name="text-125"/>
          <p:cNvSpPr txBox="1"/>
          <p:nvPr/>
        </p:nvSpPr>
        <p:spPr>
          <a:xfrm>
            <a:off x="868680" y="553212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5A6673"/>
                </a:solidFill>
              </a:rPr>
              <a:t>Сотрудник видит, какое звено цепочки ломается и что запросить у клиента.</a:t>
            </a:r>
            <a:endParaRPr lang="en-US" sz="1300" dirty="0"/>
          </a:p>
        </p:txBody>
      </p:sp>
      <p:sp>
        <p:nvSpPr>
          <p:cNvPr id="18" name="event-panel"/>
          <p:cNvSpPr/>
          <p:nvPr/>
        </p:nvSpPr>
        <p:spPr>
          <a:xfrm>
            <a:off x="7543800" y="1234440"/>
            <a:ext cx="4096512" cy="4892040"/>
          </a:xfrm>
          <a:prstGeom prst="roundRect">
            <a:avLst>
              <a:gd name="adj" fmla="val 1786"/>
            </a:avLst>
          </a:prstGeom>
          <a:solidFill>
            <a:srgbClr val="14202C"/>
          </a:solidFill>
          <a:ln w="12700">
            <a:solidFill>
              <a:srgbClr val="14202C"/>
            </a:solidFill>
            <a:prstDash val="solid"/>
          </a:ln>
        </p:spPr>
      </p:sp>
      <p:sp>
        <p:nvSpPr>
          <p:cNvPr id="19" name="text-126"/>
          <p:cNvSpPr txBox="1"/>
          <p:nvPr/>
        </p:nvSpPr>
        <p:spPr>
          <a:xfrm>
            <a:off x="7818120" y="1508760"/>
            <a:ext cx="3547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Событие: признаки захвата</a:t>
            </a:r>
            <a:endParaRPr lang="en-US" sz="1700" dirty="0"/>
          </a:p>
        </p:txBody>
      </p:sp>
      <p:sp>
        <p:nvSpPr>
          <p:cNvPr id="20" name="text-127"/>
          <p:cNvSpPr txBox="1"/>
          <p:nvPr/>
        </p:nvSpPr>
        <p:spPr>
          <a:xfrm>
            <a:off x="7818120" y="201168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6ECF2"/>
                </a:solidFill>
              </a:rPr>
              <a:t>09:10 · </a:t>
            </a:r>
            <a:r>
              <a:rPr lang="en-US" sz="1400" dirty="0">
                <a:solidFill>
                  <a:srgbClr val="E6ECF2"/>
                </a:solidFill>
              </a:rPr>
              <a:t>в ЕГРЮЛ новая запись: смена директора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6ECF2"/>
                </a:solidFill>
              </a:rPr>
              <a:t>11:40 · </a:t>
            </a:r>
            <a:r>
              <a:rPr lang="en-US" sz="1400" dirty="0">
                <a:solidFill>
                  <a:srgbClr val="E6ECF2"/>
                </a:solidFill>
              </a:rPr>
              <a:t>новая МЧД на нового «бухгалтера»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6ECF2"/>
                </a:solidFill>
              </a:rPr>
              <a:t>12:05 · </a:t>
            </a:r>
            <a:r>
              <a:rPr lang="en-US" sz="1400" dirty="0">
                <a:solidFill>
                  <a:srgbClr val="E6ECF2"/>
                </a:solidFill>
              </a:rPr>
              <a:t>заявка на смену реквизитов</a:t>
            </a:r>
            <a:endParaRPr lang="en-US" sz="1400" dirty="0"/>
          </a:p>
        </p:txBody>
      </p:sp>
      <p:sp>
        <p:nvSpPr>
          <p:cNvPr id="21" name="text-128"/>
          <p:cNvSpPr txBox="1"/>
          <p:nvPr/>
        </p:nvSpPr>
        <p:spPr>
          <a:xfrm>
            <a:off x="7818120" y="3520440"/>
            <a:ext cx="3547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3F6F9"/>
                </a:solidFill>
              </a:rPr>
              <a:t>«Мандат» связывает три события, приостанавливает автоматическую выдачу прав, передаёт кейс на разбор и уведомляет прежних подписантов</a:t>
            </a:r>
            <a:endParaRPr lang="en-US" sz="1400" dirty="0"/>
          </a:p>
        </p:txBody>
      </p:sp>
      <p:sp>
        <p:nvSpPr>
          <p:cNvPr id="22" name="text-129"/>
          <p:cNvSpPr txBox="1"/>
          <p:nvPr/>
        </p:nvSpPr>
        <p:spPr>
          <a:xfrm>
            <a:off x="7818120" y="4892040"/>
            <a:ext cx="3547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9BACB"/>
                </a:solidFill>
              </a:rPr>
              <a:t>Смена директора сама по себе не прекращает МЧД (позиция ФНС), поэтому это сигнал риска, а не автоматический отказ.</a:t>
            </a:r>
            <a:endParaRPr lang="en-US" sz="1200" dirty="0"/>
          </a:p>
        </p:txBody>
      </p:sp>
      <p:sp>
        <p:nvSpPr>
          <p:cNvPr id="2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673"/>
                </a:solidFill>
              </a:rPr>
              <a:t>Синтетические данные: сценарий демонстрации спринта 1. Позиция ФНС о смене директора — buh.ru, 07.09.2023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67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Модель извлекает факты, правила решают, человек подтверждает исключения</a:t>
            </a:r>
            <a:endParaRPr lang="en-US" sz="2600" dirty="0"/>
          </a:p>
        </p:txBody>
      </p:sp>
      <p:sp>
        <p:nvSpPr>
          <p:cNvPr id="3" name="card-130"/>
          <p:cNvSpPr/>
          <p:nvPr/>
        </p:nvSpPr>
        <p:spPr>
          <a:xfrm>
            <a:off x="548640" y="1280160"/>
            <a:ext cx="2633472" cy="3703320"/>
          </a:xfrm>
          <a:prstGeom prst="roundRect">
            <a:avLst>
              <a:gd name="adj" fmla="val 27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icon-bg-131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13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1665122"/>
            <a:ext cx="281635" cy="281635"/>
          </a:xfrm>
          <a:prstGeom prst="rect">
            <a:avLst/>
          </a:prstGeom>
        </p:spPr>
      </p:pic>
      <p:sp>
        <p:nvSpPr>
          <p:cNvPr id="6" name="text-133"/>
          <p:cNvSpPr txBox="1"/>
          <p:nvPr/>
        </p:nvSpPr>
        <p:spPr>
          <a:xfrm>
            <a:off x="777240" y="219456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01  Вход</a:t>
            </a:r>
            <a:endParaRPr lang="en-US" sz="1600" dirty="0"/>
          </a:p>
        </p:txBody>
      </p:sp>
      <p:sp>
        <p:nvSpPr>
          <p:cNvPr id="7" name="text-134"/>
          <p:cNvSpPr txBox="1"/>
          <p:nvPr/>
        </p:nvSpPr>
        <p:spPr>
          <a:xfrm>
            <a:off x="777240" y="2651760"/>
            <a:ext cx="2176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МЧД в XML — проверка по схеме ФНС с защитой от вредоносных файлов. PDF и сканы — в изолированном процессе. ЕГРЮЛ, реестр МЧД, классификатор полномочий — через адаптеры.</a:t>
            </a:r>
            <a:endParaRPr lang="en-US" sz="1300" dirty="0"/>
          </a:p>
        </p:txBody>
      </p:sp>
      <p:sp>
        <p:nvSpPr>
          <p:cNvPr id="8" name="card-135"/>
          <p:cNvSpPr/>
          <p:nvPr/>
        </p:nvSpPr>
        <p:spPr>
          <a:xfrm>
            <a:off x="3364992" y="1280160"/>
            <a:ext cx="2633472" cy="3703320"/>
          </a:xfrm>
          <a:prstGeom prst="roundRect">
            <a:avLst>
              <a:gd name="adj" fmla="val 27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" name="icon-bg-136"/>
          <p:cNvSpPr/>
          <p:nvPr/>
        </p:nvSpPr>
        <p:spPr>
          <a:xfrm>
            <a:off x="3593592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13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4234" y="1665122"/>
            <a:ext cx="281635" cy="281635"/>
          </a:xfrm>
          <a:prstGeom prst="rect">
            <a:avLst/>
          </a:prstGeom>
        </p:spPr>
      </p:pic>
      <p:sp>
        <p:nvSpPr>
          <p:cNvPr id="11" name="text-138"/>
          <p:cNvSpPr txBox="1"/>
          <p:nvPr/>
        </p:nvSpPr>
        <p:spPr>
          <a:xfrm>
            <a:off x="3593592" y="219456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02  Правила как данные</a:t>
            </a:r>
            <a:endParaRPr lang="en-US" sz="1600" dirty="0"/>
          </a:p>
        </p:txBody>
      </p:sp>
      <p:sp>
        <p:nvSpPr>
          <p:cNvPr id="12" name="text-139"/>
          <p:cNvSpPr txBox="1"/>
          <p:nvPr/>
        </p:nvSpPr>
        <p:spPr>
          <a:xfrm>
            <a:off x="3593592" y="2651760"/>
            <a:ext cx="2176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У каждого правила — норма (ГК РФ, 63-ФЗ, 499-П), юридический эффект, версия и подпись юриста. Новый тип документа добавляется без программирования.</a:t>
            </a:r>
            <a:endParaRPr lang="en-US" sz="1300" dirty="0"/>
          </a:p>
        </p:txBody>
      </p:sp>
      <p:sp>
        <p:nvSpPr>
          <p:cNvPr id="13" name="card-140"/>
          <p:cNvSpPr/>
          <p:nvPr/>
        </p:nvSpPr>
        <p:spPr>
          <a:xfrm>
            <a:off x="6181344" y="1280160"/>
            <a:ext cx="2633472" cy="3703320"/>
          </a:xfrm>
          <a:prstGeom prst="roundRect">
            <a:avLst>
              <a:gd name="adj" fmla="val 27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icon-bg-141"/>
          <p:cNvSpPr/>
          <p:nvPr/>
        </p:nvSpPr>
        <p:spPr>
          <a:xfrm>
            <a:off x="6409944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-14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0586" y="1665122"/>
            <a:ext cx="281635" cy="281635"/>
          </a:xfrm>
          <a:prstGeom prst="rect">
            <a:avLst/>
          </a:prstGeom>
        </p:spPr>
      </p:pic>
      <p:sp>
        <p:nvSpPr>
          <p:cNvPr id="16" name="text-143"/>
          <p:cNvSpPr txBox="1"/>
          <p:nvPr/>
        </p:nvSpPr>
        <p:spPr>
          <a:xfrm>
            <a:off x="6409944" y="219456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  Проверка</a:t>
            </a:r>
            <a:endParaRPr lang="en-US" sz="1600" dirty="0"/>
          </a:p>
        </p:txBody>
      </p:sp>
      <p:sp>
        <p:nvSpPr>
          <p:cNvPr id="17" name="text-144"/>
          <p:cNvSpPr txBox="1"/>
          <p:nvPr/>
        </p:nvSpPr>
        <p:spPr>
          <a:xfrm>
            <a:off x="6409944" y="2651760"/>
            <a:ext cx="2176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«Не проверено» никогда не становится «подтверждено». On-prem модель извлекает факты с цитатой; без цитаты факт не засчитывается, при неуверенности — разбор.</a:t>
            </a:r>
            <a:endParaRPr lang="en-US" sz="1300" dirty="0"/>
          </a:p>
        </p:txBody>
      </p:sp>
      <p:sp>
        <p:nvSpPr>
          <p:cNvPr id="18" name="card-145"/>
          <p:cNvSpPr/>
          <p:nvPr/>
        </p:nvSpPr>
        <p:spPr>
          <a:xfrm>
            <a:off x="8997696" y="1280160"/>
            <a:ext cx="2633472" cy="3703320"/>
          </a:xfrm>
          <a:prstGeom prst="roundRect">
            <a:avLst>
              <a:gd name="adj" fmla="val 27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icon-bg-146"/>
          <p:cNvSpPr/>
          <p:nvPr/>
        </p:nvSpPr>
        <p:spPr>
          <a:xfrm>
            <a:off x="9226296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14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6938" y="1665122"/>
            <a:ext cx="281635" cy="281635"/>
          </a:xfrm>
          <a:prstGeom prst="rect">
            <a:avLst/>
          </a:prstGeom>
        </p:spPr>
      </p:pic>
      <p:sp>
        <p:nvSpPr>
          <p:cNvPr id="21" name="text-148"/>
          <p:cNvSpPr txBox="1"/>
          <p:nvPr/>
        </p:nvSpPr>
        <p:spPr>
          <a:xfrm>
            <a:off x="9226296" y="219456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04  Решение и аудит</a:t>
            </a:r>
            <a:endParaRPr lang="en-US" sz="1600" dirty="0"/>
          </a:p>
        </p:txBody>
      </p:sp>
      <p:sp>
        <p:nvSpPr>
          <p:cNvPr id="22" name="text-149"/>
          <p:cNvSpPr txBox="1"/>
          <p:nvPr/>
        </p:nvSpPr>
        <p:spPr>
          <a:xfrm>
            <a:off x="9226296" y="2651760"/>
            <a:ext cx="2176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Трасса до XPath, страницы, ГРН. Сотрудник подтверждает исключения. Журнал с хеш-цепочкой: любое изменение записи обнаруживается.</a:t>
            </a:r>
            <a:endParaRPr lang="en-US" sz="1300" dirty="0"/>
          </a:p>
        </p:txBody>
      </p:sp>
      <p:sp>
        <p:nvSpPr>
          <p:cNvPr id="23" name="text-150"/>
          <p:cNvSpPr txBox="1"/>
          <p:nvPr/>
        </p:nvSpPr>
        <p:spPr>
          <a:xfrm>
            <a:off x="548640" y="51206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Совпадает с позицией Банка России </a:t>
            </a:r>
            <a:r>
              <a:rPr lang="en-US" sz="1300" dirty="0">
                <a:solidFill>
                  <a:schemeClr val="bg1"/>
                </a:solidFill>
              </a:rPr>
              <a:t>(доклад от 20.11.2025): объяснимость — часть модельного риска ИИ, прозрачность и человекоцентричность — принципы доверенного ИИ.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 в ядре (AeroBIM): </a:t>
            </a:r>
            <a:r>
              <a:rPr lang="en-US" sz="1300" dirty="0">
                <a:solidFill>
                  <a:schemeClr val="accent4"/>
                </a:solidFill>
              </a:rPr>
              <a:t>свёртка вердикта без ложного «да», провенанс, проверка XML по схеме, разбор человеком, журнал, запрет модели писать вердикт.</a:t>
            </a:r>
            <a:endParaRPr lang="en-US" sz="1300" dirty="0"/>
          </a:p>
        </p:txBody>
      </p:sp>
      <p:sp>
        <p:nvSpPr>
          <p:cNvPr id="24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Источник: cbr.ru — консультационный доклад «Применение ИИ на финансовом рынке», 20.11.2025, с. 12, 18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1С-ЭДО проверяет МЧД под документ, «Мандат» — под операцию и права в банке</a:t>
            </a:r>
            <a:endParaRPr lang="en-US" sz="2600" dirty="0"/>
          </a:p>
        </p:txBody>
      </p:sp>
      <p:sp>
        <p:nvSpPr>
          <p:cNvPr id="3" name="text-151"/>
          <p:cNvSpPr txBox="1"/>
          <p:nvPr/>
        </p:nvSpPr>
        <p:spPr>
          <a:xfrm>
            <a:off x="548640" y="12801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Проверка МЧД в документообороте уже стала нормой — значит, задача решаема. Банку нужен другой ответ: можно ли дать этому человеку права на эту операцию.</a:t>
            </a:r>
            <a:endParaRPr lang="en-US" sz="1500" dirty="0"/>
          </a:p>
        </p:txBody>
      </p:sp>
      <p:graphicFrame>
        <p:nvGraphicFramePr>
          <p:cNvPr id="10" name="compa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29968"/>
          <a:ext cx="11091672" cy="3300984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проверяется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ВТБ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Контур.Доверенность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документ ЭДО от контрагента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сотрудника или контрагента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банковская операция и права в ДБО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Цепочка передоверия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проверяется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проверяется со сроками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Устав, бумажные доверенности,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текстовые условия — правилами или вручную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и лимиты в интернет-банке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представителя добавляют в офисе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профиль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профиль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 роли и лимитах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Перепроверка по событиям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смену директора видит Контур.Фокус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перепроверка выданных прав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52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i="1" dirty="0">
                <a:solidFill>
                  <a:schemeClr val="accent4"/>
                </a:solidFill>
              </a:rPr>
              <a:t>«Не заявлено» — нет в открытых описаниях продукта на 09.10.2026. Контур и 1С можно использовать как источники данных: «Мандат» не конкурирует с выпуском МЧД, а берёт его результат на вход.</a:t>
            </a:r>
            <a:endParaRPr lang="en-US" sz="1200" dirty="0"/>
          </a:p>
        </p:txBody>
      </p:sp>
      <p:sp>
        <p:nvSpPr>
          <p:cNvPr id="6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vtb.ru/r/terms_mchd; buh.ru — проверка МЧД в 1С-ЭДО (09.08.2023, 15.04.2024); kontur.ru/mchd/features, kontur.ru/mchd/api; toolfox.ru — обзор Контур.Фокуса,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Сменился директор или отозвана МЧД — выданные права уходят на перепроверку</a:t>
            </a:r>
            <a:endParaRPr lang="en-US" sz="2600" dirty="0"/>
          </a:p>
        </p:txBody>
      </p:sp>
      <p:sp>
        <p:nvSpPr>
          <p:cNvPr id="3" name="card-153"/>
          <p:cNvSpPr/>
          <p:nvPr/>
        </p:nvSpPr>
        <p:spPr>
          <a:xfrm>
            <a:off x="548640" y="1325880"/>
            <a:ext cx="2286000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icon-bg-154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15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655064"/>
            <a:ext cx="256032" cy="256032"/>
          </a:xfrm>
          <a:prstGeom prst="rect">
            <a:avLst/>
          </a:prstGeom>
        </p:spPr>
      </p:pic>
      <p:sp>
        <p:nvSpPr>
          <p:cNvPr id="6" name="text-156"/>
          <p:cNvSpPr txBox="1"/>
          <p:nvPr/>
        </p:nvSpPr>
        <p:spPr>
          <a:xfrm>
            <a:off x="77724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Запись в ЕГРЮЛ</a:t>
            </a:r>
            <a:endParaRPr lang="en-US" sz="1500" dirty="0"/>
          </a:p>
        </p:txBody>
      </p:sp>
      <p:sp>
        <p:nvSpPr>
          <p:cNvPr id="7" name="text-157"/>
          <p:cNvSpPr txBox="1"/>
          <p:nvPr/>
        </p:nvSpPr>
        <p:spPr>
          <a:xfrm>
            <a:off x="777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смена руководителя, адреса, участника</a:t>
            </a:r>
            <a:endParaRPr lang="en-US" sz="1300" dirty="0"/>
          </a:p>
        </p:txBody>
      </p:sp>
      <p:sp>
        <p:nvSpPr>
          <p:cNvPr id="8" name="card-158"/>
          <p:cNvSpPr/>
          <p:nvPr/>
        </p:nvSpPr>
        <p:spPr>
          <a:xfrm>
            <a:off x="3063240" y="1325880"/>
            <a:ext cx="2286000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" name="icon-bg-159"/>
          <p:cNvSpPr/>
          <p:nvPr/>
        </p:nvSpPr>
        <p:spPr>
          <a:xfrm>
            <a:off x="32918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16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1655064"/>
            <a:ext cx="256032" cy="256032"/>
          </a:xfrm>
          <a:prstGeom prst="rect">
            <a:avLst/>
          </a:prstGeom>
        </p:spPr>
      </p:pic>
      <p:sp>
        <p:nvSpPr>
          <p:cNvPr id="11" name="text-161"/>
          <p:cNvSpPr txBox="1"/>
          <p:nvPr/>
        </p:nvSpPr>
        <p:spPr>
          <a:xfrm>
            <a:off x="329184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Реестр МЧД</a:t>
            </a:r>
            <a:endParaRPr lang="en-US" sz="1500" dirty="0"/>
          </a:p>
        </p:txBody>
      </p:sp>
      <p:sp>
        <p:nvSpPr>
          <p:cNvPr id="12" name="text-162"/>
          <p:cNvSpPr txBox="1"/>
          <p:nvPr/>
        </p:nvSpPr>
        <p:spPr>
          <a:xfrm>
            <a:off x="32918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отзыв, истечение срока, новая МЧД</a:t>
            </a:r>
            <a:endParaRPr lang="en-US" sz="1300" dirty="0"/>
          </a:p>
        </p:txBody>
      </p:sp>
      <p:sp>
        <p:nvSpPr>
          <p:cNvPr id="13" name="card-163"/>
          <p:cNvSpPr/>
          <p:nvPr/>
        </p:nvSpPr>
        <p:spPr>
          <a:xfrm>
            <a:off x="5577840" y="1325880"/>
            <a:ext cx="2286000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icon-bg-164"/>
          <p:cNvSpPr/>
          <p:nvPr/>
        </p:nvSpPr>
        <p:spPr>
          <a:xfrm>
            <a:off x="58064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-16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7024" y="1655064"/>
            <a:ext cx="256032" cy="256032"/>
          </a:xfrm>
          <a:prstGeom prst="rect">
            <a:avLst/>
          </a:prstGeom>
        </p:spPr>
      </p:pic>
      <p:sp>
        <p:nvSpPr>
          <p:cNvPr id="16" name="text-166"/>
          <p:cNvSpPr txBox="1"/>
          <p:nvPr/>
        </p:nvSpPr>
        <p:spPr>
          <a:xfrm>
            <a:off x="580644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Интернет-банк</a:t>
            </a:r>
            <a:endParaRPr lang="en-US" sz="1500" dirty="0"/>
          </a:p>
        </p:txBody>
      </p:sp>
      <p:sp>
        <p:nvSpPr>
          <p:cNvPr id="17" name="text-167"/>
          <p:cNvSpPr txBox="1"/>
          <p:nvPr/>
        </p:nvSpPr>
        <p:spPr>
          <a:xfrm>
            <a:off x="58064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заявка на смену реквизитов или лимитов</a:t>
            </a:r>
            <a:endParaRPr lang="en-US" sz="1300" dirty="0"/>
          </a:p>
        </p:txBody>
      </p:sp>
      <p:sp>
        <p:nvSpPr>
          <p:cNvPr id="18" name="mon-arrow"/>
          <p:cNvSpPr/>
          <p:nvPr/>
        </p:nvSpPr>
        <p:spPr>
          <a:xfrm>
            <a:off x="8092440" y="2212848"/>
            <a:ext cx="411480" cy="32918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action"/>
          <p:cNvSpPr/>
          <p:nvPr/>
        </p:nvSpPr>
        <p:spPr>
          <a:xfrm>
            <a:off x="8641080" y="1325880"/>
            <a:ext cx="2999232" cy="21031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168"/>
          <p:cNvSpPr txBox="1"/>
          <p:nvPr/>
        </p:nvSpPr>
        <p:spPr>
          <a:xfrm>
            <a:off x="8869680" y="1508760"/>
            <a:ext cx="2560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Перепроверка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всех прав, которые зависят от изменившегося звена цепочки; цель — меньше 24 часов от публикации события</a:t>
            </a:r>
            <a:endParaRPr lang="en-US" sz="1400" dirty="0"/>
          </a:p>
        </p:txBody>
      </p:sp>
      <p:sp>
        <p:nvSpPr>
          <p:cNvPr id="21" name="card-169"/>
          <p:cNvSpPr/>
          <p:nvPr/>
        </p:nvSpPr>
        <p:spPr>
          <a:xfrm>
            <a:off x="548640" y="3657600"/>
            <a:ext cx="5449824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2" name="icon-bg-170"/>
          <p:cNvSpPr/>
          <p:nvPr/>
        </p:nvSpPr>
        <p:spPr>
          <a:xfrm>
            <a:off x="777240" y="38862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-17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766" y="3976726"/>
            <a:ext cx="230429" cy="230429"/>
          </a:xfrm>
          <a:prstGeom prst="rect">
            <a:avLst/>
          </a:prstGeom>
        </p:spPr>
      </p:pic>
      <p:sp>
        <p:nvSpPr>
          <p:cNvPr id="24" name="text-172"/>
          <p:cNvSpPr txBox="1"/>
          <p:nvPr/>
        </p:nvSpPr>
        <p:spPr>
          <a:xfrm>
            <a:off x="132588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Что делаем</a:t>
            </a:r>
            <a:endParaRPr lang="en-US" sz="1600" dirty="0"/>
          </a:p>
        </p:txBody>
      </p:sp>
      <p:sp>
        <p:nvSpPr>
          <p:cNvPr id="25" name="text-173"/>
          <p:cNvSpPr txBox="1"/>
          <p:nvPr/>
        </p:nvSpPr>
        <p:spPr>
          <a:xfrm>
            <a:off x="822960" y="4434840"/>
            <a:ext cx="49011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Находим права, выданные по прежней цепочке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Приостанавливаем автоматическую выдачу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Передаём кейс на разбор, уведомляем прежних подписантов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Подозрительный паттерн отправляем в антифрод банка</a:t>
            </a:r>
            <a:endParaRPr lang="en-US" sz="1300" dirty="0"/>
          </a:p>
        </p:txBody>
      </p:sp>
      <p:sp>
        <p:nvSpPr>
          <p:cNvPr id="26" name="card-174"/>
          <p:cNvSpPr/>
          <p:nvPr/>
        </p:nvSpPr>
        <p:spPr>
          <a:xfrm>
            <a:off x="6190488" y="3657600"/>
            <a:ext cx="5449824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icon-bg-175"/>
          <p:cNvSpPr/>
          <p:nvPr/>
        </p:nvSpPr>
        <p:spPr>
          <a:xfrm>
            <a:off x="6419088" y="38862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icon-17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9614" y="3976726"/>
            <a:ext cx="230429" cy="230429"/>
          </a:xfrm>
          <a:prstGeom prst="rect">
            <a:avLst/>
          </a:prstGeom>
        </p:spPr>
      </p:pic>
      <p:sp>
        <p:nvSpPr>
          <p:cNvPr id="29" name="text-177"/>
          <p:cNvSpPr txBox="1"/>
          <p:nvPr/>
        </p:nvSpPr>
        <p:spPr>
          <a:xfrm>
            <a:off x="6967728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Чего не делаем</a:t>
            </a:r>
            <a:endParaRPr lang="en-US" sz="1600" dirty="0"/>
          </a:p>
        </p:txBody>
      </p:sp>
      <p:sp>
        <p:nvSpPr>
          <p:cNvPr id="30" name="text-178"/>
          <p:cNvSpPr txBox="1"/>
          <p:nvPr/>
        </p:nvSpPr>
        <p:spPr>
          <a:xfrm>
            <a:off x="6464808" y="4434840"/>
            <a:ext cx="49011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Не распознаём подделку документов в ФНС — реагируем на событие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Не отзываем права автоматически: по позиции ФНС смена директора МЧД не прекращает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Политику реакции задаёт банк, «Мандат» даёт рычаг</a:t>
            </a:r>
            <a:endParaRPr lang="en-US" sz="1300" dirty="0"/>
          </a:p>
        </p:txBody>
      </p:sp>
      <p:sp>
        <p:nvSpPr>
          <p:cNvPr id="31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 позиции ФНС: buh.ru, 07.09.2023; ppt.ru, 01.09.2023</a:t>
            </a:r>
            <a:endParaRPr lang="en-US" sz="10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Эффект для ВТБ: меньше ручной работы, быстрее первая операция, меньше риска</a:t>
            </a:r>
            <a:endParaRPr lang="en-US" sz="2600" dirty="0"/>
          </a:p>
        </p:txBody>
      </p:sp>
      <p:sp>
        <p:nvSpPr>
          <p:cNvPr id="3" name="card-179"/>
          <p:cNvSpPr/>
          <p:nvPr/>
        </p:nvSpPr>
        <p:spPr>
          <a:xfrm>
            <a:off x="548640" y="1280160"/>
            <a:ext cx="5120640" cy="1325880"/>
          </a:xfrm>
          <a:prstGeom prst="roundRect">
            <a:avLst>
              <a:gd name="adj" fmla="val 5517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text-180"/>
          <p:cNvSpPr txBox="1"/>
          <p:nvPr/>
        </p:nvSpPr>
        <p:spPr>
          <a:xfrm>
            <a:off x="822960" y="141732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33 ставки</a:t>
            </a:r>
            <a:endParaRPr lang="en-US" sz="3000" dirty="0"/>
          </a:p>
        </p:txBody>
      </p:sp>
      <p:sp>
        <p:nvSpPr>
          <p:cNvPr id="5" name="text-181"/>
          <p:cNvSpPr txBox="1"/>
          <p:nvPr/>
        </p:nvSpPr>
        <p:spPr>
          <a:xfrm>
            <a:off x="822960" y="2011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высвобождение операционной нагрузки в консервативном сценарии; диапазон 33–167</a:t>
            </a:r>
            <a:endParaRPr lang="en-US" sz="1200" dirty="0"/>
          </a:p>
        </p:txBody>
      </p:sp>
      <p:sp>
        <p:nvSpPr>
          <p:cNvPr id="6" name="card-182"/>
          <p:cNvSpPr/>
          <p:nvPr/>
        </p:nvSpPr>
        <p:spPr>
          <a:xfrm>
            <a:off x="548640" y="2761488"/>
            <a:ext cx="5120640" cy="1325880"/>
          </a:xfrm>
          <a:prstGeom prst="roundRect">
            <a:avLst>
              <a:gd name="adj" fmla="val 5517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-183"/>
          <p:cNvSpPr txBox="1"/>
          <p:nvPr/>
        </p:nvSpPr>
        <p:spPr>
          <a:xfrm>
            <a:off x="822960" y="289864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в день обращения</a:t>
            </a:r>
            <a:endParaRPr lang="en-US" sz="3000" dirty="0"/>
          </a:p>
        </p:txBody>
      </p:sp>
      <p:sp>
        <p:nvSpPr>
          <p:cNvPr id="8" name="text-184"/>
          <p:cNvSpPr txBox="1"/>
          <p:nvPr/>
        </p:nvSpPr>
        <p:spPr>
          <a:xfrm>
            <a:off x="822960" y="34930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права для типовых случаев: МЧД без передоверия в пределах устава (цель пилота)</a:t>
            </a:r>
            <a:endParaRPr lang="en-US" sz="1200" dirty="0"/>
          </a:p>
        </p:txBody>
      </p:sp>
      <p:sp>
        <p:nvSpPr>
          <p:cNvPr id="9" name="card-185"/>
          <p:cNvSpPr/>
          <p:nvPr/>
        </p:nvSpPr>
        <p:spPr>
          <a:xfrm>
            <a:off x="548640" y="4242816"/>
            <a:ext cx="5120640" cy="1325880"/>
          </a:xfrm>
          <a:prstGeom prst="roundRect">
            <a:avLst>
              <a:gd name="adj" fmla="val 5517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text-186"/>
          <p:cNvSpPr txBox="1"/>
          <p:nvPr/>
        </p:nvSpPr>
        <p:spPr>
          <a:xfrm>
            <a:off x="822960" y="437997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&lt; 24 ч</a:t>
            </a:r>
            <a:endParaRPr lang="en-US" sz="3000" dirty="0"/>
          </a:p>
        </p:txBody>
      </p:sp>
      <p:sp>
        <p:nvSpPr>
          <p:cNvPr id="11" name="text-187"/>
          <p:cNvSpPr txBox="1"/>
          <p:nvPr/>
        </p:nvSpPr>
        <p:spPr>
          <a:xfrm>
            <a:off x="822960" y="49743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от записи в ЕГРЮЛ или отзыва МЧД до перепроверки прав вместо «при следующем обращении» (цель)</a:t>
            </a:r>
            <a:endParaRPr lang="en-US" sz="1200" dirty="0"/>
          </a:p>
        </p:txBody>
      </p:sp>
      <p:sp>
        <p:nvSpPr>
          <p:cNvPr id="12" name="card-188"/>
          <p:cNvSpPr/>
          <p:nvPr/>
        </p:nvSpPr>
        <p:spPr>
          <a:xfrm>
            <a:off x="5943600" y="1280160"/>
            <a:ext cx="5696712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graphicFrame>
        <p:nvGraphicFramePr>
          <p:cNvPr id="13" name="fte-chart"/>
          <p:cNvGraphicFramePr/>
          <p:nvPr/>
        </p:nvGraphicFramePr>
        <p:xfrm>
          <a:off x="6126480" y="1371600"/>
          <a:ext cx="5330952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-189"/>
          <p:cNvSpPr txBox="1"/>
          <p:nvPr/>
        </p:nvSpPr>
        <p:spPr>
          <a:xfrm>
            <a:off x="5943600" y="4526280"/>
            <a:ext cx="56967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Формула: </a:t>
            </a:r>
            <a:r>
              <a:rPr lang="en-US" sz="1200" dirty="0">
                <a:solidFill>
                  <a:schemeClr val="bg1"/>
                </a:solidFill>
              </a:rPr>
              <a:t>1,8 млн клиентов-предприятий ВТБ × доля с событием представительства в год × сэкономленные минуты ÷ 60 ÷ 1 800 ч на ставку.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4"/>
                </a:solidFill>
              </a:rPr>
              <a:t>Сценарная оценка, не прогноз: доли и минуты уточняем на данных ВТБ в первые 2 недели пилота. Затраты низкие: ядро работает на CPU, модель вызывается только для сканов и текстовых условий.</a:t>
            </a:r>
            <a:endParaRPr lang="en-US" sz="1200" dirty="0"/>
          </a:p>
        </p:txBody>
      </p:sp>
      <p:sp>
        <p:nvSpPr>
          <p:cNvPr id="15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Источник: ВТБ, МСФО за 1П 2026 (≈1,8 млн предприятий и предпринимателей; altapress.ru, 29.07.2026). Доли событий и минуты — допущения команды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Метрики: ноль ложных подтверждений — главное условие</a:t>
            </a:r>
            <a:endParaRPr lang="en-US" sz="2600" dirty="0"/>
          </a:p>
        </p:txBody>
      </p:sp>
      <p:sp>
        <p:nvSpPr>
          <p:cNvPr id="3" name="north-star"/>
          <p:cNvSpPr/>
          <p:nvPr/>
        </p:nvSpPr>
        <p:spPr>
          <a:xfrm>
            <a:off x="548640" y="1280160"/>
            <a:ext cx="4206240" cy="3520440"/>
          </a:xfrm>
          <a:prstGeom prst="roundRect">
            <a:avLst>
              <a:gd name="adj" fmla="val 20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-190"/>
          <p:cNvSpPr txBox="1"/>
          <p:nvPr/>
        </p:nvSpPr>
        <p:spPr>
          <a:xfrm>
            <a:off x="82296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kern="0" spc="200" dirty="0">
                <a:solidFill>
                  <a:schemeClr val="tx1"/>
                </a:solidFill>
              </a:rPr>
              <a:t>NORTH STAR</a:t>
            </a:r>
            <a:endParaRPr lang="en-US" sz="1300" dirty="0"/>
          </a:p>
        </p:txBody>
      </p:sp>
      <p:sp>
        <p:nvSpPr>
          <p:cNvPr id="5" name="text-191"/>
          <p:cNvSpPr txBox="1"/>
          <p:nvPr/>
        </p:nvSpPr>
        <p:spPr>
          <a:xfrm>
            <a:off x="822960" y="19202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Доля представителей, получивших права в интернет-банке без визита в офис</a:t>
            </a:r>
            <a:endParaRPr lang="en-US" sz="2200" dirty="0"/>
          </a:p>
        </p:txBody>
      </p:sp>
      <p:sp>
        <p:nvSpPr>
          <p:cNvPr id="6" name="text-192"/>
          <p:cNvSpPr txBox="1"/>
          <p:nvPr/>
        </p:nvSpPr>
        <p:spPr>
          <a:xfrm>
            <a:off x="822960" y="3657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C"/>
                </a:solidFill>
              </a:rPr>
              <a:t>и медианное время от подачи документов до прав</a:t>
            </a:r>
            <a:endParaRPr lang="en-US" sz="1500" dirty="0"/>
          </a:p>
        </p:txBody>
      </p:sp>
      <p:sp>
        <p:nvSpPr>
          <p:cNvPr id="7" name="card-193"/>
          <p:cNvSpPr/>
          <p:nvPr/>
        </p:nvSpPr>
        <p:spPr>
          <a:xfrm>
            <a:off x="4983480" y="1280160"/>
            <a:ext cx="3282696" cy="1709928"/>
          </a:xfrm>
          <a:prstGeom prst="roundRect">
            <a:avLst>
              <a:gd name="adj" fmla="val 42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-194"/>
          <p:cNvSpPr txBox="1"/>
          <p:nvPr/>
        </p:nvSpPr>
        <p:spPr>
          <a:xfrm>
            <a:off x="5212080" y="1463040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Ложные «подтверждено»</a:t>
            </a:r>
            <a:endParaRPr lang="en-US" sz="1500" dirty="0"/>
          </a:p>
        </p:txBody>
      </p:sp>
      <p:sp>
        <p:nvSpPr>
          <p:cNvPr id="9" name="text-195"/>
          <p:cNvSpPr txBox="1"/>
          <p:nvPr/>
        </p:nvSpPr>
        <p:spPr>
          <a:xfrm>
            <a:off x="5212080" y="1874520"/>
            <a:ext cx="282549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Защитная метрика: цель — 0 на контрольном наборе, верхняя граница Вилсона 95% ≤ 1%</a:t>
            </a:r>
            <a:endParaRPr lang="en-US" sz="1300" dirty="0"/>
          </a:p>
        </p:txBody>
      </p:sp>
      <p:sp>
        <p:nvSpPr>
          <p:cNvPr id="10" name="card-196"/>
          <p:cNvSpPr/>
          <p:nvPr/>
        </p:nvSpPr>
        <p:spPr>
          <a:xfrm>
            <a:off x="8357616" y="1280160"/>
            <a:ext cx="3282696" cy="1709928"/>
          </a:xfrm>
          <a:prstGeom prst="roundRect">
            <a:avLst>
              <a:gd name="adj" fmla="val 42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-197"/>
          <p:cNvSpPr txBox="1"/>
          <p:nvPr/>
        </p:nvSpPr>
        <p:spPr>
          <a:xfrm>
            <a:off x="8586216" y="1463040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Полнота дефектов</a:t>
            </a:r>
            <a:endParaRPr lang="en-US" sz="1500" dirty="0"/>
          </a:p>
        </p:txBody>
      </p:sp>
      <p:sp>
        <p:nvSpPr>
          <p:cNvPr id="12" name="text-198"/>
          <p:cNvSpPr txBox="1"/>
          <p:nvPr/>
        </p:nvSpPr>
        <p:spPr>
          <a:xfrm>
            <a:off x="8586216" y="1874520"/>
            <a:ext cx="282549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Доля найденных опровергающих дефектов на размеченном корпусе</a:t>
            </a:r>
            <a:endParaRPr lang="en-US" sz="1300" dirty="0"/>
          </a:p>
        </p:txBody>
      </p:sp>
      <p:sp>
        <p:nvSpPr>
          <p:cNvPr id="13" name="card-199"/>
          <p:cNvSpPr/>
          <p:nvPr/>
        </p:nvSpPr>
        <p:spPr>
          <a:xfrm>
            <a:off x="4983480" y="3090672"/>
            <a:ext cx="3282696" cy="1709928"/>
          </a:xfrm>
          <a:prstGeom prst="roundRect">
            <a:avLst>
              <a:gd name="adj" fmla="val 42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text-200"/>
          <p:cNvSpPr txBox="1"/>
          <p:nvPr/>
        </p:nvSpPr>
        <p:spPr>
          <a:xfrm>
            <a:off x="5212080" y="3273552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Время сотрудника</a:t>
            </a:r>
            <a:endParaRPr lang="en-US" sz="1500" dirty="0"/>
          </a:p>
        </p:txBody>
      </p:sp>
      <p:sp>
        <p:nvSpPr>
          <p:cNvPr id="15" name="text-201"/>
          <p:cNvSpPr txBox="1"/>
          <p:nvPr/>
        </p:nvSpPr>
        <p:spPr>
          <a:xfrm>
            <a:off x="5212080" y="3685032"/>
            <a:ext cx="282549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Проверка пакета вручную и с «Мандатом», одни и те же участники, тест Вилкоксона</a:t>
            </a:r>
            <a:endParaRPr lang="en-US" sz="1300" dirty="0"/>
          </a:p>
        </p:txBody>
      </p:sp>
      <p:sp>
        <p:nvSpPr>
          <p:cNvPr id="16" name="card-202"/>
          <p:cNvSpPr/>
          <p:nvPr/>
        </p:nvSpPr>
        <p:spPr>
          <a:xfrm>
            <a:off x="8357616" y="3090672"/>
            <a:ext cx="3282696" cy="1709928"/>
          </a:xfrm>
          <a:prstGeom prst="roundRect">
            <a:avLst>
              <a:gd name="adj" fmla="val 427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7" name="text-203"/>
          <p:cNvSpPr txBox="1"/>
          <p:nvPr/>
        </p:nvSpPr>
        <p:spPr>
          <a:xfrm>
            <a:off x="8586216" y="3273552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Реакция на событие</a:t>
            </a:r>
            <a:endParaRPr lang="en-US" sz="1500" dirty="0"/>
          </a:p>
        </p:txBody>
      </p:sp>
      <p:sp>
        <p:nvSpPr>
          <p:cNvPr id="18" name="text-204"/>
          <p:cNvSpPr txBox="1"/>
          <p:nvPr/>
        </p:nvSpPr>
        <p:spPr>
          <a:xfrm>
            <a:off x="8586216" y="3685032"/>
            <a:ext cx="282549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Время от записи ЕГРЮЛ или отзыва МЧД до перепроверки прав</a:t>
            </a:r>
            <a:endParaRPr lang="en-US" sz="1300" dirty="0"/>
          </a:p>
        </p:txBody>
      </p:sp>
      <p:sp>
        <p:nvSpPr>
          <p:cNvPr id="19" name="method"/>
          <p:cNvSpPr/>
          <p:nvPr/>
        </p:nvSpPr>
        <p:spPr>
          <a:xfrm>
            <a:off x="548640" y="498348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102033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-205"/>
          <p:cNvSpPr txBox="1"/>
          <p:nvPr/>
        </p:nvSpPr>
        <p:spPr>
          <a:xfrm>
            <a:off x="777240" y="5047488"/>
            <a:ext cx="106984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Метод — открытый корпус RU-AUTH-BENCH: </a:t>
            </a:r>
            <a:r>
              <a:rPr lang="en-US" sz="1300" dirty="0">
                <a:solidFill>
                  <a:schemeClr val="bg1"/>
                </a:solidFill>
              </a:rPr>
              <a:t>синтетические компании, ЕГРЮЛ и МЧД по схеме ФНС, 15 типов дефектов, включая атакующие кейсы; две независимые разметки (κ Коэна). Для полноты ≈0,9 с точностью ±5% при 95% нужно не меньше 139 дефектных случаев. Спринт 1 — 60 пакетов, спринт 2 — от 300. Все целевые значения — гипотезы до замера.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Всё в контуре банка: данные, модели и решения</a:t>
            </a:r>
            <a:endParaRPr lang="en-US" sz="2600" dirty="0"/>
          </a:p>
        </p:txBody>
      </p:sp>
      <p:sp>
        <p:nvSpPr>
          <p:cNvPr id="3" name="card-206"/>
          <p:cNvSpPr/>
          <p:nvPr/>
        </p:nvSpPr>
        <p:spPr>
          <a:xfrm>
            <a:off x="548640" y="1280160"/>
            <a:ext cx="3575304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icon-bg-207"/>
          <p:cNvSpPr/>
          <p:nvPr/>
        </p:nvSpPr>
        <p:spPr>
          <a:xfrm>
            <a:off x="777240" y="1508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20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1619402"/>
            <a:ext cx="281635" cy="281635"/>
          </a:xfrm>
          <a:prstGeom prst="rect">
            <a:avLst/>
          </a:prstGeom>
        </p:spPr>
      </p:pic>
      <p:sp>
        <p:nvSpPr>
          <p:cNvPr id="6" name="text-209"/>
          <p:cNvSpPr txBox="1"/>
          <p:nvPr/>
        </p:nvSpPr>
        <p:spPr>
          <a:xfrm>
            <a:off x="1417320" y="1554480"/>
            <a:ext cx="2523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Закрытый контур</a:t>
            </a:r>
            <a:endParaRPr lang="en-US" sz="1600" dirty="0"/>
          </a:p>
        </p:txBody>
      </p:sp>
      <p:sp>
        <p:nvSpPr>
          <p:cNvPr id="7" name="text-210"/>
          <p:cNvSpPr txBox="1"/>
          <p:nvPr/>
        </p:nvSpPr>
        <p:spPr>
          <a:xfrm>
            <a:off x="777240" y="2194560"/>
            <a:ext cx="31181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On-prem, без внешних API; офлайн-сборка для сети без доступа в интернет.</a:t>
            </a:r>
            <a:endParaRPr lang="en-US" sz="1400" dirty="0"/>
          </a:p>
        </p:txBody>
      </p:sp>
      <p:sp>
        <p:nvSpPr>
          <p:cNvPr id="8" name="card-211"/>
          <p:cNvSpPr/>
          <p:nvPr/>
        </p:nvSpPr>
        <p:spPr>
          <a:xfrm>
            <a:off x="4306824" y="1280160"/>
            <a:ext cx="3575304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" name="icon-bg-212"/>
          <p:cNvSpPr/>
          <p:nvPr/>
        </p:nvSpPr>
        <p:spPr>
          <a:xfrm>
            <a:off x="4535424" y="1508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2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6066" y="1619402"/>
            <a:ext cx="281635" cy="281635"/>
          </a:xfrm>
          <a:prstGeom prst="rect">
            <a:avLst/>
          </a:prstGeom>
        </p:spPr>
      </p:pic>
      <p:sp>
        <p:nvSpPr>
          <p:cNvPr id="11" name="text-214"/>
          <p:cNvSpPr txBox="1"/>
          <p:nvPr/>
        </p:nvSpPr>
        <p:spPr>
          <a:xfrm>
            <a:off x="5175504" y="1554480"/>
            <a:ext cx="2523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152-ФЗ</a:t>
            </a:r>
            <a:endParaRPr lang="en-US" sz="1600" dirty="0"/>
          </a:p>
        </p:txBody>
      </p:sp>
      <p:sp>
        <p:nvSpPr>
          <p:cNvPr id="12" name="text-215"/>
          <p:cNvSpPr txBox="1"/>
          <p:nvPr/>
        </p:nvSpPr>
        <p:spPr>
          <a:xfrm>
            <a:off x="4535424" y="2194560"/>
            <a:ext cx="31181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Псевдонимизация в логах, сроки хранения, удаление по запросу. Разработка — на синтетических данных.</a:t>
            </a:r>
            <a:endParaRPr lang="en-US" sz="1400" dirty="0"/>
          </a:p>
        </p:txBody>
      </p:sp>
      <p:sp>
        <p:nvSpPr>
          <p:cNvPr id="13" name="card-216"/>
          <p:cNvSpPr/>
          <p:nvPr/>
        </p:nvSpPr>
        <p:spPr>
          <a:xfrm>
            <a:off x="8065008" y="1280160"/>
            <a:ext cx="3575304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icon-bg-217"/>
          <p:cNvSpPr/>
          <p:nvPr/>
        </p:nvSpPr>
        <p:spPr>
          <a:xfrm>
            <a:off x="8293608" y="1508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-2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250" y="1619402"/>
            <a:ext cx="281635" cy="281635"/>
          </a:xfrm>
          <a:prstGeom prst="rect">
            <a:avLst/>
          </a:prstGeom>
        </p:spPr>
      </p:pic>
      <p:sp>
        <p:nvSpPr>
          <p:cNvPr id="16" name="text-219"/>
          <p:cNvSpPr txBox="1"/>
          <p:nvPr/>
        </p:nvSpPr>
        <p:spPr>
          <a:xfrm>
            <a:off x="8933688" y="1554480"/>
            <a:ext cx="2523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115-ФЗ</a:t>
            </a:r>
            <a:endParaRPr lang="en-US" sz="1600" dirty="0"/>
          </a:p>
        </p:txBody>
      </p:sp>
      <p:sp>
        <p:nvSpPr>
          <p:cNvPr id="17" name="text-220"/>
          <p:cNvSpPr txBox="1"/>
          <p:nvPr/>
        </p:nvSpPr>
        <p:spPr>
          <a:xfrm>
            <a:off x="8293608" y="2194560"/>
            <a:ext cx="31181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«Мандат» проверяет полномочия, а не личность: идентификация — существующими каналами банка.</a:t>
            </a:r>
            <a:endParaRPr lang="en-US" sz="1400" dirty="0"/>
          </a:p>
        </p:txBody>
      </p:sp>
      <p:sp>
        <p:nvSpPr>
          <p:cNvPr id="18" name="card-221"/>
          <p:cNvSpPr/>
          <p:nvPr/>
        </p:nvSpPr>
        <p:spPr>
          <a:xfrm>
            <a:off x="548640" y="3749040"/>
            <a:ext cx="3575304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icon-bg-222"/>
          <p:cNvSpPr/>
          <p:nvPr/>
        </p:nvSpPr>
        <p:spPr>
          <a:xfrm>
            <a:off x="777240" y="3977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22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" y="4088282"/>
            <a:ext cx="281635" cy="281635"/>
          </a:xfrm>
          <a:prstGeom prst="rect">
            <a:avLst/>
          </a:prstGeom>
        </p:spPr>
      </p:pic>
      <p:sp>
        <p:nvSpPr>
          <p:cNvPr id="21" name="text-224"/>
          <p:cNvSpPr txBox="1"/>
          <p:nvPr/>
        </p:nvSpPr>
        <p:spPr>
          <a:xfrm>
            <a:off x="1417320" y="4023360"/>
            <a:ext cx="2523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Электронная подпись</a:t>
            </a:r>
            <a:endParaRPr lang="en-US" sz="1600" dirty="0"/>
          </a:p>
        </p:txBody>
      </p:sp>
      <p:sp>
        <p:nvSpPr>
          <p:cNvPr id="22" name="text-225"/>
          <p:cNvSpPr txBox="1"/>
          <p:nvPr/>
        </p:nvSpPr>
        <p:spPr>
          <a:xfrm>
            <a:off x="777240" y="4663440"/>
            <a:ext cx="31181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КЭП проверяют сертифицированные СКЗИ банка; «Мандат» использует результат проверки.</a:t>
            </a:r>
            <a:endParaRPr lang="en-US" sz="1400" dirty="0"/>
          </a:p>
        </p:txBody>
      </p:sp>
      <p:sp>
        <p:nvSpPr>
          <p:cNvPr id="23" name="card-226"/>
          <p:cNvSpPr/>
          <p:nvPr/>
        </p:nvSpPr>
        <p:spPr>
          <a:xfrm>
            <a:off x="4306824" y="3749040"/>
            <a:ext cx="3575304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icon-bg-227"/>
          <p:cNvSpPr/>
          <p:nvPr/>
        </p:nvSpPr>
        <p:spPr>
          <a:xfrm>
            <a:off x="4535424" y="3977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-22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6066" y="4088282"/>
            <a:ext cx="281635" cy="281635"/>
          </a:xfrm>
          <a:prstGeom prst="rect">
            <a:avLst/>
          </a:prstGeom>
        </p:spPr>
      </p:pic>
      <p:sp>
        <p:nvSpPr>
          <p:cNvPr id="26" name="text-229"/>
          <p:cNvSpPr txBox="1"/>
          <p:nvPr/>
        </p:nvSpPr>
        <p:spPr>
          <a:xfrm>
            <a:off x="5175504" y="4023360"/>
            <a:ext cx="2523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Российский стек</a:t>
            </a:r>
            <a:endParaRPr lang="en-US" sz="1600" dirty="0"/>
          </a:p>
        </p:txBody>
      </p:sp>
      <p:sp>
        <p:nvSpPr>
          <p:cNvPr id="27" name="text-230"/>
          <p:cNvSpPr txBox="1"/>
          <p:nvPr/>
        </p:nvSpPr>
        <p:spPr>
          <a:xfrm>
            <a:off x="4535424" y="4663440"/>
            <a:ext cx="31181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On-prem модели, совместимые с теми, что применяют российские банки; модель не принимает решений.</a:t>
            </a:r>
            <a:endParaRPr lang="en-US" sz="1400" dirty="0"/>
          </a:p>
        </p:txBody>
      </p:sp>
      <p:sp>
        <p:nvSpPr>
          <p:cNvPr id="28" name="card-231"/>
          <p:cNvSpPr/>
          <p:nvPr/>
        </p:nvSpPr>
        <p:spPr>
          <a:xfrm>
            <a:off x="8065008" y="3749040"/>
            <a:ext cx="3575304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9" name="icon-bg-232"/>
          <p:cNvSpPr/>
          <p:nvPr/>
        </p:nvSpPr>
        <p:spPr>
          <a:xfrm>
            <a:off x="8293608" y="3977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-2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4250" y="4088282"/>
            <a:ext cx="281635" cy="281635"/>
          </a:xfrm>
          <a:prstGeom prst="rect">
            <a:avLst/>
          </a:prstGeom>
        </p:spPr>
      </p:pic>
      <p:sp>
        <p:nvSpPr>
          <p:cNvPr id="31" name="text-234"/>
          <p:cNvSpPr txBox="1"/>
          <p:nvPr/>
        </p:nvSpPr>
        <p:spPr>
          <a:xfrm>
            <a:off x="8933688" y="4023360"/>
            <a:ext cx="2523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Аудит</a:t>
            </a:r>
            <a:endParaRPr lang="en-US" sz="1600" dirty="0"/>
          </a:p>
        </p:txBody>
      </p:sp>
      <p:sp>
        <p:nvSpPr>
          <p:cNvPr id="32" name="text-235"/>
          <p:cNvSpPr txBox="1"/>
          <p:nvPr/>
        </p:nvSpPr>
        <p:spPr>
          <a:xfrm>
            <a:off x="8293608" y="4663440"/>
            <a:ext cx="31181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Журнал с хеш-цепочкой: любое изменение записи обнаруживается; трасса по каждому решению.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Риски и как снимаем</a:t>
            </a:r>
            <a:endParaRPr lang="en-US" sz="2600" dirty="0"/>
          </a:p>
        </p:txBody>
      </p:sp>
      <p:graphicFrame>
        <p:nvGraphicFramePr>
          <p:cNvPr id="15" name="ri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452628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Асимметричные пороги, режим воздержания, атакующие кейсы в корпусе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ложных «подтверждено» = 0 на контрольном наборе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правилах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Ссылка на норму у каждого правила, проверка юристом, версии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цитаты факт не засчитывается; при неуверенности — разбор человеком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фактов с цитатой, доля воздержаний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интеграции нет: рекомендация оператору; затем один внутренний метод назначения ролей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изменений в ДБО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ПДн и банковская тайна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в контуре банка, синтетический корпус, минимизация данных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 угроз, результаты аудита ИБ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Сопровождение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Открытый код, документация, воспроизводимая сборка, передача команде банка или партнёру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Сборка и тесты запускаются одной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Ядро уже работает, банковский контур собираем к 1 ноября</a:t>
            </a:r>
            <a:endParaRPr lang="en-US" sz="2600" dirty="0"/>
          </a:p>
        </p:txBody>
      </p:sp>
      <p:sp>
        <p:nvSpPr>
          <p:cNvPr id="3" name="card-236"/>
          <p:cNvSpPr/>
          <p:nvPr/>
        </p:nvSpPr>
        <p:spPr>
          <a:xfrm>
            <a:off x="548640" y="1280160"/>
            <a:ext cx="5852160" cy="4892040"/>
          </a:xfrm>
          <a:prstGeom prst="roundRect">
            <a:avLst>
              <a:gd name="adj" fmla="val 1495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text-237"/>
          <p:cNvSpPr txBox="1"/>
          <p:nvPr/>
        </p:nvSpPr>
        <p:spPr>
          <a:xfrm>
            <a:off x="822960" y="15087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Работает сейчас: открытый код капитана, MIT</a:t>
            </a:r>
            <a:endParaRPr lang="en-US" sz="1600" dirty="0"/>
          </a:p>
        </p:txBody>
      </p:sp>
      <p:sp>
        <p:nvSpPr>
          <p:cNvPr id="5" name="text-238"/>
          <p:cNvSpPr txBox="1"/>
          <p:nvPr/>
        </p:nvSpPr>
        <p:spPr>
          <a:xfrm>
            <a:off x="822960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4400" b="1" dirty="0">
                <a:solidFill>
                  <a:schemeClr val="bg1"/>
                </a:solidFill>
              </a:rPr>
              <a:t>3 396</a:t>
            </a:r>
            <a:endParaRPr lang="en-US" sz="4400" dirty="0"/>
          </a:p>
        </p:txBody>
      </p:sp>
      <p:sp>
        <p:nvSpPr>
          <p:cNvPr id="6" name="text-239"/>
          <p:cNvSpPr txBox="1"/>
          <p:nvPr/>
        </p:nvSpPr>
        <p:spPr>
          <a:xfrm>
            <a:off x="2926080" y="2011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4"/>
                </a:solidFill>
              </a:rPr>
              <a:t>автотестов серверной части AeroBIM проходят; интерфейс — 404 из 404 (прогон 09.10.2026)</a:t>
            </a:r>
            <a:endParaRPr lang="en-US" sz="1200" dirty="0"/>
          </a:p>
        </p:txBody>
      </p:sp>
      <p:sp>
        <p:nvSpPr>
          <p:cNvPr id="7" name="text-240"/>
          <p:cNvSpPr txBox="1"/>
          <p:nvPr/>
        </p:nvSpPr>
        <p:spPr>
          <a:xfrm>
            <a:off x="822960" y="2880360"/>
            <a:ext cx="5303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Вердикт без ложного «да»: непроверенное блокирует результат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Провенанс: правило, документ, место в документе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Поиск противоречий между документами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Проверка XML по официальной схеме с защитой от вредоносных файлов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Разбор человеком и журнал с хеш-цепочкой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Запрет модели писать вердикт — закреплён автотестом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Статистика оценки: κ, интервалы Вилсона</a:t>
            </a:r>
            <a:endParaRPr lang="en-US" sz="1300" dirty="0"/>
          </a:p>
        </p:txBody>
      </p:sp>
      <p:sp>
        <p:nvSpPr>
          <p:cNvPr id="8" name="card-241"/>
          <p:cNvSpPr/>
          <p:nvPr/>
        </p:nvSpPr>
        <p:spPr>
          <a:xfrm>
            <a:off x="6583680" y="1280160"/>
            <a:ext cx="5056632" cy="2240280"/>
          </a:xfrm>
          <a:prstGeom prst="roundRect">
            <a:avLst>
              <a:gd name="adj" fmla="val 3265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" name="text-242"/>
          <p:cNvSpPr txBox="1"/>
          <p:nvPr/>
        </p:nvSpPr>
        <p:spPr>
          <a:xfrm>
            <a:off x="6858000" y="1481328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 1 ноября — вертикальный срез</a:t>
            </a:r>
            <a:endParaRPr lang="en-US" sz="1500" dirty="0"/>
          </a:p>
        </p:txBody>
      </p:sp>
      <p:sp>
        <p:nvSpPr>
          <p:cNvPr id="10" name="text-243"/>
          <p:cNvSpPr txBox="1"/>
          <p:nvPr/>
        </p:nvSpPr>
        <p:spPr>
          <a:xfrm>
            <a:off x="6858000" y="1874520"/>
            <a:ext cx="4507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Граф полномочий на дату, 20–25 правил с нормами, проверка МЧД по схеме ФНС, адаптеры ЕГРЮЛ и реестра, очередь исключений, корпус из 60 пакетов, первые метрики</a:t>
            </a:r>
            <a:endParaRPr lang="en-US" sz="1300" dirty="0"/>
          </a:p>
        </p:txBody>
      </p:sp>
      <p:sp>
        <p:nvSpPr>
          <p:cNvPr id="11" name="card-244"/>
          <p:cNvSpPr/>
          <p:nvPr/>
        </p:nvSpPr>
        <p:spPr>
          <a:xfrm>
            <a:off x="6583680" y="3657600"/>
            <a:ext cx="5056632" cy="146304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-245"/>
          <p:cNvSpPr txBox="1"/>
          <p:nvPr/>
        </p:nvSpPr>
        <p:spPr>
          <a:xfrm>
            <a:off x="6858000" y="3822192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 29 ноября — MVP</a:t>
            </a:r>
            <a:endParaRPr lang="en-US" sz="1500" dirty="0"/>
          </a:p>
        </p:txBody>
      </p:sp>
      <p:sp>
        <p:nvSpPr>
          <p:cNvPr id="13" name="text-246"/>
          <p:cNvSpPr txBox="1"/>
          <p:nvPr/>
        </p:nvSpPr>
        <p:spPr>
          <a:xfrm>
            <a:off x="6858000" y="4187952"/>
            <a:ext cx="4507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Корпус от 300 пакетов, эксперимент с людьми, проверка КЭП через СКЗИ, защита ПДн, финмодель</a:t>
            </a:r>
            <a:endParaRPr lang="en-US" sz="1300" dirty="0"/>
          </a:p>
        </p:txBody>
      </p:sp>
      <p:sp>
        <p:nvSpPr>
          <p:cNvPr id="14" name="boundary"/>
          <p:cNvSpPr/>
          <p:nvPr/>
        </p:nvSpPr>
        <p:spPr>
          <a:xfrm>
            <a:off x="6583680" y="5257800"/>
            <a:ext cx="5056632" cy="914400"/>
          </a:xfrm>
          <a:prstGeom prst="roundRect">
            <a:avLst>
              <a:gd name="adj" fmla="val 8000"/>
            </a:avLst>
          </a:prstGeom>
          <a:solidFill>
            <a:srgbClr val="10203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-247"/>
          <p:cNvSpPr txBox="1"/>
          <p:nvPr/>
        </p:nvSpPr>
        <p:spPr>
          <a:xfrm>
            <a:off x="6812280" y="530352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Граница: </a:t>
            </a:r>
            <a:r>
              <a:rPr lang="en-US" sz="1200" dirty="0">
                <a:solidFill>
                  <a:schemeClr val="bg1"/>
                </a:solidFill>
              </a:rPr>
              <a:t>банковского продукта пока нет. Ядро — из другой области (строительная документация); переносим проверенные модули.</a:t>
            </a:r>
            <a:endParaRPr lang="en-US" sz="1200" dirty="0"/>
          </a:p>
        </p:txBody>
      </p:sp>
      <p:sp>
        <p:nvSpPr>
          <p:cNvPr id="16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550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Репозитории: github.com/KonkovDV/AeroBIM, github.com/KonkovDV/SynAPS-ProgramPlan; отдельный репозиторий «Мандат» — в спринте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Путь к пилоту: 6 недель в теневом режиме на одной операции</a:t>
            </a:r>
            <a:endParaRPr lang="en-US" sz="2600" dirty="0"/>
          </a:p>
        </p:txBody>
      </p:sp>
      <p:sp>
        <p:nvSpPr>
          <p:cNvPr id="3" name="card-248"/>
          <p:cNvSpPr/>
          <p:nvPr/>
        </p:nvSpPr>
        <p:spPr>
          <a:xfrm>
            <a:off x="548640" y="1280160"/>
            <a:ext cx="3575304" cy="1508760"/>
          </a:xfrm>
          <a:prstGeom prst="roundRect">
            <a:avLst>
              <a:gd name="adj" fmla="val 484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text-249"/>
          <p:cNvSpPr txBox="1"/>
          <p:nvPr/>
        </p:nvSpPr>
        <p:spPr>
          <a:xfrm>
            <a:off x="777240" y="146304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СПРИНТ 1 · до 01.11</a:t>
            </a:r>
            <a:endParaRPr lang="en-US" sz="1400" dirty="0"/>
          </a:p>
        </p:txBody>
      </p:sp>
      <p:sp>
        <p:nvSpPr>
          <p:cNvPr id="5" name="text-250"/>
          <p:cNvSpPr txBox="1"/>
          <p:nvPr/>
        </p:nvSpPr>
        <p:spPr>
          <a:xfrm>
            <a:off x="777240" y="187452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Интервью и опрос, вертикальный срез, корпус 60 пакетов, первые метрики</a:t>
            </a:r>
            <a:endParaRPr lang="en-US" sz="1300" dirty="0"/>
          </a:p>
        </p:txBody>
      </p:sp>
      <p:sp>
        <p:nvSpPr>
          <p:cNvPr id="6" name="card-251"/>
          <p:cNvSpPr/>
          <p:nvPr/>
        </p:nvSpPr>
        <p:spPr>
          <a:xfrm>
            <a:off x="4306824" y="1280160"/>
            <a:ext cx="3575304" cy="1508760"/>
          </a:xfrm>
          <a:prstGeom prst="roundRect">
            <a:avLst>
              <a:gd name="adj" fmla="val 484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-252"/>
          <p:cNvSpPr txBox="1"/>
          <p:nvPr/>
        </p:nvSpPr>
        <p:spPr>
          <a:xfrm>
            <a:off x="4535424" y="146304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СПРИНТ 2 · 16–29.11</a:t>
            </a:r>
            <a:endParaRPr lang="en-US" sz="1400" dirty="0"/>
          </a:p>
        </p:txBody>
      </p:sp>
      <p:sp>
        <p:nvSpPr>
          <p:cNvPr id="8" name="text-253"/>
          <p:cNvSpPr txBox="1"/>
          <p:nvPr/>
        </p:nvSpPr>
        <p:spPr>
          <a:xfrm>
            <a:off x="4535424" y="187452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Корпус 300+, эксперимент с людьми, КЭП через СКЗИ, защита ПДн, финмодель</a:t>
            </a:r>
            <a:endParaRPr lang="en-US" sz="1300" dirty="0"/>
          </a:p>
        </p:txBody>
      </p:sp>
      <p:sp>
        <p:nvSpPr>
          <p:cNvPr id="9" name="card-254"/>
          <p:cNvSpPr/>
          <p:nvPr/>
        </p:nvSpPr>
        <p:spPr>
          <a:xfrm>
            <a:off x="8065008" y="1280160"/>
            <a:ext cx="3575304" cy="1508760"/>
          </a:xfrm>
          <a:prstGeom prst="roundRect">
            <a:avLst>
              <a:gd name="adj" fmla="val 4848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text-255"/>
          <p:cNvSpPr txBox="1"/>
          <p:nvPr/>
        </p:nvSpPr>
        <p:spPr>
          <a:xfrm>
            <a:off x="8293608" y="146304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СПРИНТ 3 · 03–08.12</a:t>
            </a:r>
            <a:endParaRPr lang="en-US" sz="1400" dirty="0"/>
          </a:p>
        </p:txBody>
      </p:sp>
      <p:sp>
        <p:nvSpPr>
          <p:cNvPr id="11" name="text-256"/>
          <p:cNvSpPr txBox="1"/>
          <p:nvPr/>
        </p:nvSpPr>
        <p:spPr>
          <a:xfrm>
            <a:off x="8293608" y="187452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Сценарий пилота и масштабирования, контракт интеграции с ДБО, финал</a:t>
            </a:r>
            <a:endParaRPr lang="en-US" sz="1300" dirty="0"/>
          </a:p>
        </p:txBody>
      </p:sp>
      <p:sp>
        <p:nvSpPr>
          <p:cNvPr id="12" name="pilot"/>
          <p:cNvSpPr/>
          <p:nvPr/>
        </p:nvSpPr>
        <p:spPr>
          <a:xfrm>
            <a:off x="548640" y="3017520"/>
            <a:ext cx="6949440" cy="3154680"/>
          </a:xfrm>
          <a:prstGeom prst="roundRect">
            <a:avLst>
              <a:gd name="adj" fmla="val 2319"/>
            </a:avLst>
          </a:prstGeom>
          <a:solidFill>
            <a:srgbClr val="13263A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text-257"/>
          <p:cNvSpPr txBox="1"/>
          <p:nvPr/>
        </p:nvSpPr>
        <p:spPr>
          <a:xfrm>
            <a:off x="822960" y="3200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Пилот через Акселератор ВТБ</a:t>
            </a:r>
            <a:endParaRPr lang="en-US" sz="1700" dirty="0"/>
          </a:p>
        </p:txBody>
      </p:sp>
      <p:sp>
        <p:nvSpPr>
          <p:cNvPr id="14" name="text-258"/>
          <p:cNvSpPr txBox="1"/>
          <p:nvPr/>
        </p:nvSpPr>
        <p:spPr>
          <a:xfrm>
            <a:off x="822960" y="3703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Неделя 1</a:t>
            </a:r>
            <a:endParaRPr lang="en-US" sz="1400" dirty="0"/>
          </a:p>
        </p:txBody>
      </p:sp>
      <p:sp>
        <p:nvSpPr>
          <p:cNvPr id="15" name="text-259"/>
          <p:cNvSpPr txBox="1"/>
          <p:nvPr/>
        </p:nvSpPr>
        <p:spPr>
          <a:xfrm>
            <a:off x="2240280" y="3703320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Протокол, регламент одной операции, метрики и пороги приёмки, амбассадор от владельца процесса</a:t>
            </a:r>
            <a:endParaRPr lang="en-US" sz="1300" dirty="0"/>
          </a:p>
        </p:txBody>
      </p:sp>
      <p:sp>
        <p:nvSpPr>
          <p:cNvPr id="16" name="text-260"/>
          <p:cNvSpPr txBox="1"/>
          <p:nvPr/>
        </p:nvSpPr>
        <p:spPr>
          <a:xfrm>
            <a:off x="822960" y="45079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Недели 2–5</a:t>
            </a:r>
            <a:endParaRPr lang="en-US" sz="1400" dirty="0"/>
          </a:p>
        </p:txBody>
      </p:sp>
      <p:sp>
        <p:nvSpPr>
          <p:cNvPr id="17" name="text-261"/>
          <p:cNvSpPr txBox="1"/>
          <p:nvPr/>
        </p:nvSpPr>
        <p:spPr>
          <a:xfrm>
            <a:off x="2240280" y="4507992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«Мандат» проверяет те же пакеты, что и сотрудники, на подписании платёжных документов; на клиента не влияет</a:t>
            </a:r>
            <a:endParaRPr lang="en-US" sz="1300" dirty="0"/>
          </a:p>
        </p:txBody>
      </p:sp>
      <p:sp>
        <p:nvSpPr>
          <p:cNvPr id="18" name="text-262"/>
          <p:cNvSpPr txBox="1"/>
          <p:nvPr/>
        </p:nvSpPr>
        <p:spPr>
          <a:xfrm>
            <a:off x="822960" y="531266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Неделя 6</a:t>
            </a:r>
            <a:endParaRPr lang="en-US" sz="1400" dirty="0"/>
          </a:p>
        </p:txBody>
      </p:sp>
      <p:sp>
        <p:nvSpPr>
          <p:cNvPr id="19" name="text-263"/>
          <p:cNvSpPr txBox="1"/>
          <p:nvPr/>
        </p:nvSpPr>
        <p:spPr>
          <a:xfrm>
            <a:off x="2240280" y="5312664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Независимая разметка расхождений, замер, решение GO / NO-GO</a:t>
            </a:r>
            <a:endParaRPr lang="en-US" sz="1300" dirty="0"/>
          </a:p>
        </p:txBody>
      </p:sp>
      <p:sp>
        <p:nvSpPr>
          <p:cNvPr id="20" name="card-264"/>
          <p:cNvSpPr/>
          <p:nvPr/>
        </p:nvSpPr>
        <p:spPr>
          <a:xfrm>
            <a:off x="7680960" y="3017520"/>
            <a:ext cx="3959352" cy="3154680"/>
          </a:xfrm>
          <a:prstGeom prst="roundRect">
            <a:avLst>
              <a:gd name="adj" fmla="val 2319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text-265"/>
          <p:cNvSpPr txBox="1"/>
          <p:nvPr/>
        </p:nvSpPr>
        <p:spPr>
          <a:xfrm>
            <a:off x="7909560" y="3200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Критерии продолжения</a:t>
            </a:r>
            <a:endParaRPr lang="en-US" sz="1600" dirty="0"/>
          </a:p>
        </p:txBody>
      </p:sp>
      <p:sp>
        <p:nvSpPr>
          <p:cNvPr id="22" name="text-266"/>
          <p:cNvSpPr txBox="1"/>
          <p:nvPr/>
        </p:nvSpPr>
        <p:spPr>
          <a:xfrm>
            <a:off x="7909560" y="365760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0 ложных «подтверждено»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Доля кейсов без ручного разбора — порог задаём до старта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Время проверки пакета ниже ручного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Сотрудники принимают трассу как достаточное обоснование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Что нам нужно от ВТБ, чтобы проверить банковский контур</a:t>
            </a:r>
            <a:endParaRPr lang="en-US" sz="2600" dirty="0"/>
          </a:p>
        </p:txBody>
      </p:sp>
      <p:sp>
        <p:nvSpPr>
          <p:cNvPr id="3" name="card-267"/>
          <p:cNvSpPr/>
          <p:nvPr/>
        </p:nvSpPr>
        <p:spPr>
          <a:xfrm>
            <a:off x="548640" y="1280160"/>
            <a:ext cx="5449824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num-268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269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-270"/>
          <p:cNvSpPr txBox="1"/>
          <p:nvPr/>
        </p:nvSpPr>
        <p:spPr>
          <a:xfrm>
            <a:off x="1508760" y="1417320"/>
            <a:ext cx="4261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Владелец процесса</a:t>
            </a:r>
            <a:endParaRPr lang="en-US" sz="1500" dirty="0"/>
          </a:p>
        </p:txBody>
      </p:sp>
      <p:sp>
        <p:nvSpPr>
          <p:cNvPr id="7" name="text-271"/>
          <p:cNvSpPr txBox="1"/>
          <p:nvPr/>
        </p:nvSpPr>
        <p:spPr>
          <a:xfrm>
            <a:off x="1508760" y="1783080"/>
            <a:ext cx="4261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Амбассадор пилота от сервиса МСБ или транзакционного бизнеса, созвон раз в неделю</a:t>
            </a:r>
            <a:endParaRPr lang="en-US" sz="1200" dirty="0"/>
          </a:p>
        </p:txBody>
      </p:sp>
      <p:sp>
        <p:nvSpPr>
          <p:cNvPr id="8" name="card-272"/>
          <p:cNvSpPr/>
          <p:nvPr/>
        </p:nvSpPr>
        <p:spPr>
          <a:xfrm>
            <a:off x="6190488" y="1280160"/>
            <a:ext cx="5449824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" name="num-273"/>
          <p:cNvSpPr/>
          <p:nvPr/>
        </p:nvSpPr>
        <p:spPr>
          <a:xfrm>
            <a:off x="6419088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274"/>
          <p:cNvSpPr txBox="1"/>
          <p:nvPr/>
        </p:nvSpPr>
        <p:spPr>
          <a:xfrm>
            <a:off x="641908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-275"/>
          <p:cNvSpPr txBox="1"/>
          <p:nvPr/>
        </p:nvSpPr>
        <p:spPr>
          <a:xfrm>
            <a:off x="7150608" y="1417320"/>
            <a:ext cx="4261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Регламент одной операции</a:t>
            </a:r>
            <a:endParaRPr lang="en-US" sz="1500" dirty="0"/>
          </a:p>
        </p:txBody>
      </p:sp>
      <p:sp>
        <p:nvSpPr>
          <p:cNvPr id="12" name="text-276"/>
          <p:cNvSpPr txBox="1"/>
          <p:nvPr/>
        </p:nvSpPr>
        <p:spPr>
          <a:xfrm>
            <a:off x="7150608" y="1783080"/>
            <a:ext cx="4261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Право подписи платёжных документов: чек-лист операциониста и типовые причины отказов</a:t>
            </a:r>
            <a:endParaRPr lang="en-US" sz="1200" dirty="0"/>
          </a:p>
        </p:txBody>
      </p:sp>
      <p:sp>
        <p:nvSpPr>
          <p:cNvPr id="13" name="card-277"/>
          <p:cNvSpPr/>
          <p:nvPr/>
        </p:nvSpPr>
        <p:spPr>
          <a:xfrm>
            <a:off x="548640" y="2606040"/>
            <a:ext cx="5449824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num-278"/>
          <p:cNvSpPr/>
          <p:nvPr/>
        </p:nvSpPr>
        <p:spPr>
          <a:xfrm>
            <a:off x="77724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-279"/>
          <p:cNvSpPr txBox="1"/>
          <p:nvPr/>
        </p:nvSpPr>
        <p:spPr>
          <a:xfrm>
            <a:off x="7772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-280"/>
          <p:cNvSpPr txBox="1"/>
          <p:nvPr/>
        </p:nvSpPr>
        <p:spPr>
          <a:xfrm>
            <a:off x="1508760" y="2743200"/>
            <a:ext cx="4261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Данные</a:t>
            </a:r>
            <a:endParaRPr lang="en-US" sz="1500" dirty="0"/>
          </a:p>
        </p:txBody>
      </p:sp>
      <p:sp>
        <p:nvSpPr>
          <p:cNvPr id="17" name="text-281"/>
          <p:cNvSpPr txBox="1"/>
          <p:nvPr/>
        </p:nvSpPr>
        <p:spPr>
          <a:xfrm>
            <a:off x="1508760" y="3108960"/>
            <a:ext cx="4261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50–100 обезличенных пакетов или тестовый контур; если нельзя — разметка нашего синтетического корпуса экспертами банка</a:t>
            </a:r>
            <a:endParaRPr lang="en-US" sz="1200" dirty="0"/>
          </a:p>
        </p:txBody>
      </p:sp>
      <p:sp>
        <p:nvSpPr>
          <p:cNvPr id="18" name="card-282"/>
          <p:cNvSpPr/>
          <p:nvPr/>
        </p:nvSpPr>
        <p:spPr>
          <a:xfrm>
            <a:off x="6190488" y="2606040"/>
            <a:ext cx="5449824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num-283"/>
          <p:cNvSpPr/>
          <p:nvPr/>
        </p:nvSpPr>
        <p:spPr>
          <a:xfrm>
            <a:off x="6419088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284"/>
          <p:cNvSpPr txBox="1"/>
          <p:nvPr/>
        </p:nvSpPr>
        <p:spPr>
          <a:xfrm>
            <a:off x="6419088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-285"/>
          <p:cNvSpPr txBox="1"/>
          <p:nvPr/>
        </p:nvSpPr>
        <p:spPr>
          <a:xfrm>
            <a:off x="7150608" y="2743200"/>
            <a:ext cx="4261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Базовые цифры</a:t>
            </a:r>
            <a:endParaRPr lang="en-US" sz="1500" dirty="0"/>
          </a:p>
        </p:txBody>
      </p:sp>
      <p:sp>
        <p:nvSpPr>
          <p:cNvPr id="22" name="text-286"/>
          <p:cNvSpPr txBox="1"/>
          <p:nvPr/>
        </p:nvSpPr>
        <p:spPr>
          <a:xfrm>
            <a:off x="7150608" y="3108960"/>
            <a:ext cx="4261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Число событий представительства в год, среднее время обработки, доля визитов в офис</a:t>
            </a:r>
            <a:endParaRPr lang="en-US" sz="1200" dirty="0"/>
          </a:p>
        </p:txBody>
      </p:sp>
      <p:sp>
        <p:nvSpPr>
          <p:cNvPr id="23" name="card-287"/>
          <p:cNvSpPr/>
          <p:nvPr/>
        </p:nvSpPr>
        <p:spPr>
          <a:xfrm>
            <a:off x="548640" y="3931920"/>
            <a:ext cx="5449824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num-288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289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-290"/>
          <p:cNvSpPr txBox="1"/>
          <p:nvPr/>
        </p:nvSpPr>
        <p:spPr>
          <a:xfrm>
            <a:off x="1508760" y="4069080"/>
            <a:ext cx="4261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Юридическая проверка</a:t>
            </a:r>
            <a:endParaRPr lang="en-US" sz="1500" dirty="0"/>
          </a:p>
        </p:txBody>
      </p:sp>
      <p:sp>
        <p:nvSpPr>
          <p:cNvPr id="27" name="text-291"/>
          <p:cNvSpPr txBox="1"/>
          <p:nvPr/>
        </p:nvSpPr>
        <p:spPr>
          <a:xfrm>
            <a:off x="1508760" y="4434840"/>
            <a:ext cx="4261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Ревью 20–25 правил юристом банка</a:t>
            </a:r>
            <a:endParaRPr lang="en-US" sz="1200" dirty="0"/>
          </a:p>
        </p:txBody>
      </p:sp>
      <p:sp>
        <p:nvSpPr>
          <p:cNvPr id="28" name="card-292"/>
          <p:cNvSpPr/>
          <p:nvPr/>
        </p:nvSpPr>
        <p:spPr>
          <a:xfrm>
            <a:off x="6190488" y="3931920"/>
            <a:ext cx="5449824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9" name="num-293"/>
          <p:cNvSpPr/>
          <p:nvPr/>
        </p:nvSpPr>
        <p:spPr>
          <a:xfrm>
            <a:off x="6419088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-294"/>
          <p:cNvSpPr txBox="1"/>
          <p:nvPr/>
        </p:nvSpPr>
        <p:spPr>
          <a:xfrm>
            <a:off x="6419088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text-295"/>
          <p:cNvSpPr txBox="1"/>
          <p:nvPr/>
        </p:nvSpPr>
        <p:spPr>
          <a:xfrm>
            <a:off x="7150608" y="4069080"/>
            <a:ext cx="4261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Песочница</a:t>
            </a:r>
            <a:endParaRPr lang="en-US" sz="1500" dirty="0"/>
          </a:p>
        </p:txBody>
      </p:sp>
      <p:sp>
        <p:nvSpPr>
          <p:cNvPr id="32" name="text-296"/>
          <p:cNvSpPr txBox="1"/>
          <p:nvPr/>
        </p:nvSpPr>
        <p:spPr>
          <a:xfrm>
            <a:off x="7150608" y="4434840"/>
            <a:ext cx="4261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On-prem модель банка; для промышленной версии — описание внутреннего API ролей в ДБО</a:t>
            </a:r>
            <a:endParaRPr lang="en-US" sz="1200" dirty="0"/>
          </a:p>
        </p:txBody>
      </p:sp>
      <p:sp>
        <p:nvSpPr>
          <p:cNvPr id="33" name="ask-main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-297"/>
          <p:cNvSpPr txBox="1"/>
          <p:nvPr/>
        </p:nvSpPr>
        <p:spPr>
          <a:xfrm>
            <a:off x="822960" y="53492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7. Главный запрос: </a:t>
            </a:r>
            <a:r>
              <a:rPr lang="en-US" sz="1600" dirty="0">
                <a:solidFill>
                  <a:schemeClr val="tx1"/>
                </a:solidFill>
              </a:rPr>
              <a:t>согласие на 6-недельный теневой пилот на одной операции через Акселератор ВТБ — с метриками, зафиксированными до старта.</a:t>
            </a:r>
            <a:endParaRPr lang="en-US" sz="16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chemeClr val="bg1"/>
                </a:solidFill>
              </a:rPr>
              <a:t>Команда: роли и ответственность</a:t>
            </a:r>
            <a:endParaRPr lang="en-US" sz="2600" dirty="0"/>
          </a:p>
        </p:txBody>
      </p:sp>
      <p:sp>
        <p:nvSpPr>
          <p:cNvPr id="3" name="team-card-298"/>
          <p:cNvSpPr/>
          <p:nvPr/>
        </p:nvSpPr>
        <p:spPr>
          <a:xfrm>
            <a:off x="548640" y="1280160"/>
            <a:ext cx="5449824" cy="1965960"/>
          </a:xfrm>
          <a:prstGeom prst="roundRect">
            <a:avLst>
              <a:gd name="adj" fmla="val 3721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" name="icon-bg-299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301"/>
          <p:cNvSpPr txBox="1"/>
          <p:nvPr/>
        </p:nvSpPr>
        <p:spPr>
          <a:xfrm>
            <a:off x="1554480" y="1536192"/>
            <a:ext cx="4169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7" name="text-302"/>
          <p:cNvSpPr txBox="1"/>
          <p:nvPr/>
        </p:nvSpPr>
        <p:spPr>
          <a:xfrm>
            <a:off x="1554480" y="196596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400" dirty="0"/>
          </a:p>
        </p:txBody>
      </p:sp>
      <p:sp>
        <p:nvSpPr>
          <p:cNvPr id="8" name="text-303"/>
          <p:cNvSpPr txBox="1"/>
          <p:nvPr/>
        </p:nvSpPr>
        <p:spPr>
          <a:xfrm>
            <a:off x="1554480" y="2377440"/>
            <a:ext cx="4169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300" dirty="0"/>
          </a:p>
        </p:txBody>
      </p:sp>
      <p:sp>
        <p:nvSpPr>
          <p:cNvPr id="9" name="team-card-304"/>
          <p:cNvSpPr/>
          <p:nvPr/>
        </p:nvSpPr>
        <p:spPr>
          <a:xfrm>
            <a:off x="6190488" y="1280160"/>
            <a:ext cx="5449824" cy="1965960"/>
          </a:xfrm>
          <a:prstGeom prst="roundRect">
            <a:avLst>
              <a:gd name="adj" fmla="val 3721"/>
            </a:avLst>
          </a:prstGeom>
          <a:solidFill>
            <a:schemeClr val="accent6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icon-bg-305"/>
          <p:cNvSpPr/>
          <p:nvPr/>
        </p:nvSpPr>
        <p:spPr>
          <a:xfrm>
            <a:off x="6464808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-307"/>
          <p:cNvSpPr txBox="1"/>
          <p:nvPr/>
        </p:nvSpPr>
        <p:spPr>
          <a:xfrm>
            <a:off x="7196328" y="1536192"/>
            <a:ext cx="4169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3" name="text-308"/>
          <p:cNvSpPr txBox="1"/>
          <p:nvPr/>
        </p:nvSpPr>
        <p:spPr>
          <a:xfrm>
            <a:off x="7196328" y="196596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400" dirty="0"/>
          </a:p>
        </p:txBody>
      </p:sp>
      <p:sp>
        <p:nvSpPr>
          <p:cNvPr id="14" name="text-309"/>
          <p:cNvSpPr txBox="1"/>
          <p:nvPr/>
        </p:nvSpPr>
        <p:spPr>
          <a:xfrm>
            <a:off x="7196328" y="2377440"/>
            <a:ext cx="4169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300" dirty="0"/>
          </a:p>
        </p:txBody>
      </p:sp>
      <p:sp>
        <p:nvSpPr>
          <p:cNvPr id="15" name="team-card-310"/>
          <p:cNvSpPr/>
          <p:nvPr/>
        </p:nvSpPr>
        <p:spPr>
          <a:xfrm>
            <a:off x="548640" y="3429000"/>
            <a:ext cx="5449824" cy="1965960"/>
          </a:xfrm>
          <a:prstGeom prst="roundRect">
            <a:avLst>
              <a:gd name="adj" fmla="val 3721"/>
            </a:avLst>
          </a:prstGeom>
          <a:solidFill>
            <a:srgbClr val="0F1D2C"/>
          </a:solidFill>
          <a:ln w="15875">
            <a:solidFill>
              <a:srgbClr val="4A6684"/>
            </a:solidFill>
            <a:prstDash val="dash"/>
          </a:ln>
        </p:spPr>
      </p:sp>
      <p:sp>
        <p:nvSpPr>
          <p:cNvPr id="16" name="icon-bg-311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3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3824021"/>
            <a:ext cx="307238" cy="307238"/>
          </a:xfrm>
          <a:prstGeom prst="rect">
            <a:avLst/>
          </a:prstGeom>
        </p:spPr>
      </p:pic>
      <p:sp>
        <p:nvSpPr>
          <p:cNvPr id="18" name="text-313"/>
          <p:cNvSpPr txBox="1"/>
          <p:nvPr/>
        </p:nvSpPr>
        <p:spPr>
          <a:xfrm>
            <a:off x="1554480" y="3685032"/>
            <a:ext cx="4169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ru-RU" sz="1900" b="1" dirty="0">
                <a:solidFill>
                  <a:schemeClr val="accent4"/>
                </a:solidFill>
              </a:rPr>
              <a:t>Ляхов Николай</a:t>
            </a:r>
            <a:endParaRPr lang="en-US" sz="1900" dirty="0"/>
          </a:p>
        </p:txBody>
      </p:sp>
      <p:sp>
        <p:nvSpPr>
          <p:cNvPr id="19" name="text-314"/>
          <p:cNvSpPr txBox="1"/>
          <p:nvPr/>
        </p:nvSpPr>
        <p:spPr>
          <a:xfrm>
            <a:off x="1554480" y="411480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Продакт и исследователь</a:t>
            </a:r>
            <a:endParaRPr lang="en-US" sz="1400" dirty="0"/>
          </a:p>
        </p:txBody>
      </p:sp>
      <p:sp>
        <p:nvSpPr>
          <p:cNvPr id="20" name="text-315"/>
          <p:cNvSpPr txBox="1"/>
          <p:nvPr/>
        </p:nvSpPr>
        <p:spPr>
          <a:xfrm>
            <a:off x="1554480" y="4526280"/>
            <a:ext cx="4169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Интервью, опрос, карта процесса, питч</a:t>
            </a:r>
            <a:endParaRPr lang="en-US" sz="1300" dirty="0"/>
          </a:p>
        </p:txBody>
      </p:sp>
      <p:sp>
        <p:nvSpPr>
          <p:cNvPr id="21" name="team-card-316"/>
          <p:cNvSpPr/>
          <p:nvPr/>
        </p:nvSpPr>
        <p:spPr>
          <a:xfrm>
            <a:off x="6190488" y="3429000"/>
            <a:ext cx="5449824" cy="1965960"/>
          </a:xfrm>
          <a:prstGeom prst="roundRect">
            <a:avLst>
              <a:gd name="adj" fmla="val 3721"/>
            </a:avLst>
          </a:prstGeom>
          <a:solidFill>
            <a:srgbClr val="0F1D2C"/>
          </a:solidFill>
          <a:ln w="15875">
            <a:solidFill>
              <a:srgbClr val="4A6684"/>
            </a:solidFill>
            <a:prstDash val="dash"/>
          </a:ln>
        </p:spPr>
      </p:sp>
      <p:sp>
        <p:nvSpPr>
          <p:cNvPr id="22" name="icon-bg-317"/>
          <p:cNvSpPr/>
          <p:nvPr/>
        </p:nvSpPr>
        <p:spPr>
          <a:xfrm>
            <a:off x="6464808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-31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509" y="3824021"/>
            <a:ext cx="307238" cy="307238"/>
          </a:xfrm>
          <a:prstGeom prst="rect">
            <a:avLst/>
          </a:prstGeom>
        </p:spPr>
      </p:pic>
      <p:sp>
        <p:nvSpPr>
          <p:cNvPr id="24" name="text-319"/>
          <p:cNvSpPr txBox="1"/>
          <p:nvPr/>
        </p:nvSpPr>
        <p:spPr>
          <a:xfrm>
            <a:off x="7196328" y="3685032"/>
            <a:ext cx="4169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ru-RU" sz="1900" b="1" dirty="0">
                <a:solidFill>
                  <a:schemeClr val="accent4"/>
                </a:solidFill>
              </a:rPr>
              <a:t>Кузнецов Алексей</a:t>
            </a:r>
            <a:endParaRPr lang="en-US" sz="1900" dirty="0"/>
          </a:p>
        </p:txBody>
      </p:sp>
      <p:sp>
        <p:nvSpPr>
          <p:cNvPr id="25" name="text-320"/>
          <p:cNvSpPr txBox="1"/>
          <p:nvPr/>
        </p:nvSpPr>
        <p:spPr>
          <a:xfrm>
            <a:off x="7196328" y="411480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Юрист</a:t>
            </a:r>
            <a:endParaRPr lang="en-US" sz="1400" dirty="0"/>
          </a:p>
        </p:txBody>
      </p:sp>
      <p:sp>
        <p:nvSpPr>
          <p:cNvPr id="26" name="text-321"/>
          <p:cNvSpPr txBox="1"/>
          <p:nvPr/>
        </p:nvSpPr>
        <p:spPr>
          <a:xfrm>
            <a:off x="7196328" y="4526280"/>
            <a:ext cx="4169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Правила и нормы, разметка корпуса, юридические эффекты</a:t>
            </a:r>
            <a:endParaRPr lang="en-US" sz="1300" dirty="0"/>
          </a:p>
        </p:txBody>
      </p:sp>
      <p:sp>
        <p:nvSpPr>
          <p:cNvPr id="27" name="text-322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i="1" dirty="0">
                <a:solidFill>
                  <a:schemeClr val="accent4"/>
                </a:solidFill>
              </a:rPr>
              <a:t>Мы не предлагаем себя как вендора промышленной эксплуатации: результат — проверенный набор правил, протокол измерений, итоги пилота и эталонная реализация под MIT для передачи команде банка.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5F7DF86D-D3D0-C110-4FEC-0DDAE960F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4595" y="1498063"/>
            <a:ext cx="650777" cy="650777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CCBF36F-1336-B0FB-F594-AF39DE86DE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691" y="1491564"/>
            <a:ext cx="650777" cy="650777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6634F03A-462B-F96C-B3E6-780B0C875B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691" y="3619298"/>
            <a:ext cx="650777" cy="650777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714F61F-60F9-BB1A-916A-F029DAFA9E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4595" y="3619298"/>
            <a:ext cx="650777" cy="65077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acts-graph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463040"/>
            <a:ext cx="3474720" cy="3474720"/>
          </a:xfrm>
          <a:prstGeom prst="rect">
            <a:avLst/>
          </a:prstGeom>
        </p:spPr>
      </p:pic>
      <p:sp>
        <p:nvSpPr>
          <p:cNvPr id="3" name="text-323"/>
          <p:cNvSpPr txBox="1"/>
          <p:nvPr/>
        </p:nvSpPr>
        <p:spPr>
          <a:xfrm>
            <a:off x="640080" y="9144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4800" b="1" dirty="0">
                <a:solidFill>
                  <a:schemeClr val="accent1"/>
                </a:solidFill>
              </a:rPr>
              <a:t>Контакты</a:t>
            </a:r>
            <a:endParaRPr lang="en-US" sz="4800" dirty="0"/>
          </a:p>
        </p:txBody>
      </p:sp>
      <p:sp>
        <p:nvSpPr>
          <p:cNvPr id="4" name="text-324"/>
          <p:cNvSpPr txBox="1"/>
          <p:nvPr/>
        </p:nvSpPr>
        <p:spPr>
          <a:xfrm>
            <a:off x="640080" y="2103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Команда «Мандат»</a:t>
            </a:r>
            <a:endParaRPr lang="en-US" sz="2200" dirty="0"/>
          </a:p>
        </p:txBody>
      </p:sp>
      <p:sp>
        <p:nvSpPr>
          <p:cNvPr id="5" name="text-325"/>
          <p:cNvSpPr txBox="1"/>
          <p:nvPr/>
        </p:nvSpPr>
        <p:spPr>
          <a:xfrm>
            <a:off x="640080" y="26974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chemeClr val="accent4"/>
                </a:solidFill>
              </a:rPr>
              <a:t>Код: </a:t>
            </a:r>
            <a:r>
              <a:rPr lang="en-US" sz="1600" dirty="0">
                <a:solidFill>
                  <a:schemeClr val="accent4"/>
                </a:solidFill>
                <a:hlinkClick r:id="rId4"/>
              </a:rPr>
              <a:t>https://github.com/KonkovDV/Mandat</a:t>
            </a:r>
            <a:r>
              <a:rPr lang="ru-RU" sz="1600" dirty="0">
                <a:solidFill>
                  <a:schemeClr val="accent4"/>
                </a:solidFill>
              </a:rPr>
              <a:t> </a:t>
            </a:r>
            <a:r>
              <a:rPr lang="en-US" sz="1600" dirty="0">
                <a:solidFill>
                  <a:schemeClr val="accent4"/>
                </a:solidFill>
              </a:rPr>
              <a:t>· собственный код под MIT</a:t>
            </a:r>
            <a:endParaRPr lang="en-US" sz="1600" dirty="0"/>
          </a:p>
        </p:txBody>
      </p:sp>
      <p:sp>
        <p:nvSpPr>
          <p:cNvPr id="6" name="contact-ask"/>
          <p:cNvSpPr/>
          <p:nvPr/>
        </p:nvSpPr>
        <p:spPr>
          <a:xfrm>
            <a:off x="640080" y="4480560"/>
            <a:ext cx="7223760" cy="914400"/>
          </a:xfrm>
          <a:prstGeom prst="roundRect">
            <a:avLst>
              <a:gd name="adj" fmla="val 8000"/>
            </a:avLst>
          </a:prstGeom>
          <a:solidFill>
            <a:srgbClr val="10203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-326"/>
          <p:cNvSpPr txBox="1"/>
          <p:nvPr/>
        </p:nvSpPr>
        <p:spPr>
          <a:xfrm>
            <a:off x="868680" y="45262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18 октября.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FEBE4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B04A0C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4152</Words>
  <Application>Microsoft Office PowerPoint</Application>
  <PresentationFormat>Широкоэкранный</PresentationFormat>
  <Paragraphs>351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2" baseType="lpstr">
      <vt:lpstr>Arial</vt:lpstr>
      <vt:lpstr>Calibri</vt:lpstr>
      <vt:lpstr>Mandat</vt:lpstr>
      <vt:lpstr>Презентация PowerPoint</vt:lpstr>
      <vt:lpstr>Суть за 30 секунд</vt:lpstr>
      <vt:lpstr>Новый представитель компании — это визит в офис и ручная сверка</vt:lpstr>
      <vt:lpstr>Почему сейчас: поток доверенностей растёт, мошенники идут в бизнес</vt:lpstr>
      <vt:lpstr>Три пользователя — одна работа: быстро и доказуемо подтвердить полномочие</vt:lpstr>
      <vt:lpstr>Решение: один вопрос — три ответа</vt:lpstr>
      <vt:lpstr>Как это выглядит: решение с трассой до документа</vt:lpstr>
      <vt:lpstr>Модель извлекает факты, правила решают, человек подтверждает исключения</vt:lpstr>
      <vt:lpstr>1С-ЭДО проверяет МЧД под документ, «Мандат» — под операцию и права в банке</vt:lpstr>
      <vt:lpstr>Сменился директор или отозвана МЧД — выданные права уходят на перепроверку</vt:lpstr>
      <vt:lpstr>Эффект для ВТБ: меньше ручной работы, быстрее первая операция, меньше риска</vt:lpstr>
      <vt:lpstr>Метрики: ноль ложных подтверждений — главное условие</vt:lpstr>
      <vt:lpstr>Всё в контуре банка: данные, модели и решения</vt:lpstr>
      <vt:lpstr>Риски и как снимаем</vt:lpstr>
      <vt:lpstr>Ядро уже работает, банковский контур собираем к 1 ноября</vt:lpstr>
      <vt:lpstr>Путь к пилоту: 6 недель в теневом режиме на одной операции</vt:lpstr>
      <vt:lpstr>Что нам нужно от ВТБ, чтобы проверить банковский контур</vt:lpstr>
      <vt:lpstr>Команда: роли и ответственность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</dc:title>
  <dc:subject>PptxGenJS Presentation</dc:subject>
  <dc:creator>Команда «Мандат»</dc:creator>
  <cp:lastModifiedBy>Ivan Ivanov</cp:lastModifiedBy>
  <cp:revision>5</cp:revision>
  <dcterms:created xsi:type="dcterms:W3CDTF">2026-10-09T15:28:38Z</dcterms:created>
  <dcterms:modified xsi:type="dcterms:W3CDTF">2026-10-09T17:49:18Z</dcterms:modified>
</cp:coreProperties>
</file>