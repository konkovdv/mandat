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DDBDEC19-EA96-DEDF-74E8-F21AF0B0387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B5D09980-A84E-AEC4-9140-3EBAE44C6E77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B2A-431E-BB98-8AE8627E2A35}"/>
              </c:ext>
            </c:extLst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B2A-431E-BB98-8AE8627E2A35}"/>
              </c:ext>
            </c:extLst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B2A-431E-BB98-8AE8627E2A35}"/>
              </c:ext>
            </c:extLst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B2A-431E-BB98-8AE8627E2A3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ПОДТВЕРЖДЕНО</c:v>
                </c:pt>
                <c:pt idx="1">
                  <c:v>ОПРОВЕРГНУТО</c:v>
                </c:pt>
                <c:pt idx="2">
                  <c:v>НА РАЗБОР</c:v>
                </c:pt>
                <c:pt idx="3">
                  <c:v>НЕДОСТ. ДАННЫХ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B2A-431E-BB98-8AE8627E2A3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F01-4AB3-9AD8-984BF815E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F-4A10-A33A-EE3CA865DB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308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jpg"/><Relationship Id="rId5" Type="http://schemas.openxmlformats.org/officeDocument/2006/relationships/image" Target="../media/image28.jpg"/><Relationship Id="rId4" Type="http://schemas.openxmlformats.org/officeDocument/2006/relationships/image" Target="../media/image2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nkovDV/Manda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r>
              <a:rPr lang="en-US" sz="2400" b="1" dirty="0">
                <a:solidFill>
                  <a:schemeClr val="accent1"/>
                </a:solidFill>
              </a:rPr>
              <a:t>X</a:t>
            </a: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r>
              <a:rPr lang="en-US" sz="2400" b="1" dirty="0">
                <a:solidFill>
                  <a:schemeClr val="accent1"/>
                </a:solidFill>
              </a:rPr>
              <a:t>O</a:t>
            </a: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r>
              <a:rPr lang="en-US" sz="2400" b="1" dirty="0">
                <a:solidFill>
                  <a:schemeClr val="accent1"/>
                </a:solidFill>
              </a:rPr>
              <a:t>Y</a:t>
            </a: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r>
              <a:rPr lang="en-US" sz="2400" b="1" dirty="0">
                <a:solidFill>
                  <a:schemeClr val="accent1"/>
                </a:solidFill>
              </a:rPr>
              <a:t>t</a:t>
            </a: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(13.10.2026,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/>
          <p:cNvGraphicFramePr/>
          <p:nvPr/>
        </p:nvGraphicFramePr>
        <p:xfrm>
          <a:off x="6080760" y="1417320"/>
          <a:ext cx="537667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685800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/>
          <p:cNvGraphicFramePr/>
          <p:nvPr/>
        </p:nvGraphicFramePr>
        <p:xfrm>
          <a:off x="6345936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585 автотестов, evidence.json от 13.10.2026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585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5" name="photo" descr="Фото: Ляхов Николай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Владелец продукта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20" name="photo" descr="Фото: Кузнецов Алексе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r>
              <a:rPr lang="en-US" sz="1600" u="sng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5330</Words>
  <Application>Microsoft Office PowerPoint</Application>
  <PresentationFormat>Широкоэкранный</PresentationFormat>
  <Paragraphs>555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Mandat</vt:lpstr>
      <vt:lpstr>Презентация PowerPoint</vt:lpstr>
      <vt:lpstr>Ошибка в полномочиях стоит дорого: ≈0,7 млн ₽ на одну операцию против компании</vt:lpstr>
      <vt:lpstr>Мошеннику хватает пяти рабочих дней, а сверка «на сегодня» не видит событий между обращениями</vt:lpstr>
      <vt:lpstr>Один вопрос — четыре ответа, и неизвестное никогда не становится «да»</vt:lpstr>
      <vt:lpstr>Каждый вердикт доказан: поле МЧД, запись ЕГРЮЛ, норма закона</vt:lpstr>
      <vt:lpstr>После выдачи прав «Мандат» продолжает следить: признаки захвата видны до платежа</vt:lpstr>
      <vt:lpstr>Ноль ложных «подтверждено» на 288 кейсах, где подтверждать нельзя</vt:lpstr>
      <vt:lpstr>ИИ советует, но не решает: вердикт выносят правила, спорное — человек</vt:lpstr>
      <vt:lpstr>Эффект для ВТБ в двух валютах: ставки сотрудников и предотвращённый ущерб</vt:lpstr>
      <vt:lpstr>Почему сейчас: МЧД втрое больше, а правила меняются каждые полгода</vt:lpstr>
      <vt:lpstr>Встаёт в контур ВТБ on-prem: ядро готово, источники подключаются через порты</vt:lpstr>
      <vt:lpstr>Предлагаем 6-недельный теневой пилот на праве подписи платёжных поручений по МЧД</vt:lpstr>
      <vt:lpstr>Команда: правила, измерение, процесс и право</vt:lpstr>
      <vt:lpstr>Презентация PowerPoint</vt:lpstr>
      <vt:lpstr>Приложение: ответы на вопросы жюри</vt:lpstr>
      <vt:lpstr>Реестр и ЭДО отвечают «действует ли МЧД», «Мандат» — «можно ли эту операцию сегодня»</vt:lpstr>
      <vt:lpstr>39 правил со ссылкой на норму: что они ловят</vt:lpstr>
      <vt:lpstr>Пять норм, на которых ошибается ручная сверка</vt:lpstr>
      <vt:lpstr>Доверие без доступа к базе: подписанное удостоверение, статус и журнал</vt:lpstr>
      <vt:lpstr>Как мы измеряем качество — и что изменится на реальных данных</vt:lpstr>
      <vt:lpstr>Всё в контуре банка: данные, модель и решения</vt:lpstr>
      <vt:lpstr>Риски, которые банк увидит первыми, — и как мы их снимаем</vt:lpstr>
      <vt:lpstr>Расчёт эффекта: формулы, допущения и мировой ориентир</vt:lpstr>
      <vt:lpstr>Трудные вопросы жюри (1/2)</vt:lpstr>
      <vt:lpstr>Трудные вопросы жюри (2/2)</vt:lpstr>
      <vt:lpstr>Нормативная база на октябрь 2026 и что она меняет в «Мандате»</vt:lpstr>
      <vt:lpstr>Дорожная карта: от онлайн-питча до решения о пилоте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2026-10-13T13:16:58Z</dcterms:created>
  <dcterms:modified xsi:type="dcterms:W3CDTF">2026-10-13T13:24:52Z</dcterms:modified>
</cp:coreProperties>
</file>