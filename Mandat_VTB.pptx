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650E2194-D5D3-1232-00F0-1EE5C9B99BD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4A487EAE-3ED8-9C41-E6B2-480818E31823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Куда уходят 204 проверочных кейса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3EF-4C88-AE3A-13B4B109A9A4}"/>
              </c:ext>
            </c:extLst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3EF-4C88-AE3A-13B4B109A9A4}"/>
              </c:ext>
            </c:extLst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3EF-4C88-AE3A-13B4B109A9A4}"/>
              </c:ext>
            </c:extLst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3EF-4C88-AE3A-13B4B109A9A4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F3F6F9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ПОДТВЕРЖДЕНО</c:v>
                </c:pt>
                <c:pt idx="1">
                  <c:v>ОПРОВЕРГНУТО</c:v>
                </c:pt>
                <c:pt idx="2">
                  <c:v>НА РАЗБОР</c:v>
                </c:pt>
                <c:pt idx="3">
                  <c:v>НЕДОСТ. ДАННЫХ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84</c:v>
                </c:pt>
                <c:pt idx="2">
                  <c:v>66</c:v>
                </c:pt>
                <c:pt idx="3">
                  <c:v>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3EF-4C88-AE3A-13B4B109A9A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F3F6F9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Консервативный</c:v>
                </c:pt>
                <c:pt idx="1">
                  <c:v>Базовый</c:v>
                </c:pt>
                <c:pt idx="2">
                  <c:v>Оптимистичный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7D3-43DE-98D4-83FC5D2D964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F3F6F9"/>
                    </a:solidFill>
                    <a:latin typeface="+mn-lt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Консервативный</c:v>
                </c:pt>
                <c:pt idx="1">
                  <c:v>Базовый</c:v>
                </c:pt>
                <c:pt idx="2">
                  <c:v>Оптимистичный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C0-4357-8DB6-EFBE324F678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54200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и деньги почти не возвращаются. При этом ответ на вопрос о полномочиях сотрудник собирает вручную.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дней в ЕГРЮЛ новый директор, дальше новая доверенность, заявка в банк и платёж. Ручная сверка видит только сегодняшний день.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«Мандат» подтверждает и ставит сигнал, а не отказывает. Каждая строка — с доказательством: ГРН записи ЕГРЮЛ, путь до поля МЧД, норма. Тот же кейс со свежей сменой директора — на разбор с приоритетом P1 и сроком четыре часа. А если отменили основную доверенность, передоверие теряет силу — опровергнуто.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приостанавливает автоматику, передаёт в антифрод и переводит удостоверения компании в статус «приостановлено». Если отменили основную доверенность, права по всей цепочке уходят на паузу. Здесь включаем запись демо.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174 синтетических кейсах, где подтверждать нельзя, таких ошибок ноль, верхняя граница 95% — 2,2 процента. Ключевое свойство — передоверие не расширяет полномочия — проверено на 384 цепочках и совпало с независимой реализацией на Cedar. Честно: это синтетика, проверка логики. Реальную точность измерит пилот.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ровно логика Кодекса этики ИИ Банка России, к которому ВТБ присоединился в августе.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клиентов-предприятий ВТБ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ЦБ расширил признаки мошеннических операций, а с сентября 2027 года единая форма МЧД станет универсальной. Банку нужен движок, в котором нормы меняются данными, а не релизом.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 и проверку подписи подключаем к пилоту через готовые порты.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платёжек по МЧД. «Мандат» работает рядом с сотрудниками и ни на что не влияет. Стоп-критерий — ноль ложных подтверждений на реальном потоке. От банка — владелец процесса, регламент, обезличенные пакеты и юрист.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качество, Николай — за исследование и процесс, Алексей — за правовые нормы.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onkovDV/Mandat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32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/tmp/claude-0/-home-claude/44242ea2-3ee7-56ec-ad69-b6c88c6c3d84/scratchpad/deck3/assets/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Сегодня ответ «вправе ли этот человек подписать за компанию» сотрудник собирает вручную из МЧД, выписки ЕГРЮЛ и устава.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возмещено компаниям по счетам и через СБП: деньги почти не возвращаются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дней, а ручная сверка видит только сегодняшний день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ГК РФ, ст. 188; разъяснения ФНС о смене руководителя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5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почти не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bg1"/>
                </a:solidFill>
              </a:rPr>
              <a:t>Как проверяют сегодня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Сотрудник вручную сверяет МЧД, выписку ЕГРЮЛ и устав — на сегодняшний день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Событие у клиента — смена директора, отмена МЧД — всплывает при следующем обращении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r>
              <a:rPr lang="en-US" sz="2400" b="1" dirty="0">
                <a:solidFill>
                  <a:schemeClr val="accent1"/>
                </a:solidFill>
              </a:rPr>
              <a:t>X</a:t>
            </a: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r>
              <a:rPr lang="en-US" sz="2400" b="1" dirty="0">
                <a:solidFill>
                  <a:schemeClr val="accent1"/>
                </a:solidFill>
              </a:rPr>
              <a:t>O</a:t>
            </a: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r>
              <a:rPr lang="en-US" sz="2400" b="1" dirty="0">
                <a:solidFill>
                  <a:schemeClr val="accent1"/>
                </a:solidFill>
              </a:rPr>
              <a:t>Y</a:t>
            </a: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r>
              <a:rPr lang="en-US" sz="2400" b="1" dirty="0">
                <a:solidFill>
                  <a:schemeClr val="accent1"/>
                </a:solidFill>
              </a:rPr>
              <a:t>t</a:t>
            </a: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32 правила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10, 05 и 11 из репозитория «Мандата»; данные вымышлены.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10 · ООО «Ясная поляна» · синтетические данные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платёжки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платёжек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Тот же кейс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захват виден до платежа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передать кейс в антифрод банка,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Права по всей цепочке передоверия — на паузу, удостоверение — в статус «отозвано».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174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(12.10.2026)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174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2,2%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204 / 204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34 вида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/>
          <p:cNvGraphicFramePr/>
          <p:nvPr/>
        </p:nvGraphicFramePr>
        <p:xfrm>
          <a:off x="6080760" y="1417320"/>
          <a:ext cx="5376672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44% кейсов уходят человеку — так задумано. Реальная доля ошибок — главный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32 правила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ВТБ присоединился к Кодексу этики ИИ Банка России 21.08.2026 — «Мандат» спроектирован в его логике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4805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489204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4805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489204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4805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489204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клиентов-предприятий; altapress.ru, 29.07.2026); Банк России, I кв. 2026. Доли и минуты — допущения команды; калькулятор scripts/effect_model.py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/>
          <p:cNvGraphicFramePr/>
          <p:nvPr/>
        </p:nvGraphicFramePr>
        <p:xfrm>
          <a:off x="685800" y="1417320"/>
          <a:ext cx="5157216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1,8 млн клиентов-предприятий × доля с событием представительства (10 / 15 / 25%) × сэкономленные минуты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/>
          <p:cNvGraphicFramePr/>
          <p:nvPr/>
        </p:nvGraphicFramePr>
        <p:xfrm>
          <a:off x="6345936" y="1417320"/>
          <a:ext cx="5157216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РБК, 01.01.2026;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ЦБ расширил признаки операций без согласия клиента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ИИ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клиентов МСБ у ВТБ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v0.2.0: 88 автотестов, evidence.json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32 правила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32 правила, 12 демо-кейсов, CLI и HTTP API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88 автотестов,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платёжек по МЧД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амбассадор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 GO / NO-GO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 GO / NO-GO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реальном потоке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с сотрудником разобрано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время проверки пакета ниже ручного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амбассадор пилота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правила, измерение, процесс и право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5" name="photo" descr="/tmp/claude-0/-home-claude/44242ea2-3ee7-56ec-ad69-b6c88c6c3d84/scratchpad/deck3/assets/dmitrij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00200"/>
            <a:ext cx="1737360" cy="1737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834640" y="160020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Коньков Дмитрий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2834640" y="203911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834640" y="260604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08776" y="132588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10" name="photo" descr="/tmp/claude-0/-home-claude/44242ea2-3ee7-56ec-ad69-b6c88c6c3d84/scratchpad/deck3/assets/elen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1600200"/>
            <a:ext cx="1737360" cy="17373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494776" y="160020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Конькова Елена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8494776" y="203911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494776" y="260604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548640" y="388620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15" name="photo" descr="/tmp/claude-0/-home-claude/44242ea2-3ee7-56ec-ad69-b6c88c6c3d84/scratchpad/deck3/assets/nikolaj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160520"/>
            <a:ext cx="1737360" cy="17373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834640" y="416052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Ляхов Николай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2834640" y="459943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Продакт и исследователь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2834640" y="516636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Интервью, опрос, карта процесса, питч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6208776" y="3886200"/>
            <a:ext cx="5431536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pic>
        <p:nvPicPr>
          <p:cNvPr id="20" name="photo" descr="/tmp/claude-0/-home-claude/44242ea2-3ee7-56ec-ad69-b6c88c6c3d84/scratchpad/deck3/assets/aleksej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3096" y="4160520"/>
            <a:ext cx="1737360" cy="17373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494776" y="416052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Кузнецов Алексей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8494776" y="459943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Юрист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8494776" y="5166360"/>
            <a:ext cx="28712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Правила и нормы, разметка корпуса, юридические эффекты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marL="0" indent="0" algn="l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marL="0" indent="0" algn="l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r>
              <a:rPr lang="en-US" sz="1600" u="sng" dirty="0">
                <a:solidFill>
                  <a:schemeClr val="accent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18 октября</a:t>
            </a:r>
            <a:endParaRPr lang="en-US" sz="1600" dirty="0"/>
          </a:p>
        </p:txBody>
      </p:sp>
      <p:pic>
        <p:nvPicPr>
          <p:cNvPr id="7" name="graph" descr="/tmp/claude-0/-home-claude/44242ea2-3ee7-56ec-ad69-b6c88c6c3d84/scratchpad/deck3/assets/grap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Murder Board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12.10.2026. Источники: vtb.ru/r/terms_mchd; buh.ru — проверка МЧД в 1С-ЭДО; kontur.ru/mchd; docs/COMPETITORS.md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3621024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1С-ЭДО, Контур.Доверенность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МЧД под документ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проверяется в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событие видно в Контур.Фокусе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32 правила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неутверждённое правило не опровергает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438912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36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признаки безотзывной доверенности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R-CHR, R-TXT, R-PAP, R-SIG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текстовые полномочия, бумажная доверенность,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Четыре нормы,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79476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bg1"/>
                </a:solidFill>
              </a:rPr>
              <a:t>Смена директора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21648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п. 1 ст. 188 ГК РФ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88920"/>
            <a:ext cx="21648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500" dirty="0"/>
          </a:p>
        </p:txBody>
      </p:sp>
      <p:sp>
        <p:nvSpPr>
          <p:cNvPr id="8" name="pill"/>
          <p:cNvSpPr/>
          <p:nvPr/>
        </p:nvSpPr>
        <p:spPr>
          <a:xfrm>
            <a:off x="777240" y="3840480"/>
            <a:ext cx="2164842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840480"/>
            <a:ext cx="21648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343400"/>
            <a:ext cx="2164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3371850" y="1325880"/>
            <a:ext cx="2622042" cy="379476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00450" y="1554480"/>
            <a:ext cx="2164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bg1"/>
                </a:solidFill>
              </a:rPr>
              <a:t>Отмена основной МЧД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00450" y="2286000"/>
            <a:ext cx="21648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п. 3 ст. 188 ГК РФ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00450" y="2788920"/>
            <a:ext cx="21648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500" dirty="0"/>
          </a:p>
        </p:txBody>
      </p:sp>
      <p:sp>
        <p:nvSpPr>
          <p:cNvPr id="15" name="pill"/>
          <p:cNvSpPr/>
          <p:nvPr/>
        </p:nvSpPr>
        <p:spPr>
          <a:xfrm>
            <a:off x="3600450" y="3840480"/>
            <a:ext cx="2164842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00450" y="3840480"/>
            <a:ext cx="21648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600450" y="4343400"/>
            <a:ext cx="2164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каскад по всей цепочке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195060" y="1325880"/>
            <a:ext cx="2622042" cy="379476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23660" y="1554480"/>
            <a:ext cx="2164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bg1"/>
                </a:solidFill>
              </a:rPr>
              <a:t>Срок не указан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23660" y="2286000"/>
            <a:ext cx="21648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п. 1 ст. 186 ГК РФ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23660" y="2788920"/>
            <a:ext cx="21648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500" dirty="0"/>
          </a:p>
        </p:txBody>
      </p:sp>
      <p:sp>
        <p:nvSpPr>
          <p:cNvPr id="22" name="pill"/>
          <p:cNvSpPr/>
          <p:nvPr/>
        </p:nvSpPr>
        <p:spPr>
          <a:xfrm>
            <a:off x="6423660" y="3840480"/>
            <a:ext cx="2164842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23660" y="3840480"/>
            <a:ext cx="21648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23660" y="4343400"/>
            <a:ext cx="2164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400" dirty="0"/>
          </a:p>
        </p:txBody>
      </p:sp>
      <p:sp>
        <p:nvSpPr>
          <p:cNvPr id="25" name="card"/>
          <p:cNvSpPr/>
          <p:nvPr/>
        </p:nvSpPr>
        <p:spPr>
          <a:xfrm>
            <a:off x="9018270" y="1325880"/>
            <a:ext cx="2622042" cy="379476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246870" y="1554480"/>
            <a:ext cx="216484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bg1"/>
                </a:solidFill>
              </a:rPr>
              <a:t>Передоверие с утратой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246870" y="2286000"/>
            <a:ext cx="21648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признак ПрУтрПолн = 2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246870" y="2788920"/>
            <a:ext cx="216484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500" dirty="0"/>
          </a:p>
        </p:txBody>
      </p:sp>
      <p:sp>
        <p:nvSpPr>
          <p:cNvPr id="29" name="pill"/>
          <p:cNvSpPr/>
          <p:nvPr/>
        </p:nvSpPr>
        <p:spPr>
          <a:xfrm>
            <a:off x="9246870" y="3840480"/>
            <a:ext cx="2164842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246870" y="3840480"/>
            <a:ext cx="21648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246870" y="4343400"/>
            <a:ext cx="2164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400" dirty="0"/>
          </a:p>
        </p:txBody>
      </p:sp>
      <p:sp>
        <p:nvSpPr>
          <p:cNvPr id="32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актуальный статус сам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422452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33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 кейса, 34 вида: 5 зелёных, 14 опровергающих, 11 на разбор, 4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пакетов, от 300 к спринту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174, верхняя граница 95% — 2,2%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реальном потоке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95,6%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55,9% автоматических вердиктов в профиле demo; 2,9% в strict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Закрыт без токена: 503, неверный токен — 401; лимит тела, CSP на отчёте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проверяют сертифицированные СКЗИ банка через порт</a:t>
            </a:r>
            <a:endParaRPr lang="en-US" sz="15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docs/LIMITS.md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764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 МСФО 1П 2026; Fenergo — опросы банков 2022 и 2025 (данные вендора); FBI IC3 Internet Crime Report 2025 (06.04.2026)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ЦБ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пилот, калькулятор — scripts/effect_model.py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$1 500–3 000 — стоимость KYC-проверки корпоративного клиента у 54% банков (Fenergo, 2022)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банков теряли клиентов из-за медленного онбординга в 2025 году (Fenergo)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$3,05 млрд — потери от компрометации деловой переписки в США за 2025 год (FBI IC3)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МСБ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Murder Board: жёсткие вопросы жюри (1/2)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34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32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2,2%.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ML уместен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ЦБ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32 правила, журнал, мониторинг, удостоверения. Заглушки — источники данных; каждый отчёт сам это показывает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«на разбор» получат сотрудники?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корпусе 44%, на реальном потоке — вторая метрика пилота с порогом банка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Murder Board: жёсткие вопросы жюри (2/2)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438912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34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«На разбор» с указанием конфликта и источников;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модель — лицензия на контур и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ЦБ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 автотестов,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12.10.2026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4224528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88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ЦБ ОД-2506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расширены признаки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ИИ Банка России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ЦБ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 GO / NO-GO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blurRad="76200" dist="254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4911</Words>
  <Application>Microsoft Office PowerPoint</Application>
  <PresentationFormat>Широкоэкранный</PresentationFormat>
  <Paragraphs>548</Paragraphs>
  <Slides>27</Slides>
  <Notes>27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0" baseType="lpstr">
      <vt:lpstr>Arial</vt:lpstr>
      <vt:lpstr>Calibri</vt:lpstr>
      <vt:lpstr>Mandat</vt:lpstr>
      <vt:lpstr>Презентация PowerPoint</vt:lpstr>
      <vt:lpstr>Ошибка в полномочиях стоит дорого: ≈0,7 млн ₽ на одну операцию против компании</vt:lpstr>
      <vt:lpstr>Мошеннику хватает пяти дней, а ручная сверка видит только сегодняшний день</vt:lpstr>
      <vt:lpstr>Один вопрос — четыре ответа, и неизвестное никогда не становится «да»</vt:lpstr>
      <vt:lpstr>Каждый вердикт доказан: поле МЧД, запись ЕГРЮЛ, норма закона</vt:lpstr>
      <vt:lpstr>После выдачи прав «Мандат» продолжает следить: захват виден до платежа</vt:lpstr>
      <vt:lpstr>Ноль ложных «подтверждено» на 174 кейсах, где подтверждать нельзя</vt:lpstr>
      <vt:lpstr>ИИ советует, но не решает: вердикт выносят правила, спорное — человек</vt:lpstr>
      <vt:lpstr>Эффект для ВТБ в двух валютах: ставки сотрудников и предотвращённый ущерб</vt:lpstr>
      <vt:lpstr>Почему сейчас: МЧД втрое больше, а правила меняются каждые полгода</vt:lpstr>
      <vt:lpstr>Встаёт в контур ВТБ on-prem: ядро готово, источники подключаются через порты</vt:lpstr>
      <vt:lpstr>Предлагаем 6-недельный теневой пилот на праве подписи платёжек по МЧД</vt:lpstr>
      <vt:lpstr>Команда: правила, измерение, процесс и право</vt:lpstr>
      <vt:lpstr>Презентация PowerPoint</vt:lpstr>
      <vt:lpstr>Приложение: ответы на вопросы жюри</vt:lpstr>
      <vt:lpstr>Реестр и ЭДО отвечают «действует ли МЧД», «Мандат» — «можно ли эту операцию сегодня»</vt:lpstr>
      <vt:lpstr>32 правила со ссылкой на норму: что они ловят</vt:lpstr>
      <vt:lpstr>Четыре нормы, на которых ошибается ручная сверка</vt:lpstr>
      <vt:lpstr>Доверие без доступа к базе: подписанное удостоверение, статус и журнал</vt:lpstr>
      <vt:lpstr>Как мы измеряем качество — и что изменится на реальных данных</vt:lpstr>
      <vt:lpstr>Всё в контуре банка: данные, модель и решения</vt:lpstr>
      <vt:lpstr>Риски, которые банк увидит первыми, — и как мы их снимаем</vt:lpstr>
      <vt:lpstr>Расчёт эффекта: формулы, допущения и мировой ориентир</vt:lpstr>
      <vt:lpstr>Murder Board: жёсткие вопросы жюри (1/2)</vt:lpstr>
      <vt:lpstr>Murder Board: жёсткие вопросы жюри (2/2)</vt:lpstr>
      <vt:lpstr>Нормативная база на октябрь 2026 и что она меняет в «Мандате»</vt:lpstr>
      <vt:lpstr>Дорожная карта: от онлайн-питча до решения о пилоте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Ivan Ivanov</cp:lastModifiedBy>
  <cp:revision>1</cp:revision>
  <dcterms:created xsi:type="dcterms:W3CDTF">2026-10-12T18:19:52Z</dcterms:created>
  <dcterms:modified xsi:type="dcterms:W3CDTF">2026-10-12T18:23:37Z</dcterms:modified>
</cp:coreProperties>
</file>