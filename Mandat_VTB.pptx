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Питч · 5 минут" id="{41e23d32-2cca-63e5-00fa-5c5ae68e353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Приложение для вопросов жюри" id="{491995d3-1f64-2e2c-832c-cc773ac3cca3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F3F6F9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F3F6F9"/>
                </a:solidFill>
                <a:latin typeface="+mn-lt"/>
              </a:rPr>
              <a:t>Ожидаемые вердикты 294 проверочных кейсов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Кейсов</c:v>
                </c:pt>
              </c:strCache>
            </c:strRef>
          </c:tx>
          <c:spPr>
            <a:solidFill>
              <a:srgbClr val="8FD3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3F6F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D3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705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8C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FA3D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ПОДТВЕРЖДЕНО</c:v>
                  </c:pt>
                  <c:pt idx="1">
                    <c:v>ОПРОВЕРГНУТО</c:v>
                  </c:pt>
                  <c:pt idx="2">
                    <c:v>НА РАЗБОР</c:v>
                  </c:pt>
                  <c:pt idx="3">
                    <c:v>НЕДОСТ. ДАННЫХ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108</c:v>
                </c:pt>
                <c:pt idx="2">
                  <c:v>126</c:v>
                </c:pt>
                <c:pt idx="3">
                  <c:v>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F3F6F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C9D5E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F3F6F9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F3F6F9"/>
                </a:solidFill>
                <a:latin typeface="+mn-lt"/>
              </a:rPr>
              <a:t>Высвобождение нагрузки, ставок в год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Ставок в год</c:v>
                </c:pt>
              </c:strCache>
            </c:strRef>
          </c:tx>
          <c:spPr>
            <a:solidFill>
              <a:srgbClr val="F28C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3F6F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Консервативный</c:v>
                  </c:pt>
                  <c:pt idx="1">
                    <c:v>Базовый</c:v>
                  </c:pt>
                  <c:pt idx="2">
                    <c:v>Оптимистичный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</c:v>
                </c:pt>
                <c:pt idx="1">
                  <c:v>75</c:v>
                </c:pt>
                <c:pt idx="2">
                  <c:v>167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F3F6F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D5E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F3F6F9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F3F6F9"/>
                </a:solidFill>
                <a:latin typeface="+mn-lt"/>
              </a:rPr>
              <a:t>Предотвращённый ущерб, млн ₽ в год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Млн ₽ в год</c:v>
                </c:pt>
              </c:strCache>
            </c:strRef>
          </c:tx>
          <c:spPr>
            <a:solidFill>
              <a:srgbClr val="8FD3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3F6F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Консервативный</c:v>
                  </c:pt>
                  <c:pt idx="1">
                    <c:v>Базовый</c:v>
                  </c:pt>
                  <c:pt idx="2">
                    <c:v>Оптимистичный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</c:v>
                </c:pt>
                <c:pt idx="1">
                  <c:v>115</c:v>
                </c:pt>
                <c:pt idx="2">
                  <c:v>229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F3F6F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D5E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7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[0:00–0:15] Здравствуйте, мы — команда «Мандат». В задаче трека ВТБ «Финтех без границ» первым направлением для бизнеса названы онбординг и проверка полномочий. Мы сделали движок, который за миллисекунды отвечает, вправе ли человек провести операцию от имени компании на конкретную дату, и показывает доказательство до поля документа.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[0:15–0:40] Почему это важно банку. По данным Банка России, в первом квартале 2026 года у юрлиц было 818 операций без согласия на 573 миллиона рублей — в среднем около 0,7 миллиона на операцию. Средняя операция по всем клиентам — около 15 тысяч. Компании теряют редко, но крупно, а возмещают им лишь 15,9 процента по счетам и 2,4 процента через СБП. При этом ответ на вопрос о полномочиях складывается из трёх документов и меняется со временем.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[0:40–1:05] Как работает захват. Мошенник подаёт заявление о смене директора, через пять рабочих дней в ЕГРЮЛ новый директор, дальше новая доверенность, заявка в банк и платёж. Сверка «на сегодня» не видит, что происходит между обращениями клиента. И есть ловушка: смена директора по закону доверенность не прекращает. Откажете по старой МЧД — потеряете клиента, пропустите свежую смену — откроете дверь захвату. Нужен ответ на дату и с контекстом событий.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[1:05–1:30] Решение — один вопрос и четыре ответа. Подтверждено — с рекомендацией роли. Опровергнуто — с нормой и звеном цепочки. На разбор — человеку с готовым досье. Недостаточно данных — список недостающего. Главное правило: неизвестное никогда не становится «да». Недоступный реестр — это не «действует», а «недостаточно данных».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[1:30–2:05] Так выглядит вердикт. Директор, выдавший доверенность, сменился полгода назад, но доверенность не отменена — по ГК она действует. Когда юрист отметил, что устав операцию не ограничивает, «Мандат» подтверждает и ставит сигнал, а не отказывает; в демо эта отметка синтетическая, без неё тот же кейс уходит на разбор. Каждая строка — с доказательством: ГРН записи ЕГРЮЛ, путь до поля МЧД, норма. Та же компания, но директор сменился 19 дней назад, — на разбор с приоритетом P1 и сроком четыре часа. А если отменили основную доверенность, передоверие теряет силу — опровергнуто.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[2:05–2:40] Вторая половина продукта — постоянный контроль. Демо: за три часа смена директора, новая доверенность и заявка на смену реквизитов. «Мандат» связывает три события в тревогу «возможный захват»: рекомендует приостановить автоматическую выдачу прав и передать кейс в антифрод, а сам переводит удостоверения компании в статус «приостановлено». Если отменили основную доверенность, удостоверения по всей цепочке отзываются, а банк получает рекомендацию приостановить права. Здесь включаем запись демо.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[2:40–3:10] Качество. Главная ошибка, которую нельзя допускать, — ложное «подтверждено». На 288 синтетических кейсах, где подтверждать нельзя, таких ошибок ноль, верхняя граница 95% — 1,3%. Ключевое свойство — передоверие не расширяет полномочия — проверено на 384 цепочках и совпало с независимой реализацией на Cedar. Это синтетика, проверка логики правил. Точность на реальных пакетах измерит пилот.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[3:10–3:35] Про ИИ. Модель только предлагает факт из устава, и только с дословной цитатой. Нет цитаты — нет факта. Вердикт выносят правила со ссылкой на норму, спорное решает человек, а клиент может оспорить автоматический вердикт. Это логика Кодекса этики в сфере ИИ на финансовом рынке; по данным CNews, ВТБ присоединился к нему в августе.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[3:35–4:00] Эффект в двух валютах. Операционный: при 1,8 миллиона корпоративных клиентов ВТБ — от 33 до 167 ставок в год. Риск: от 34 до 229 миллионов рублей предотвращённого ущерба в год. Обе формулы на слайде, все допущения подписаны. Это сценарии, а не обещание: первые две недели пилота заменяют допущения фактами банка.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[4:00–4:20] Почему сейчас. МЧД стали обязательными в сентябре 2024 года, и за неполные два года их стало втрое больше — уже более пяти с половиной миллионов. С февраля действуют новые реквизиты, Банк России обновил признаки операций без согласия клиента, а с сентября 2027 года единая форма МЧД станет универсальной. Банку нужен движок, в котором нормы меняются данными, а не релизом.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[4:20–4:35] Встройка. ВТБ уже продаёт комплект МЧД и КЭП в «ВТБ Бизнес», значит, поток представителей по доверенностям уже есть. «Мандат» встаёт в контур on-prem: ядро, правила, журнал и мониторинг работают сегодня, а реестр, ЕГРЮЛ и проверку подписи подключаем к пилоту через готовые порты.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[4:35–4:50] Наш запрос конкретный: шестинедельный теневой пилот на одной операции — праве подписи платёжных поручений по МЧД. «Мандат» работает рядом с сотрудниками и ни на что не влияет. Стоп-критерий — ноль ложных подтверждений на всех кейсах пилота. От банка — владелец процесса, регламент, обезличенные пакеты и юрист.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[4:50–5:00] Команда: я отвечаю за архитектуру и правила, Елена — за методику измерения и качество, Николай — за исследование и процесс, Алексей — за правовые нормы. Спасибо, готовы к вопросам.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Спасибо. Сейчас для нас важнее всего поговорить с теми, кто в ВТБ отвечает за добавление представителей юрлиц: это сделает гипотезы проверяемыми уже в первом спринте.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DIVIDER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1042416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38328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KonkovDV/Mandat" TargetMode="External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Академия Финтеха 2026 · трек ВТБ «Финтех без границ» · «Онбординг и проверка полномочий»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Мандат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Единое окно полномочий для бизнес-клиентов банка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Отвечает, вправе ли человек провести операцию от имени компании на дату, — за миллисекунды и с доказательством до поля документа</a:t>
            </a:r>
            <a:endParaRPr lang="en-US" sz="1800" dirty="0"/>
          </a:p>
        </p:txBody>
      </p:sp>
      <p:sp>
        <p:nvSpPr>
          <p:cNvPr id="6" name="pill"/>
          <p:cNvSpPr/>
          <p:nvPr/>
        </p:nvSpPr>
        <p:spPr>
          <a:xfrm>
            <a:off x="548640" y="4160520"/>
            <a:ext cx="164592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1605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ПОДТВЕРЖДЕНО</a:t>
            </a:r>
            <a:endParaRPr lang="en-US" sz="1200" dirty="0"/>
          </a:p>
        </p:txBody>
      </p:sp>
      <p:sp>
        <p:nvSpPr>
          <p:cNvPr id="8" name="pill"/>
          <p:cNvSpPr/>
          <p:nvPr/>
        </p:nvSpPr>
        <p:spPr>
          <a:xfrm>
            <a:off x="2331720" y="4160520"/>
            <a:ext cx="1645920" cy="38404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31720" y="41605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ОПРОВЕРГНУТО</a:t>
            </a:r>
            <a:endParaRPr lang="en-US" sz="1200" dirty="0"/>
          </a:p>
        </p:txBody>
      </p:sp>
      <p:sp>
        <p:nvSpPr>
          <p:cNvPr id="10" name="pill"/>
          <p:cNvSpPr/>
          <p:nvPr/>
        </p:nvSpPr>
        <p:spPr>
          <a:xfrm>
            <a:off x="4114800" y="4160520"/>
            <a:ext cx="12344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0" y="41605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НА РАЗБОР</a:t>
            </a:r>
            <a:endParaRPr lang="en-US" sz="1200" dirty="0"/>
          </a:p>
        </p:txBody>
      </p:sp>
      <p:sp>
        <p:nvSpPr>
          <p:cNvPr id="12" name="pill"/>
          <p:cNvSpPr/>
          <p:nvPr/>
        </p:nvSpPr>
        <p:spPr>
          <a:xfrm>
            <a:off x="5486400" y="4160520"/>
            <a:ext cx="214884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0" y="41605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НЕДОСТАТОЧНО ДАННЫХ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Коньков Дмитрий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440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Капитан команды «Мандат»</a:t>
            </a:r>
            <a:endParaRPr lang="en-US" sz="1400" dirty="0"/>
          </a:p>
        </p:txBody>
      </p:sp>
      <p:pic>
        <p:nvPicPr>
          <p:cNvPr id="16" name="graph" descr="Схема: граф полномочий «Мандата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25880"/>
            <a:ext cx="356616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Ошибка в полномочиях стоит дорого: ≈0,7 млн ₽ на одну операцию против компании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Источники: Банк России, обзор операций без согласия клиентов, I кв. 2026 (по expert.ru, 14.05.2026; RTVI, 21.05.2026); fintechacademy.ru — задача трека ВТБ, 10.2026</a:t>
            </a:r>
            <a:endParaRPr lang="en-US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325880"/>
            <a:ext cx="3383280" cy="4800600"/>
          </a:xfrm>
          <a:prstGeom prst="roundRect">
            <a:avLst>
              <a:gd name="adj" fmla="val 2162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7538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7099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Задача трека ВТБ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«Онбординг и проверка полномочий» — первое направление для бизнеса в задаче трека «Финтех без границ».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93192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Ответ на вопрос «вправе ли этот человек подписать за компанию» складывается из трёх источников — МЧД, выписки ЕГРЮЛ и устава — и меняется со временем.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4206240" y="1325880"/>
            <a:ext cx="7434072" cy="3063240"/>
          </a:xfrm>
          <a:prstGeom prst="roundRect">
            <a:avLst>
              <a:gd name="adj" fmla="val 2388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526280" y="15544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Операции без согласия клиента, I квартал 2026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1965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≈0,7 млн ₽</a:t>
            </a:r>
            <a:endParaRPr lang="en-US" sz="54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2103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средняя операция против юрлица: 818 операций на 573 млн ₽</a:t>
            </a:r>
            <a:endParaRPr lang="en-US" sz="1500" dirty="0"/>
          </a:p>
        </p:txBody>
      </p:sp>
      <p:sp>
        <p:nvSpPr>
          <p:cNvPr id="14" name="bar-legal"/>
          <p:cNvSpPr/>
          <p:nvPr/>
        </p:nvSpPr>
        <p:spPr>
          <a:xfrm>
            <a:off x="4526280" y="2971800"/>
            <a:ext cx="6720840" cy="3474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26280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≈15 тыс. ₽</a:t>
            </a:r>
            <a:endParaRPr lang="en-US" sz="2600" dirty="0"/>
          </a:p>
        </p:txBody>
      </p:sp>
      <p:sp>
        <p:nvSpPr>
          <p:cNvPr id="16" name="bar-all"/>
          <p:cNvSpPr/>
          <p:nvPr/>
        </p:nvSpPr>
        <p:spPr>
          <a:xfrm>
            <a:off x="4526280" y="3995928"/>
            <a:ext cx="146304" cy="23774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46320" y="39776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средняя по всем клиентам: 495,8 тыс. операций на 7,4 млрд ₽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206240" y="4572000"/>
            <a:ext cx="3611880" cy="1554480"/>
          </a:xfrm>
          <a:prstGeom prst="roundRect">
            <a:avLst>
              <a:gd name="adj" fmla="val 4706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4480560" y="47274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в десятки раз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4480560" y="52578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дороже средней кражи: компании теряют редко, но крупно</a:t>
            </a:r>
            <a:endParaRPr lang="en-US" sz="1500" dirty="0"/>
          </a:p>
        </p:txBody>
      </p:sp>
      <p:sp>
        <p:nvSpPr>
          <p:cNvPr id="21" name="card"/>
          <p:cNvSpPr/>
          <p:nvPr/>
        </p:nvSpPr>
        <p:spPr>
          <a:xfrm>
            <a:off x="8028432" y="4572000"/>
            <a:ext cx="3611880" cy="1554480"/>
          </a:xfrm>
          <a:prstGeom prst="roundRect">
            <a:avLst>
              <a:gd name="adj" fmla="val 4706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302752" y="47274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15,9% и 2,4%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8302752" y="52578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столько возмещено компаниям по счетам и через СБП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Мошеннику хватает пяти рабочих дней, а сверка «на сегодня» не видит событий между обращениями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Источники: HFLabs, блог «Как банку вычислить фейкового директора»; vtb.ru/r/terms_mchd (условия сервиса МЧД «ВТБ Бизнес»); 129-ФЗ, ст. 8 (срок регистрации); ГК РФ, ст. 188; разъяснения ФНС</a:t>
            </a:r>
            <a:endParaRPr lang="en-US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325880"/>
            <a:ext cx="2057400" cy="1874520"/>
          </a:xfrm>
          <a:prstGeom prst="roundRect">
            <a:avLst>
              <a:gd name="adj" fmla="val 3902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4904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День 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Заявление о смене директора в ФНС, часто с украденной подписью</a:t>
            </a:r>
            <a:endParaRPr lang="en-US" sz="1500" dirty="0"/>
          </a:p>
        </p:txBody>
      </p:sp>
      <p:pic>
        <p:nvPicPr>
          <p:cNvPr id="7" name="arrow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4328" y="2148840"/>
            <a:ext cx="164592" cy="164592"/>
          </a:xfrm>
          <a:prstGeom prst="rect">
            <a:avLst/>
          </a:prstGeom>
        </p:spPr>
      </p:pic>
      <p:sp>
        <p:nvSpPr>
          <p:cNvPr id="8" name="card"/>
          <p:cNvSpPr/>
          <p:nvPr/>
        </p:nvSpPr>
        <p:spPr>
          <a:xfrm>
            <a:off x="2807208" y="1325880"/>
            <a:ext cx="2057400" cy="1874520"/>
          </a:xfrm>
          <a:prstGeom prst="roundRect">
            <a:avLst>
              <a:gd name="adj" fmla="val 3902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990088" y="14904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5 рабочих дней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990088" y="19202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В ЕГРЮЛ — новый директор</a:t>
            </a:r>
            <a:endParaRPr lang="en-US" sz="1500" dirty="0"/>
          </a:p>
        </p:txBody>
      </p:sp>
      <p:pic>
        <p:nvPicPr>
          <p:cNvPr id="11" name="arrow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148840"/>
            <a:ext cx="164592" cy="164592"/>
          </a:xfrm>
          <a:prstGeom prst="rect">
            <a:avLst/>
          </a:prstGeom>
        </p:spPr>
      </p:pic>
      <p:sp>
        <p:nvSpPr>
          <p:cNvPr id="12" name="card"/>
          <p:cNvSpPr/>
          <p:nvPr/>
        </p:nvSpPr>
        <p:spPr>
          <a:xfrm>
            <a:off x="5065776" y="1325880"/>
            <a:ext cx="2057400" cy="1874520"/>
          </a:xfrm>
          <a:prstGeom prst="roundRect">
            <a:avLst>
              <a:gd name="adj" fmla="val 3902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5248656" y="14904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Затем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248656" y="19202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Новая МЧД на «своего» представителя</a:t>
            </a:r>
            <a:endParaRPr lang="en-US" sz="1500" dirty="0"/>
          </a:p>
        </p:txBody>
      </p:sp>
      <p:pic>
        <p:nvPicPr>
          <p:cNvPr id="15" name="arrow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464" y="2148840"/>
            <a:ext cx="164592" cy="164592"/>
          </a:xfrm>
          <a:prstGeom prst="rect">
            <a:avLst/>
          </a:prstGeom>
        </p:spPr>
      </p:pic>
      <p:sp>
        <p:nvSpPr>
          <p:cNvPr id="16" name="card"/>
          <p:cNvSpPr/>
          <p:nvPr/>
        </p:nvSpPr>
        <p:spPr>
          <a:xfrm>
            <a:off x="7324344" y="1325880"/>
            <a:ext cx="2057400" cy="1874520"/>
          </a:xfrm>
          <a:prstGeom prst="roundRect">
            <a:avLst>
              <a:gd name="adj" fmla="val 3902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7507224" y="14904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Затем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507224" y="19202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Заявка в банк: доступ к счёту, смена реквизитов</a:t>
            </a:r>
            <a:endParaRPr lang="en-US" sz="1500" dirty="0"/>
          </a:p>
        </p:txBody>
      </p:sp>
      <p:pic>
        <p:nvPicPr>
          <p:cNvPr id="19" name="arrow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2148840"/>
            <a:ext cx="164592" cy="164592"/>
          </a:xfrm>
          <a:prstGeom prst="rect">
            <a:avLst/>
          </a:prstGeom>
        </p:spPr>
      </p:pic>
      <p:sp>
        <p:nvSpPr>
          <p:cNvPr id="20" name="card"/>
          <p:cNvSpPr/>
          <p:nvPr/>
        </p:nvSpPr>
        <p:spPr>
          <a:xfrm>
            <a:off x="9582912" y="1325880"/>
            <a:ext cx="2057400" cy="1874520"/>
          </a:xfrm>
          <a:prstGeom prst="roundRect">
            <a:avLst>
              <a:gd name="adj" fmla="val 390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9765792" y="14904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Финал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765792" y="19202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Платёж, который редко удаётся вернуть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548640" y="3474720"/>
            <a:ext cx="5440680" cy="2651760"/>
          </a:xfrm>
          <a:prstGeom prst="roundRect">
            <a:avLst>
              <a:gd name="adj" fmla="val 2759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24" name="icon-circle"/>
          <p:cNvSpPr/>
          <p:nvPr/>
        </p:nvSpPr>
        <p:spPr>
          <a:xfrm>
            <a:off x="822960" y="3703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34" y="383499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08760" y="37764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Где ломается ручная сверка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822960" y="44348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Сверка МЧД, выписки ЕГРЮЛ и устава отвечает на вопрос «на сегодня»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В сервисе МЧД «ВТБ Бизнес» представителя, которого нет среди абонентов, добавляют в офисе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Между обращениями клиента смену директора и отмену МЧД нужно отслеживать отдельно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6199632" y="3474720"/>
            <a:ext cx="5440680" cy="2651760"/>
          </a:xfrm>
          <a:prstGeom prst="roundRect">
            <a:avLst>
              <a:gd name="adj" fmla="val 2759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29" name="icon-circle"/>
          <p:cNvSpPr/>
          <p:nvPr/>
        </p:nvSpPr>
        <p:spPr>
          <a:xfrm>
            <a:off x="6473952" y="3703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5626" y="383499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159752" y="37764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Ловушка в обе стороны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6473952" y="4434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Смена директора не прекращает МЧД (п. 1 ст. 188 ГК РФ, позиция ФНС).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6473952" y="5120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Откажете по старой МЧД — потеряете клиента и день его работы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Пропустите свежую смену директора — откроете дверь захвату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Один вопрос — четыре ответа, и неизвестное никогда не становится «да»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«Мандат» проверяет полномочия, а не личность: идентификацию проводят существующие каналы банка (КЭП, ЕБС, офис)</a:t>
            </a:r>
            <a:endParaRPr lang="en-US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32588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Вправе ли </a:t>
            </a:r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X</a:t>
            </a:r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 совершить операцию </a:t>
            </a:r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O</a:t>
            </a:r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 от имени компании </a:t>
            </a:r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Y</a:t>
            </a:r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 на дату </a:t>
            </a:r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t</a:t>
            </a:r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?</a:t>
            </a:r>
            <a:endParaRPr lang="en-US" sz="2400" dirty="0"/>
          </a:p>
        </p:txBody>
      </p:sp>
      <p:sp>
        <p:nvSpPr>
          <p:cNvPr id="6" name="card"/>
          <p:cNvSpPr/>
          <p:nvPr/>
        </p:nvSpPr>
        <p:spPr>
          <a:xfrm>
            <a:off x="548640" y="233172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7" name="pill"/>
          <p:cNvSpPr/>
          <p:nvPr/>
        </p:nvSpPr>
        <p:spPr>
          <a:xfrm>
            <a:off x="731520" y="2560320"/>
            <a:ext cx="224028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5603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ПОДТВЕРЖДЕНО</a:t>
            </a:r>
            <a:endParaRPr lang="en-US" sz="1200" dirty="0"/>
          </a:p>
        </p:txBody>
      </p:sp>
      <p:sp>
        <p:nvSpPr>
          <p:cNvPr id="9" name="icon-circle"/>
          <p:cNvSpPr/>
          <p:nvPr/>
        </p:nvSpPr>
        <p:spPr>
          <a:xfrm>
            <a:off x="731520" y="31546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3275381"/>
            <a:ext cx="261518" cy="26151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71600" y="3154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Все обязательные проверки пройдены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8404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Рекомендация роли в интернет-банке и подписанное удостоверение результата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3377184" y="233172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4" name="pill"/>
          <p:cNvSpPr/>
          <p:nvPr/>
        </p:nvSpPr>
        <p:spPr>
          <a:xfrm>
            <a:off x="3560064" y="2560320"/>
            <a:ext cx="2240280" cy="38404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60064" y="25603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ОПРОВЕРГНУТО</a:t>
            </a:r>
            <a:endParaRPr lang="en-US" sz="1200" dirty="0"/>
          </a:p>
        </p:txBody>
      </p:sp>
      <p:sp>
        <p:nvSpPr>
          <p:cNvPr id="16" name="icon-circle"/>
          <p:cNvSpPr/>
          <p:nvPr/>
        </p:nvSpPr>
        <p:spPr>
          <a:xfrm>
            <a:off x="3560064" y="315468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7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765" y="3275381"/>
            <a:ext cx="261518" cy="26151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200144" y="3154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Найдено нарушение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3560064" y="38404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Звено цепочки, норма закона и что запросить у клиента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6205728" y="233172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21" name="pill"/>
          <p:cNvSpPr/>
          <p:nvPr/>
        </p:nvSpPr>
        <p:spPr>
          <a:xfrm>
            <a:off x="6388608" y="2560320"/>
            <a:ext cx="22402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388608" y="25603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НА РАЗБОР</a:t>
            </a:r>
            <a:endParaRPr lang="en-US" sz="1200" dirty="0"/>
          </a:p>
        </p:txBody>
      </p:sp>
      <p:sp>
        <p:nvSpPr>
          <p:cNvPr id="23" name="icon-circle"/>
          <p:cNvSpPr/>
          <p:nvPr/>
        </p:nvSpPr>
        <p:spPr>
          <a:xfrm>
            <a:off x="6388608" y="3154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309" y="3275381"/>
            <a:ext cx="261518" cy="26151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028688" y="3154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Спорная ситуация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6388608" y="38404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Сотруднику — готовое досье, приоритет и срок разбора</a:t>
            </a:r>
            <a:endParaRPr lang="en-US" sz="1400" dirty="0"/>
          </a:p>
        </p:txBody>
      </p:sp>
      <p:sp>
        <p:nvSpPr>
          <p:cNvPr id="27" name="card"/>
          <p:cNvSpPr/>
          <p:nvPr/>
        </p:nvSpPr>
        <p:spPr>
          <a:xfrm>
            <a:off x="9034272" y="233172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28" name="pill"/>
          <p:cNvSpPr/>
          <p:nvPr/>
        </p:nvSpPr>
        <p:spPr>
          <a:xfrm>
            <a:off x="9217152" y="2560320"/>
            <a:ext cx="224028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9217152" y="25603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НЕДОСТАТОЧНО ДАННЫХ</a:t>
            </a:r>
            <a:endParaRPr lang="en-US" sz="1200" dirty="0"/>
          </a:p>
        </p:txBody>
      </p:sp>
      <p:sp>
        <p:nvSpPr>
          <p:cNvPr id="30" name="icon-circle"/>
          <p:cNvSpPr/>
          <p:nvPr/>
        </p:nvSpPr>
        <p:spPr>
          <a:xfrm>
            <a:off x="9217152" y="31546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7853" y="3275381"/>
            <a:ext cx="261518" cy="261518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857232" y="3154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Реестр не ответил или нет документа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9217152" y="38404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Список недостающего вместо «да»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548640" y="5166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01 · Принять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548640" y="55504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МЧД XML, ЕГРЮЛ, устав, бумажная доверенность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3377184" y="5166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02 · Проверить</a:t>
            </a:r>
            <a:endParaRPr lang="en-US" sz="1500" dirty="0"/>
          </a:p>
        </p:txBody>
      </p:sp>
      <p:sp>
        <p:nvSpPr>
          <p:cNvPr id="37" name="Text 31"/>
          <p:cNvSpPr txBox="1"/>
          <p:nvPr/>
        </p:nvSpPr>
        <p:spPr>
          <a:xfrm>
            <a:off x="3377184" y="55504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граф полномочий на дату, 36 правил с нормой</a:t>
            </a:r>
            <a:endParaRPr lang="en-US" sz="1400" dirty="0"/>
          </a:p>
        </p:txBody>
      </p:sp>
      <p:sp>
        <p:nvSpPr>
          <p:cNvPr id="38" name="Text 32"/>
          <p:cNvSpPr txBox="1"/>
          <p:nvPr/>
        </p:nvSpPr>
        <p:spPr>
          <a:xfrm>
            <a:off x="6205728" y="5166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03 · Решить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6205728" y="55504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вердикт, доказательства, следующий шаг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9034272" y="5166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04 · Следить</a:t>
            </a:r>
            <a:endParaRPr lang="en-US" sz="1500" dirty="0"/>
          </a:p>
        </p:txBody>
      </p:sp>
      <p:sp>
        <p:nvSpPr>
          <p:cNvPr id="41" name="Text 35"/>
          <p:cNvSpPr txBox="1"/>
          <p:nvPr/>
        </p:nvSpPr>
        <p:spPr>
          <a:xfrm>
            <a:off x="9034272" y="55504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события ЕГРЮЛ и реестра МЧД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Каждый вердикт доказан: поле МЧД, запись ЕГРЮЛ, норма закона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Демо-кейсы 14, 05 и 11 из репозитория «Мандата»; данные вымышлены, отметка юриста об уставе в кейсе 14 синтетическая. Реестр МЧД и проверка КЭП в стенде — заглушки, это видно в каждом отчёте</a:t>
            </a:r>
            <a:endParaRPr lang="en-US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325880"/>
            <a:ext cx="6812280" cy="4846320"/>
          </a:xfrm>
          <a:prstGeom prst="roundRect">
            <a:avLst>
              <a:gd name="adj" fmla="val 1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Кейс 14 · синтетическая отметка об уставе</a:t>
            </a:r>
            <a:endParaRPr lang="en-US" sz="1300" dirty="0"/>
          </a:p>
        </p:txBody>
      </p:sp>
      <p:sp>
        <p:nvSpPr>
          <p:cNvPr id="6" name="pill"/>
          <p:cNvSpPr/>
          <p:nvPr/>
        </p:nvSpPr>
        <p:spPr>
          <a:xfrm>
            <a:off x="5303520" y="150876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0" y="15087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ПОДТВЕРЖДЕНО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984248"/>
            <a:ext cx="6172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Подписание платёжного поручения на 480 000 ₽ · 20.10.2026 · представитель Лебедева И. П. по МЧД от директора Петрова П. П.</a:t>
            </a:r>
            <a:endParaRPr lang="en-US" sz="1500" dirty="0"/>
          </a:p>
        </p:txBody>
      </p:sp>
      <p:sp>
        <p:nvSpPr>
          <p:cNvPr id="9" name="check"/>
          <p:cNvSpPr/>
          <p:nvPr/>
        </p:nvSpPr>
        <p:spPr>
          <a:xfrm>
            <a:off x="868680" y="2788920"/>
            <a:ext cx="384048" cy="38404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0" name="check-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88036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17320" y="27432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МЧД подписал директор по ЕГРЮЛ на дату выдачи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276148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ЕГРЮЛ · ГРН 2247700123456</a:t>
            </a:r>
            <a:endParaRPr lang="en-US" sz="1200" dirty="0"/>
          </a:p>
        </p:txBody>
      </p:sp>
      <p:sp>
        <p:nvSpPr>
          <p:cNvPr id="13" name="check"/>
          <p:cNvSpPr/>
          <p:nvPr/>
        </p:nvSpPr>
        <p:spPr>
          <a:xfrm>
            <a:off x="868680" y="3611880"/>
            <a:ext cx="384048" cy="38404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4" name="check-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70332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17320" y="35661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МЧД действует в реестре, дата операции в сроке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5303520" y="358444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XPath …/СвДов/@СрокДейст</a:t>
            </a:r>
            <a:endParaRPr lang="en-US" sz="1200" dirty="0"/>
          </a:p>
        </p:txBody>
      </p:sp>
      <p:sp>
        <p:nvSpPr>
          <p:cNvPr id="17" name="check"/>
          <p:cNvSpPr/>
          <p:nvPr/>
        </p:nvSpPr>
        <p:spPr>
          <a:xfrm>
            <a:off x="868680" y="4434840"/>
            <a:ext cx="384048" cy="38404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8" name="check-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526280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17320" y="43891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Полномочие покрывает подписание платёжных поручений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303520" y="440740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XPath …/СвПолн/МашПолн[1]</a:t>
            </a:r>
            <a:endParaRPr lang="en-US" sz="1200" dirty="0"/>
          </a:p>
        </p:txBody>
      </p:sp>
      <p:sp>
        <p:nvSpPr>
          <p:cNvPr id="21" name="check"/>
          <p:cNvSpPr/>
          <p:nvPr/>
        </p:nvSpPr>
        <p:spPr>
          <a:xfrm>
            <a:off x="868680" y="5257800"/>
            <a:ext cx="384048" cy="384048"/>
          </a:xfrm>
          <a:prstGeom prst="ellipse">
            <a:avLst/>
          </a:prstGeom>
          <a:solidFill>
            <a:srgbClr val="B04A0C"/>
          </a:solidFill>
          <a:ln w="12700">
            <a:solidFill>
              <a:srgbClr val="B04A0C"/>
            </a:solidFill>
            <a:prstDash val="solid"/>
          </a:ln>
        </p:spPr>
      </p:sp>
      <p:pic>
        <p:nvPicPr>
          <p:cNvPr id="22" name="check-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349240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17320" y="52120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Директор сменился 01.05.2026 — сигнал, а не отказ: МЧД не отменена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303520" y="523036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п. 1 ст. 188 ГК РФ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7635240" y="1325880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Та же компания — другие факты</a:t>
            </a:r>
            <a:endParaRPr lang="en-US" sz="1700" dirty="0"/>
          </a:p>
        </p:txBody>
      </p:sp>
      <p:sp>
        <p:nvSpPr>
          <p:cNvPr id="26" name="card"/>
          <p:cNvSpPr/>
          <p:nvPr/>
        </p:nvSpPr>
        <p:spPr>
          <a:xfrm>
            <a:off x="7635240" y="1783080"/>
            <a:ext cx="4005072" cy="2057400"/>
          </a:xfrm>
          <a:prstGeom prst="roundRect">
            <a:avLst>
              <a:gd name="adj" fmla="val 3556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27" name="Text 21"/>
          <p:cNvSpPr txBox="1"/>
          <p:nvPr/>
        </p:nvSpPr>
        <p:spPr>
          <a:xfrm>
            <a:off x="7909560" y="196596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Директор сменился 19 дней назад</a:t>
            </a:r>
            <a:endParaRPr lang="en-US" sz="1600" dirty="0"/>
          </a:p>
        </p:txBody>
      </p:sp>
      <p:sp>
        <p:nvSpPr>
          <p:cNvPr id="28" name="pill"/>
          <p:cNvSpPr/>
          <p:nvPr/>
        </p:nvSpPr>
        <p:spPr>
          <a:xfrm>
            <a:off x="7909560" y="2441448"/>
            <a:ext cx="23774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909560" y="2441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НА РАЗБОР · P1 · 4 ч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7909560" y="2926080"/>
            <a:ext cx="3456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Свежая смена — первый шаг возможного захвата: уточнить у нового директора, при признаках — в антифрод</a:t>
            </a:r>
            <a:endParaRPr lang="en-US" sz="1400" dirty="0"/>
          </a:p>
        </p:txBody>
      </p:sp>
      <p:sp>
        <p:nvSpPr>
          <p:cNvPr id="31" name="card"/>
          <p:cNvSpPr/>
          <p:nvPr/>
        </p:nvSpPr>
        <p:spPr>
          <a:xfrm>
            <a:off x="7635240" y="4069080"/>
            <a:ext cx="4005072" cy="2103120"/>
          </a:xfrm>
          <a:prstGeom prst="roundRect">
            <a:avLst>
              <a:gd name="adj" fmla="val 3478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32" name="Text 26"/>
          <p:cNvSpPr txBox="1"/>
          <p:nvPr/>
        </p:nvSpPr>
        <p:spPr>
          <a:xfrm>
            <a:off x="7909560" y="4251960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Основную МЧД отменили, осталось передоверие</a:t>
            </a:r>
            <a:endParaRPr lang="en-US" sz="1600" dirty="0"/>
          </a:p>
        </p:txBody>
      </p:sp>
      <p:sp>
        <p:nvSpPr>
          <p:cNvPr id="33" name="pill"/>
          <p:cNvSpPr/>
          <p:nvPr/>
        </p:nvSpPr>
        <p:spPr>
          <a:xfrm>
            <a:off x="7909560" y="4937760"/>
            <a:ext cx="182880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7909560" y="4937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ОПРОВЕРГНУТО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7909560" y="5422392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С прекращением доверенности теряет силу передоверие — п. 3 ст. 188 ГК РФ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После выдачи прав «Мандат» продолжает следить: признаки захвата видны до платежа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Сценарии examples/events/takeover.json и poa_revoked.json; команды mandat monitor и mandat attest-verify; статусы — по W3C Bitstring Status List v1.0</a:t>
            </a:r>
            <a:endParaRPr lang="en-US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325880"/>
            <a:ext cx="6035040" cy="4846320"/>
          </a:xfrm>
          <a:prstGeom prst="roundRect">
            <a:avLst>
              <a:gd name="adj" fmla="val 1509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Демо: признаки захвата за 3 часа</a:t>
            </a:r>
            <a:endParaRPr lang="en-US" sz="1800" dirty="0"/>
          </a:p>
        </p:txBody>
      </p:sp>
      <p:sp>
        <p:nvSpPr>
          <p:cNvPr id="6" name="pill"/>
          <p:cNvSpPr/>
          <p:nvPr/>
        </p:nvSpPr>
        <p:spPr>
          <a:xfrm>
            <a:off x="868680" y="2148840"/>
            <a:ext cx="86868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1488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09:10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1488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в ЕГРЮЛ новый директор</a:t>
            </a:r>
            <a:endParaRPr lang="en-US" sz="1500" dirty="0"/>
          </a:p>
        </p:txBody>
      </p:sp>
      <p:sp>
        <p:nvSpPr>
          <p:cNvPr id="9" name="pill"/>
          <p:cNvSpPr/>
          <p:nvPr/>
        </p:nvSpPr>
        <p:spPr>
          <a:xfrm>
            <a:off x="868680" y="2715768"/>
            <a:ext cx="86868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71576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11:40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27157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новая МЧД на нового представителя</a:t>
            </a:r>
            <a:endParaRPr lang="en-US" sz="1500" dirty="0"/>
          </a:p>
        </p:txBody>
      </p:sp>
      <p:sp>
        <p:nvSpPr>
          <p:cNvPr id="12" name="pill"/>
          <p:cNvSpPr/>
          <p:nvPr/>
        </p:nvSpPr>
        <p:spPr>
          <a:xfrm>
            <a:off x="868680" y="3282696"/>
            <a:ext cx="86868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28269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12:05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328269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заявка на смену реквизитов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868680" y="393192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3A1F17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4069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Тревога «возможный захват» · высокий риск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52628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банку — рекомендация приостановить автоматическую выдачу прав по компании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рекомендация передать кейс в антифрод и уведомить прежних подписантов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удостоверения компании — в статус «приостановлено»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6812280" y="1325880"/>
            <a:ext cx="4828032" cy="2286000"/>
          </a:xfrm>
          <a:prstGeom prst="roundRect">
            <a:avLst>
              <a:gd name="adj" fmla="val 3200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9" name="icon-circle"/>
          <p:cNvSpPr/>
          <p:nvPr/>
        </p:nvSpPr>
        <p:spPr>
          <a:xfrm>
            <a:off x="708660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8274" y="1731874"/>
            <a:ext cx="285293" cy="285293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772400" y="1673352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Отменили основную МЧД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7086600" y="2331720"/>
            <a:ext cx="4279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Удостоверения по всей цепочке передоверия — в статус «отозвано», банку — рекомендация приостановить права по этой цепочке. Каскад по п. 3 ст. 188 ГК РФ.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6812280" y="3886200"/>
            <a:ext cx="4828032" cy="2286000"/>
          </a:xfrm>
          <a:prstGeom prst="roundRect">
            <a:avLst>
              <a:gd name="adj" fmla="val 3200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24" name="icon-circle"/>
          <p:cNvSpPr/>
          <p:nvPr/>
        </p:nvSpPr>
        <p:spPr>
          <a:xfrm>
            <a:off x="7086600" y="4160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274" y="4292194"/>
            <a:ext cx="285293" cy="285293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772400" y="4233672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Проверка без доступа к базе</a:t>
            </a:r>
            <a:endParaRPr lang="en-US" sz="1700" dirty="0"/>
          </a:p>
        </p:txBody>
      </p:sp>
      <p:sp>
        <p:nvSpPr>
          <p:cNvPr id="27" name="Text 23"/>
          <p:cNvSpPr txBox="1"/>
          <p:nvPr/>
        </p:nvSpPr>
        <p:spPr>
          <a:xfrm>
            <a:off x="7086600" y="4892040"/>
            <a:ext cx="4279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Интернет-банк и антифрод проверяют подпись и статус удостоверения сами. Права в ДБО «Мандат» не отзывает: политику задаёт банк.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Ноль ложных «подтверждено» на 288 кейсах, где подтверждать нельзя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Воспроизводится: mandat eval --per-defect 6; python -m pytest tests/test_properties.py tests/test_cedar.py; python scripts/bench.py → evidence.json (13.10.2026, v0.3.0)</a:t>
            </a:r>
            <a:endParaRPr lang="en-US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325880"/>
            <a:ext cx="5120640" cy="868680"/>
          </a:xfrm>
          <a:prstGeom prst="roundRect">
            <a:avLst>
              <a:gd name="adj" fmla="val 8421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3258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 из 288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3258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ложных «подтверждено»; верхняя граница 95% — 1,3%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548640" y="2331720"/>
            <a:ext cx="5120640" cy="868680"/>
          </a:xfrm>
          <a:prstGeom prst="roundRect">
            <a:avLst>
              <a:gd name="adj" fmla="val 8421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3317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294 / 294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3317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совпадение с ожидаемым вердиктом, 49 видов ситуаций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48640" y="3337560"/>
            <a:ext cx="5120640" cy="868680"/>
          </a:xfrm>
          <a:prstGeom prst="roundRect">
            <a:avLst>
              <a:gd name="adj" fmla="val 8421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33375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384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33375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цепочки передоверия: решения совпали с независимой проверкой на Cedar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48640" y="4343400"/>
            <a:ext cx="5120640" cy="868680"/>
          </a:xfrm>
          <a:prstGeom prst="roundRect">
            <a:avLst>
              <a:gd name="adj" fmla="val 8421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43434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≈2 мс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43434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медиана на кейс вместе с разбором документов, без сети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5897880" y="1325880"/>
            <a:ext cx="5742432" cy="3931920"/>
          </a:xfrm>
          <a:prstGeom prst="roundRect">
            <a:avLst>
              <a:gd name="adj" fmla="val 1860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graphicFrame>
        <p:nvGraphicFramePr>
          <p:cNvPr id="17" name="Chart 0" descr=""/>
          <p:cNvGraphicFramePr/>
          <p:nvPr/>
        </p:nvGraphicFramePr>
        <p:xfrm>
          <a:off x="6080760" y="1417320"/>
          <a:ext cx="5376672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card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822960" y="544068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Это синтетический корпус: проверка логики правил, а не точность на документах банка. 61% кейсов уходят человеку — так задумано. Реальная доля ошибок — главный стоп-критерий пилота.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ИИ советует, но не решает: вердикт выносят правила, спорное — человек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Источники: Кодекс этики в сфере ИИ на финансовом рынке (Банк России, 2025); CNews, 21.08.2026 — ВТБ присоединился к Кодексу; архитектурное решение ADR-001 «Мандата»</a:t>
            </a:r>
            <a:endParaRPr lang="en-US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325880"/>
            <a:ext cx="2057400" cy="2103120"/>
          </a:xfrm>
          <a:prstGeom prst="roundRect">
            <a:avLst>
              <a:gd name="adj" fmla="val 3556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731520" y="15270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1658722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19456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Документ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7432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устав, текстовое полномочие</a:t>
            </a:r>
            <a:endParaRPr lang="en-US" sz="1300" dirty="0"/>
          </a:p>
        </p:txBody>
      </p:sp>
      <p:pic>
        <p:nvPicPr>
          <p:cNvPr id="9" name="arrow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2286000"/>
            <a:ext cx="164592" cy="164592"/>
          </a:xfrm>
          <a:prstGeom prst="rect">
            <a:avLst/>
          </a:prstGeom>
        </p:spPr>
      </p:pic>
      <p:sp>
        <p:nvSpPr>
          <p:cNvPr id="10" name="card"/>
          <p:cNvSpPr/>
          <p:nvPr/>
        </p:nvSpPr>
        <p:spPr>
          <a:xfrm>
            <a:off x="2807208" y="1325880"/>
            <a:ext cx="2057400" cy="2103120"/>
          </a:xfrm>
          <a:prstGeom prst="roundRect">
            <a:avLst>
              <a:gd name="adj" fmla="val 3556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1" name="icon-circle"/>
          <p:cNvSpPr/>
          <p:nvPr/>
        </p:nvSpPr>
        <p:spPr>
          <a:xfrm>
            <a:off x="2990088" y="1527048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762" y="1658722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990088" y="219456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Модель в контуре банка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2990088" y="27432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предлагает факт с дословной цитатой</a:t>
            </a:r>
            <a:endParaRPr lang="en-US" sz="1300" dirty="0"/>
          </a:p>
        </p:txBody>
      </p:sp>
      <p:pic>
        <p:nvPicPr>
          <p:cNvPr id="15" name="arrow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2286000"/>
            <a:ext cx="164592" cy="164592"/>
          </a:xfrm>
          <a:prstGeom prst="rect">
            <a:avLst/>
          </a:prstGeom>
        </p:spPr>
      </p:pic>
      <p:sp>
        <p:nvSpPr>
          <p:cNvPr id="16" name="card"/>
          <p:cNvSpPr/>
          <p:nvPr/>
        </p:nvSpPr>
        <p:spPr>
          <a:xfrm>
            <a:off x="5065776" y="1325880"/>
            <a:ext cx="2057400" cy="2103120"/>
          </a:xfrm>
          <a:prstGeom prst="roundRect">
            <a:avLst>
              <a:gd name="adj" fmla="val 3556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7" name="icon-circle"/>
          <p:cNvSpPr/>
          <p:nvPr/>
        </p:nvSpPr>
        <p:spPr>
          <a:xfrm>
            <a:off x="5248656" y="15270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0330" y="1658722"/>
            <a:ext cx="285293" cy="285293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248656" y="219456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Шлюз цитат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5248656" y="27432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нет цитаты в документе — нет факта</a:t>
            </a:r>
            <a:endParaRPr lang="en-US" sz="1300" dirty="0"/>
          </a:p>
        </p:txBody>
      </p:sp>
      <p:pic>
        <p:nvPicPr>
          <p:cNvPr id="21" name="arrow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1464" y="2286000"/>
            <a:ext cx="164592" cy="164592"/>
          </a:xfrm>
          <a:prstGeom prst="rect">
            <a:avLst/>
          </a:prstGeom>
        </p:spPr>
      </p:pic>
      <p:sp>
        <p:nvSpPr>
          <p:cNvPr id="22" name="card"/>
          <p:cNvSpPr/>
          <p:nvPr/>
        </p:nvSpPr>
        <p:spPr>
          <a:xfrm>
            <a:off x="7324344" y="1325880"/>
            <a:ext cx="2057400" cy="2103120"/>
          </a:xfrm>
          <a:prstGeom prst="roundRect">
            <a:avLst>
              <a:gd name="adj" fmla="val 35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23" name="icon-circle"/>
          <p:cNvSpPr/>
          <p:nvPr/>
        </p:nvSpPr>
        <p:spPr>
          <a:xfrm>
            <a:off x="7507224" y="15270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8898" y="1658722"/>
            <a:ext cx="285293" cy="285293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507224" y="219456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36 правил с нормой</a:t>
            </a:r>
            <a:endParaRPr lang="en-US" sz="1500" dirty="0"/>
          </a:p>
        </p:txBody>
      </p:sp>
      <p:sp>
        <p:nvSpPr>
          <p:cNvPr id="26" name="Text 17"/>
          <p:cNvSpPr txBox="1"/>
          <p:nvPr/>
        </p:nvSpPr>
        <p:spPr>
          <a:xfrm>
            <a:off x="7507224" y="27432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выносят вердикт</a:t>
            </a:r>
            <a:endParaRPr lang="en-US" sz="1300" dirty="0"/>
          </a:p>
        </p:txBody>
      </p:sp>
      <p:pic>
        <p:nvPicPr>
          <p:cNvPr id="27" name="arrow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0032" y="2286000"/>
            <a:ext cx="164592" cy="164592"/>
          </a:xfrm>
          <a:prstGeom prst="rect">
            <a:avLst/>
          </a:prstGeom>
        </p:spPr>
      </p:pic>
      <p:sp>
        <p:nvSpPr>
          <p:cNvPr id="28" name="card"/>
          <p:cNvSpPr/>
          <p:nvPr/>
        </p:nvSpPr>
        <p:spPr>
          <a:xfrm>
            <a:off x="9582912" y="1325880"/>
            <a:ext cx="2057400" cy="2103120"/>
          </a:xfrm>
          <a:prstGeom prst="roundRect">
            <a:avLst>
              <a:gd name="adj" fmla="val 3556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29" name="icon-circle"/>
          <p:cNvSpPr/>
          <p:nvPr/>
        </p:nvSpPr>
        <p:spPr>
          <a:xfrm>
            <a:off x="9765792" y="15270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97466" y="1658722"/>
            <a:ext cx="285293" cy="285293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9765792" y="219456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Человек</a:t>
            </a:r>
            <a:endParaRPr lang="en-US" sz="1500" dirty="0"/>
          </a:p>
        </p:txBody>
      </p:sp>
      <p:sp>
        <p:nvSpPr>
          <p:cNvPr id="32" name="Text 21"/>
          <p:cNvSpPr txBox="1"/>
          <p:nvPr/>
        </p:nvSpPr>
        <p:spPr>
          <a:xfrm>
            <a:off x="9765792" y="27432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разбирает спорное; клиент может оспорить</a:t>
            </a:r>
            <a:endParaRPr lang="en-US" sz="1300" dirty="0"/>
          </a:p>
        </p:txBody>
      </p:sp>
      <p:sp>
        <p:nvSpPr>
          <p:cNvPr id="33" name="card"/>
          <p:cNvSpPr/>
          <p:nvPr/>
        </p:nvSpPr>
        <p:spPr>
          <a:xfrm>
            <a:off x="548640" y="3703320"/>
            <a:ext cx="11091672" cy="2468880"/>
          </a:xfrm>
          <a:prstGeom prst="roundRect">
            <a:avLst>
              <a:gd name="adj" fmla="val 2963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34" name="Text 23"/>
          <p:cNvSpPr txBox="1"/>
          <p:nvPr/>
        </p:nvSpPr>
        <p:spPr>
          <a:xfrm>
            <a:off x="868680" y="3886200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«Мандат» спроектирован в логике Кодекса этики в сфере ИИ на финансовом рынке; по данным CNews, ВТБ присоединился к нему 21.08.2026</a:t>
            </a:r>
            <a:endParaRPr lang="en-US" sz="1700" dirty="0"/>
          </a:p>
        </p:txBody>
      </p:sp>
      <p:sp>
        <p:nvSpPr>
          <p:cNvPr id="35" name="Text 24"/>
          <p:cNvSpPr txBox="1"/>
          <p:nvPr/>
        </p:nvSpPr>
        <p:spPr>
          <a:xfrm>
            <a:off x="868680" y="4709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Прозрачность</a:t>
            </a:r>
            <a:endParaRPr lang="en-US" sz="1600" dirty="0"/>
          </a:p>
        </p:txBody>
      </p:sp>
      <p:sp>
        <p:nvSpPr>
          <p:cNvPr id="36" name="Text 25"/>
          <p:cNvSpPr txBox="1"/>
          <p:nvPr/>
        </p:nvSpPr>
        <p:spPr>
          <a:xfrm>
            <a:off x="868680" y="509320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у каждого вывода — норма и ссылка на поле документа; отчёт сам пишет, что в стенде заглушка</a:t>
            </a:r>
            <a:endParaRPr lang="en-US" sz="1400" dirty="0"/>
          </a:p>
        </p:txBody>
      </p:sp>
      <p:sp>
        <p:nvSpPr>
          <p:cNvPr id="37" name="Text 26"/>
          <p:cNvSpPr txBox="1"/>
          <p:nvPr/>
        </p:nvSpPr>
        <p:spPr>
          <a:xfrm>
            <a:off x="4434840" y="4709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Человекоцентричность</a:t>
            </a:r>
            <a:endParaRPr lang="en-US" sz="1600" dirty="0"/>
          </a:p>
        </p:txBody>
      </p:sp>
      <p:sp>
        <p:nvSpPr>
          <p:cNvPr id="38" name="Text 27"/>
          <p:cNvSpPr txBox="1"/>
          <p:nvPr/>
        </p:nvSpPr>
        <p:spPr>
          <a:xfrm>
            <a:off x="4434840" y="509320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спорное решает сотрудник, автоматический вердикт клиент может оспорить у человека</a:t>
            </a:r>
            <a:endParaRPr lang="en-US" sz="1400" dirty="0"/>
          </a:p>
        </p:txBody>
      </p:sp>
      <p:sp>
        <p:nvSpPr>
          <p:cNvPr id="39" name="Text 28"/>
          <p:cNvSpPr txBox="1"/>
          <p:nvPr/>
        </p:nvSpPr>
        <p:spPr>
          <a:xfrm>
            <a:off x="8001000" y="4709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Безопасность</a:t>
            </a:r>
            <a:endParaRPr lang="en-US" sz="1600" dirty="0"/>
          </a:p>
        </p:txBody>
      </p:sp>
      <p:sp>
        <p:nvSpPr>
          <p:cNvPr id="40" name="Text 29"/>
          <p:cNvSpPr txBox="1"/>
          <p:nvPr/>
        </p:nvSpPr>
        <p:spPr>
          <a:xfrm>
            <a:off x="8001000" y="509320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модель on-prem, ПДн псевдонимизированы; без модели продукт работает полностью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Эффект для ВТБ в двух валютах: ставки сотрудников и предотвращённый ущерб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Источники: ВТБ, МСФО за 1П 2026 (≈1,8 млн предприятий и предпринимателей; пересказ пресс-релиза, altapress.ru, 29.07.2026; первичный источник не открыт); Банк России, I кв. 2026. Доли и минуты — допущения команды; расчёт: python scripts/effect_model.py --scenarios</a:t>
            </a:r>
            <a:endParaRPr lang="en-US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325880"/>
            <a:ext cx="5431536" cy="3794760"/>
          </a:xfrm>
          <a:prstGeom prst="roundRect">
            <a:avLst>
              <a:gd name="adj" fmla="val 1928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685800" y="1417320"/>
          <a:ext cx="5157216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22960" y="4160520"/>
            <a:ext cx="4882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≈1,8 млн предприятий и ИП × доля с событием представительства (10 / 15 / 25%) × сэкономленные минуты на кейс, включая разбор (20 / 30 / 40) ÷ 60 ÷ 1 800 ч на ставку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6208776" y="1325880"/>
            <a:ext cx="5431536" cy="3794760"/>
          </a:xfrm>
          <a:prstGeom prst="roundRect">
            <a:avLst>
              <a:gd name="adj" fmla="val 1928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graphicFrame>
        <p:nvGraphicFramePr>
          <p:cNvPr id="8" name="Chart 1" descr=""/>
          <p:cNvGraphicFramePr/>
          <p:nvPr/>
        </p:nvGraphicFramePr>
        <p:xfrm>
          <a:off x="6345936" y="1417320"/>
          <a:ext cx="5157216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483096" y="4160520"/>
            <a:ext cx="4882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818 операций против юрлиц за квартал × 4 × доля ВТБ (15 / 20 / 25%) × доля случаев с полномочиями, которые перехватит «Мандат» (10 / 25 / 40%) × 0,7 млн ₽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822960" y="534924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Сценарии, а не прогноз. </a:t>
            </a:r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Доли и минуты — гипотезы команды; первые две недели пилота заменяют их фактами ВТБ. Плюс цель пилота: права в день обращения для типовых случаев.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Почему сейчас: МЧД втрое больше, а правила меняются каждые полгода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Источники: 63-ФЗ в ред. 476-ФЗ; emchd.ru, 10.2024; Приказ Банка России № ОД-2506 от 05.11.2025; Приказ Минцифры № 1001; CNews, 21.08.2026; портал МЧД ФНС по selsup.ru, 09.2026; 315-ФЗ</a:t>
            </a:r>
            <a:endParaRPr lang="en-US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325880"/>
            <a:ext cx="6858000" cy="4846320"/>
          </a:xfrm>
          <a:prstGeom prst="roundRect">
            <a:avLst>
              <a:gd name="adj" fmla="val 1509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5" name="timeline"/>
          <p:cNvSpPr/>
          <p:nvPr/>
        </p:nvSpPr>
        <p:spPr>
          <a:xfrm>
            <a:off x="2331720" y="1737360"/>
            <a:ext cx="0" cy="406908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2231136" y="1673352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01.09.2024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МЧД обязательна для представителей юрлиц</a:t>
            </a:r>
            <a:endParaRPr lang="en-US" sz="1500" dirty="0"/>
          </a:p>
        </p:txBody>
      </p:sp>
      <p:sp>
        <p:nvSpPr>
          <p:cNvPr id="9" name="dot"/>
          <p:cNvSpPr/>
          <p:nvPr/>
        </p:nvSpPr>
        <p:spPr>
          <a:xfrm>
            <a:off x="2231136" y="2295144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22199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10.2024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2219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≈1,6 млн МЧД в реестре ФНС</a:t>
            </a:r>
            <a:endParaRPr lang="en-US" sz="1500" dirty="0"/>
          </a:p>
        </p:txBody>
      </p:sp>
      <p:sp>
        <p:nvSpPr>
          <p:cNvPr id="12" name="dot"/>
          <p:cNvSpPr/>
          <p:nvPr/>
        </p:nvSpPr>
        <p:spPr>
          <a:xfrm>
            <a:off x="2231136" y="2916936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8437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01.01.2026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28437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Приказ Банка России № ОД-2506: новые признаки операций без согласия</a:t>
            </a:r>
            <a:endParaRPr lang="en-US" sz="1500" dirty="0"/>
          </a:p>
        </p:txBody>
      </p:sp>
      <p:sp>
        <p:nvSpPr>
          <p:cNvPr id="15" name="dot"/>
          <p:cNvSpPr/>
          <p:nvPr/>
        </p:nvSpPr>
        <p:spPr>
          <a:xfrm>
            <a:off x="2231136" y="3538728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46557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01.02.2026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651760" y="34655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новые реквизиты МЧД: Приказ Минцифры № 1001</a:t>
            </a:r>
            <a:endParaRPr lang="en-US" sz="1500" dirty="0"/>
          </a:p>
        </p:txBody>
      </p:sp>
      <p:sp>
        <p:nvSpPr>
          <p:cNvPr id="18" name="dot"/>
          <p:cNvSpPr/>
          <p:nvPr/>
        </p:nvSpPr>
        <p:spPr>
          <a:xfrm>
            <a:off x="2231136" y="4160520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0873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21.08.2026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651760" y="4087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ВТБ присоединился к Кодексу этики в сфере ИИ (по данным CNews)</a:t>
            </a:r>
            <a:endParaRPr lang="en-US" sz="1500" dirty="0"/>
          </a:p>
        </p:txBody>
      </p:sp>
      <p:sp>
        <p:nvSpPr>
          <p:cNvPr id="21" name="dot"/>
          <p:cNvSpPr/>
          <p:nvPr/>
        </p:nvSpPr>
        <p:spPr>
          <a:xfrm>
            <a:off x="2231136" y="478231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7091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09.2026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65176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более 5,5 млн МЧД в реестре ФНС</a:t>
            </a:r>
            <a:endParaRPr lang="en-US" sz="1500" dirty="0"/>
          </a:p>
        </p:txBody>
      </p:sp>
      <p:sp>
        <p:nvSpPr>
          <p:cNvPr id="24" name="dot"/>
          <p:cNvSpPr/>
          <p:nvPr/>
        </p:nvSpPr>
        <p:spPr>
          <a:xfrm>
            <a:off x="2231136" y="5404104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3309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01.09.2027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651760" y="5330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единая форма МЧД — универсальная (315-ФЗ)</a:t>
            </a:r>
            <a:endParaRPr lang="en-US" sz="1500" dirty="0"/>
          </a:p>
        </p:txBody>
      </p:sp>
      <p:sp>
        <p:nvSpPr>
          <p:cNvPr id="27" name="card"/>
          <p:cNvSpPr/>
          <p:nvPr/>
        </p:nvSpPr>
        <p:spPr>
          <a:xfrm>
            <a:off x="7635240" y="1325880"/>
            <a:ext cx="4005072" cy="2286000"/>
          </a:xfrm>
          <a:prstGeom prst="roundRect">
            <a:avLst>
              <a:gd name="adj" fmla="val 3200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909560" y="1508760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×3</a:t>
            </a:r>
            <a:endParaRPr lang="en-US" sz="5400" dirty="0"/>
          </a:p>
        </p:txBody>
      </p:sp>
      <p:sp>
        <p:nvSpPr>
          <p:cNvPr id="29" name="Text 27"/>
          <p:cNvSpPr txBox="1"/>
          <p:nvPr/>
        </p:nvSpPr>
        <p:spPr>
          <a:xfrm>
            <a:off x="7909560" y="2377440"/>
            <a:ext cx="3456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рост числа МЧД за неполные два года: поток входящих доверенностей в банк только растёт</a:t>
            </a:r>
            <a:endParaRPr lang="en-US" sz="1500" dirty="0"/>
          </a:p>
        </p:txBody>
      </p:sp>
      <p:sp>
        <p:nvSpPr>
          <p:cNvPr id="30" name="card"/>
          <p:cNvSpPr/>
          <p:nvPr/>
        </p:nvSpPr>
        <p:spPr>
          <a:xfrm>
            <a:off x="7635240" y="3886200"/>
            <a:ext cx="4005072" cy="2286000"/>
          </a:xfrm>
          <a:prstGeom prst="roundRect">
            <a:avLst>
              <a:gd name="adj" fmla="val 3200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909560" y="4069080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accent1"/>
                </a:solidFill>
              </a:rPr>
              <a:t>1,8 млн</a:t>
            </a:r>
            <a:endParaRPr lang="en-US" sz="4600" dirty="0"/>
          </a:p>
        </p:txBody>
      </p:sp>
      <p:sp>
        <p:nvSpPr>
          <p:cNvPr id="32" name="Text 30"/>
          <p:cNvSpPr txBox="1"/>
          <p:nvPr/>
        </p:nvSpPr>
        <p:spPr>
          <a:xfrm>
            <a:off x="7909560" y="4937760"/>
            <a:ext cx="3456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предприятий и предпринимателей у ВТБ (по пресс-релизу к МСФО за 1П 2026) — у каждого есть подписанты и представители, которые меняются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Встаёт в контур ВТБ on-prem: ядро готово, источники подключаются через порты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Источники: vtb.ru — «Комплект МЧД и КЭП» в «ВТБ Бизнес», 10.2026; репозиторий «Мандата» v0.3.0: 322 автотеста, evidence.json от 13.10.2026</a:t>
            </a:r>
            <a:endParaRPr lang="en-US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325880"/>
            <a:ext cx="3429000" cy="2514600"/>
          </a:xfrm>
          <a:prstGeom prst="roundRect">
            <a:avLst>
              <a:gd name="adj" fmla="val 2909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6861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276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Источники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86000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МЧД в XML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ЕГРЮЛ на дату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реестр МЧД ФНС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устав и бумага</a:t>
            </a:r>
            <a:endParaRPr lang="en-US" sz="1400" dirty="0"/>
          </a:p>
        </p:txBody>
      </p:sp>
      <p:pic>
        <p:nvPicPr>
          <p:cNvPr id="9" name="arrow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504" y="2468880"/>
            <a:ext cx="219456" cy="219456"/>
          </a:xfrm>
          <a:prstGeom prst="rect">
            <a:avLst/>
          </a:prstGeom>
        </p:spPr>
      </p:pic>
      <p:sp>
        <p:nvSpPr>
          <p:cNvPr id="10" name="card"/>
          <p:cNvSpPr/>
          <p:nvPr/>
        </p:nvSpPr>
        <p:spPr>
          <a:xfrm>
            <a:off x="4379976" y="1325880"/>
            <a:ext cx="3429000" cy="2514600"/>
          </a:xfrm>
          <a:prstGeom prst="roundRect">
            <a:avLst>
              <a:gd name="adj" fmla="val 2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1" name="icon-circle"/>
          <p:cNvSpPr/>
          <p:nvPr/>
        </p:nvSpPr>
        <p:spPr>
          <a:xfrm>
            <a:off x="4608576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250" y="168615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94376" y="16276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Движок «Мандата»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654296" y="2286000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граф полномочий на дату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36 правил с нормой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журнал с деревом Меркла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без внешней сети</a:t>
            </a:r>
            <a:endParaRPr lang="en-US" sz="1400" dirty="0"/>
          </a:p>
        </p:txBody>
      </p:sp>
      <p:pic>
        <p:nvPicPr>
          <p:cNvPr id="15" name="arrow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468880"/>
            <a:ext cx="219456" cy="219456"/>
          </a:xfrm>
          <a:prstGeom prst="rect">
            <a:avLst/>
          </a:prstGeom>
        </p:spPr>
      </p:pic>
      <p:sp>
        <p:nvSpPr>
          <p:cNvPr id="16" name="card"/>
          <p:cNvSpPr/>
          <p:nvPr/>
        </p:nvSpPr>
        <p:spPr>
          <a:xfrm>
            <a:off x="8211312" y="1325880"/>
            <a:ext cx="3429000" cy="2514600"/>
          </a:xfrm>
          <a:prstGeom prst="roundRect">
            <a:avLst>
              <a:gd name="adj" fmla="val 2909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7" name="icon-circle"/>
          <p:cNvSpPr/>
          <p:nvPr/>
        </p:nvSpPr>
        <p:spPr>
          <a:xfrm>
            <a:off x="8439912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1586" y="1686154"/>
            <a:ext cx="285293" cy="285293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125712" y="16276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Результат</a:t>
            </a:r>
            <a:endParaRPr lang="en-US" sz="1700" dirty="0"/>
          </a:p>
        </p:txBody>
      </p:sp>
      <p:sp>
        <p:nvSpPr>
          <p:cNvPr id="20" name="Text 13"/>
          <p:cNvSpPr txBox="1"/>
          <p:nvPr/>
        </p:nvSpPr>
        <p:spPr>
          <a:xfrm>
            <a:off x="8485632" y="2286000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вердикт и доказательства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рекомендация роли в «ВТБ Бизнес»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удостоверение со статусом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сигнал антифроду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548640" y="4069080"/>
            <a:ext cx="5431536" cy="2103120"/>
          </a:xfrm>
          <a:prstGeom prst="roundRect">
            <a:avLst>
              <a:gd name="adj" fmla="val 3478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22" name="Text 15"/>
          <p:cNvSpPr txBox="1"/>
          <p:nvPr/>
        </p:nvSpPr>
        <p:spPr>
          <a:xfrm>
            <a:off x="822960" y="4206240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Работает сегодня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822960" y="4663440"/>
            <a:ext cx="4882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36 правил, 14 демо-кейсов, CLI и HTTP API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мониторинг событий, статусы удостоверений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322 автотеста проходят, каждое число воспроизводится командой</a:t>
            </a:r>
            <a:endParaRPr lang="en-US" sz="1500" dirty="0"/>
          </a:p>
        </p:txBody>
      </p:sp>
      <p:sp>
        <p:nvSpPr>
          <p:cNvPr id="24" name="card"/>
          <p:cNvSpPr/>
          <p:nvPr/>
        </p:nvSpPr>
        <p:spPr>
          <a:xfrm>
            <a:off x="6208776" y="4069080"/>
            <a:ext cx="5431536" cy="2103120"/>
          </a:xfrm>
          <a:prstGeom prst="roundRect">
            <a:avLst>
              <a:gd name="adj" fmla="val 3478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25" name="Text 18"/>
          <p:cNvSpPr txBox="1"/>
          <p:nvPr/>
        </p:nvSpPr>
        <p:spPr>
          <a:xfrm>
            <a:off x="6483096" y="4206240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Подключаем к пилоту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6483096" y="4663440"/>
            <a:ext cx="4882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реестр МЧД ФНС, ЕГРЮЛ — адаптеры банка вместо заглушек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проверка КЭП — сертифицированные СКЗИ банка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коды полномочий — выгрузка классификатора ЕСНСИ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Предлагаем 6-недельный теневой пилот на праве подписи платёжных поручений по МЧД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Теневой режим: «Мандат» проверяет те же пакеты, что и сотрудники, и не влияет на клиентов и выдачу прав. Формат совпадает с пилотами Акселератора ВТБ</a:t>
            </a:r>
            <a:endParaRPr lang="en-US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325880"/>
            <a:ext cx="3611880" cy="128016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Неделя 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Протокол, регламент операции, пороги приёмки, куратор от владельца процесса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288536" y="1325880"/>
            <a:ext cx="3611880" cy="128016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62856" y="1463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Недели 2–5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62856" y="18745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Параллельная проверка тех же пакетов, журнал расхождений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28432" y="1325880"/>
            <a:ext cx="3611880" cy="128016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02752" y="1463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Неделя 6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02752" y="18745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Независимая разметка расхождений, решение: продолжать или остановить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48640" y="2834640"/>
            <a:ext cx="5431536" cy="2377440"/>
          </a:xfrm>
          <a:prstGeom prst="roundRect">
            <a:avLst>
              <a:gd name="adj" fmla="val 3077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4" name="icon-circle"/>
          <p:cNvSpPr/>
          <p:nvPr/>
        </p:nvSpPr>
        <p:spPr>
          <a:xfrm>
            <a:off x="822960" y="3017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3138221"/>
            <a:ext cx="261518" cy="26151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63040" y="3081528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Критерии: продолжать или остановить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3657600"/>
            <a:ext cx="49286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0 ложных «подтверждено» на всех кейсах пилота — стоп-критерий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доля «на разбор» не выше порога, согласованного до старта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согласие с экспертами (κ Коэна) не ниже, чем между экспертами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каждое расхождение разобрано, проверка быстрее ручной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6208776" y="2834640"/>
            <a:ext cx="5431536" cy="2377440"/>
          </a:xfrm>
          <a:prstGeom prst="roundRect">
            <a:avLst>
              <a:gd name="adj" fmla="val 3077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9" name="icon-circle"/>
          <p:cNvSpPr/>
          <p:nvPr/>
        </p:nvSpPr>
        <p:spPr>
          <a:xfrm>
            <a:off x="6483096" y="3017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797" y="3138221"/>
            <a:ext cx="261518" cy="26151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123176" y="3081528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Что нужно от ВТБ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6483096" y="3657600"/>
            <a:ext cx="49286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владелец процесса и куратор пилота от него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регламент одной операции и типовые отказы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50–100 обезличенных пакетов или тестовый контур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юрист для проверки правил, базовые цифры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822960" y="544068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Наш запрос: теневой пилот через Акселератор ВТБ с метриками, согласованными до старта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Команда: правила, измерение, процесс и право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Результат для банка — проверенный набор правил, протокол измерений, итоги пилота и эталонная реализация под MIT для передачи команде банка</a:t>
            </a:r>
            <a:endParaRPr lang="en-US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325880"/>
            <a:ext cx="5431536" cy="2286000"/>
          </a:xfrm>
          <a:prstGeom prst="roundRect">
            <a:avLst>
              <a:gd name="adj" fmla="val 3200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pic>
        <p:nvPicPr>
          <p:cNvPr id="5" name="photo" descr="Фото: Коньков Дмитри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1737360" cy="1737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834640" y="160020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Коньков Дмитрий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2834640" y="2039112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Капитан · архитектура и правила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834640" y="260604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Автор открытых проектов AeroBIM и SynAPS. Детерминированное ядро, граф полномочий, границы заявлений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208776" y="1325880"/>
            <a:ext cx="5431536" cy="2286000"/>
          </a:xfrm>
          <a:prstGeom prst="roundRect">
            <a:avLst>
              <a:gd name="adj" fmla="val 3200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pic>
        <p:nvPicPr>
          <p:cNvPr id="10" name="photo" descr="Фото: Конькова Елен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1600200"/>
            <a:ext cx="1737360" cy="17373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494776" y="160020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Конькова Елена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8494776" y="2039112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Системный инженер · измерение и качество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494776" y="260604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Методика оценки, корпус и разметка, воспроизводимость сборки, протокол пилота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3886200"/>
            <a:ext cx="5431536" cy="2286000"/>
          </a:xfrm>
          <a:prstGeom prst="roundRect">
            <a:avLst>
              <a:gd name="adj" fmla="val 3200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pic>
        <p:nvPicPr>
          <p:cNvPr id="15" name="photo" descr="Фото: Ляхов Никола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60520"/>
            <a:ext cx="1737360" cy="17373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834640" y="416052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Ляхов Николай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2834640" y="4599432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Владелец продукта и исследователь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2834640" y="516636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Интервью, опрос, карта процесса, питч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6208776" y="3886200"/>
            <a:ext cx="5431536" cy="2286000"/>
          </a:xfrm>
          <a:prstGeom prst="roundRect">
            <a:avLst>
              <a:gd name="adj" fmla="val 3200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pic>
        <p:nvPicPr>
          <p:cNvPr id="20" name="photo" descr="Фото: Кузнецов Алексей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4160520"/>
            <a:ext cx="1737360" cy="17373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494776" y="416052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Кузнецов Алексей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8494776" y="4599432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Юрист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494776" y="516636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Правила и нормы, разметка корпуса, юридические эффекты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Контакты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Команда «Мандат»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Коньков Дмитрий, капитан · +7 915 452-88-64 · konkov-dmitrij@yandex.ru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Конькова Елена, измерение и качество · konkovaelena@yandex.ru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Код: </a:t>
            </a:r>
            <a:pPr algn="l" indent="0" marL="0">
              <a:spcAft>
                <a:spcPts val="800"/>
              </a:spcAft>
              <a:buNone/>
            </a:pPr>
            <a:r>
              <a:rPr lang="en-US" sz="1600" u="sng" dirty="0">
                <a:solidFill>
                  <a:schemeClr val="accent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github.com/KonkovDV/Mandat</a:t>
            </a:r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 · собственный код под MIT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4160520"/>
            <a:ext cx="6766560" cy="9144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416052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Ищем в ВТБ владельца процесса добавления представителей юрлиц, чтобы сверить гипотезы до 18 октября</a:t>
            </a:r>
            <a:endParaRPr lang="en-US" sz="1600" dirty="0"/>
          </a:p>
        </p:txBody>
      </p:sp>
      <p:pic>
        <p:nvPicPr>
          <p:cNvPr id="7" name="graph" descr="Схема: граф полномочий «Мандата»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25880"/>
            <a:ext cx="356616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Приложение: ответы на вопросы жюри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3832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Конкуренты · правила · право · доверие без базы · качество · ИБ · риски · расчёт эффекта · трудные вопросы · нормы · дорожная карта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Реестр и ЭДО отвечают «действует ли МЧД», «Мандат» — «можно ли эту операцию сегодня»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«Не заявлено» — нет в открытых описаниях продукта на 12.10.2026; «не проверяли» — открытых данных недостаточно для сравнения. Источники: vtb.ru/r/terms_mchd; kontur.ru/mchd; docs/COMPETITORS.md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331720"/>
                <a:gridCol w="1783080"/>
                <a:gridCol w="2770632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сравниваем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Сервис МЧД «ВТБ Бизнес»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1С-ЭДО, Контур.Доверенность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Реестр МЧД ФНС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«Мандат»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6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Объект проверки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выпуск исходящих МЧД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МЧД под документ ЭДО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действует ли МЧД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операция банка и права в ДБО на дату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3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Передоверие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признак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проверяли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хранит сведения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сроки, сужение, каскад отмены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3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ЕГРЮЛ на дату и устав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заявлено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заявлено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одной проверке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3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Смена директора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заявлено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проверяли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сигнал или разбор по окну свежести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3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Доказательства и аудит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заявлено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заявлено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статус в реестре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XPath, ГРН, норма; журнал; удостоверение со статусом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3A"/>
                    </a:solidFill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548640" y="530352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530352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Не конкурируем с выпуском МЧД — берём его результат на вход. Операторы ЭДО и реестр — источники данных для «Мандата».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36 правил со ссылкой на норму: что они ловят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Полная таблица «правило → норма → эффект → тест» — docs/RULES.md. Все правила в статусе draft до проверки юристом банка; в строгом профиле неутверждённое правило не опровергает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834640"/>
                <a:gridCol w="633679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Группа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Правила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ловят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R-FMT-001…004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битый XML и XML-бомбы, чужой формат, реквизиты по Приказу № 1001, признаки безотзывной доверенности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Стороны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R-ID-001…004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контрольные числа, чужая компания, чужой представитель, наименование не по ЕГРЮЛ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Реестр и срок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R-REG-001, R-TERM-001…002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отмена и истечение, недоступный реестр, срок по закону — год со дня совершения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Руководитель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R-EIO-001…005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подписант не директор на дату, смена директора (сигнал или разбор), недостоверность, ликвидация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Покрытие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R-COV-001…002, R-JNT-001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полномочия на операцию, код исключён из классификатора, совместные полномочия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Передоверие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R-SUB-001…008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запрет, однократность, расширение, срок, пропущенное звено, каскад отмены, утрата полномочий, длинная цепочка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Устав и подпись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R-CHR, R-TXT, R-PAP, R-SIG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порог одобрения, текстовые полномочия, бумажная доверенность, КЭП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Четыре нормы, на которых ошибается ручная сверка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Источники: ГК РФ, ст. 186–188; разъяснения ФНС о смене руководителя; описание схемы МЧД (ПрУтрПолн). Ссылки сверить с юристом банка перед пилотом — docs/REGULATORY.md</a:t>
            </a:r>
            <a:endParaRPr lang="en-US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325880"/>
            <a:ext cx="2622042" cy="3794760"/>
          </a:xfrm>
          <a:prstGeom prst="roundRect">
            <a:avLst>
              <a:gd name="adj" fmla="val 2790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21648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Смена директора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21648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п. 1 ст. 188 ГК РФ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216484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МЧД прежнего директора действует, пока её не отменили</a:t>
            </a:r>
            <a:endParaRPr lang="en-US" sz="1500" dirty="0"/>
          </a:p>
        </p:txBody>
      </p:sp>
      <p:sp>
        <p:nvSpPr>
          <p:cNvPr id="8" name="pill"/>
          <p:cNvSpPr/>
          <p:nvPr/>
        </p:nvSpPr>
        <p:spPr>
          <a:xfrm>
            <a:off x="777240" y="3840480"/>
            <a:ext cx="2164842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840480"/>
            <a:ext cx="21648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ПОДТВЕРЖДЕНО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343400"/>
            <a:ext cx="21648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давняя смена — сигнал; свежая — на разбор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3371850" y="1325880"/>
            <a:ext cx="2622042" cy="3794760"/>
          </a:xfrm>
          <a:prstGeom prst="roundRect">
            <a:avLst>
              <a:gd name="adj" fmla="val 2790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600450" y="1554480"/>
            <a:ext cx="21648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Отмена основной МЧД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00450" y="2286000"/>
            <a:ext cx="21648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п. 3 ст. 188 ГК РФ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00450" y="2788920"/>
            <a:ext cx="216484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вместе с ней теряет силу передоверие</a:t>
            </a:r>
            <a:endParaRPr lang="en-US" sz="1500" dirty="0"/>
          </a:p>
        </p:txBody>
      </p:sp>
      <p:sp>
        <p:nvSpPr>
          <p:cNvPr id="15" name="pill"/>
          <p:cNvSpPr/>
          <p:nvPr/>
        </p:nvSpPr>
        <p:spPr>
          <a:xfrm>
            <a:off x="3600450" y="3840480"/>
            <a:ext cx="2164842" cy="38404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00450" y="3840480"/>
            <a:ext cx="21648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ОПРОВЕРГНУТО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600450" y="4343400"/>
            <a:ext cx="21648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каскад по всей цепочке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6195060" y="1325880"/>
            <a:ext cx="2622042" cy="3794760"/>
          </a:xfrm>
          <a:prstGeom prst="roundRect">
            <a:avLst>
              <a:gd name="adj" fmla="val 2790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23660" y="1554480"/>
            <a:ext cx="21648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Срок не указан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23660" y="2286000"/>
            <a:ext cx="21648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п. 1 ст. 186 ГК РФ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23660" y="2788920"/>
            <a:ext cx="216484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МЧД действует год со дня совершения</a:t>
            </a:r>
            <a:endParaRPr lang="en-US" sz="1500" dirty="0"/>
          </a:p>
        </p:txBody>
      </p:sp>
      <p:sp>
        <p:nvSpPr>
          <p:cNvPr id="22" name="pill"/>
          <p:cNvSpPr/>
          <p:nvPr/>
        </p:nvSpPr>
        <p:spPr>
          <a:xfrm>
            <a:off x="6423660" y="3840480"/>
            <a:ext cx="2164842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23660" y="3840480"/>
            <a:ext cx="21648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НА РАЗБОР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23660" y="4343400"/>
            <a:ext cx="21648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истёк год — опровергнуто</a:t>
            </a:r>
            <a:endParaRPr 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9018270" y="1325880"/>
            <a:ext cx="2622042" cy="3794760"/>
          </a:xfrm>
          <a:prstGeom prst="roundRect">
            <a:avLst>
              <a:gd name="adj" fmla="val 2790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246870" y="1554480"/>
            <a:ext cx="21648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Передоверие с утратой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246870" y="2286000"/>
            <a:ext cx="21648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признак ПрУтрПолн = 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246870" y="2788920"/>
            <a:ext cx="216484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передоверитель больше не вправе действовать</a:t>
            </a:r>
            <a:endParaRPr lang="en-US" sz="1500" dirty="0"/>
          </a:p>
        </p:txBody>
      </p:sp>
      <p:sp>
        <p:nvSpPr>
          <p:cNvPr id="29" name="pill"/>
          <p:cNvSpPr/>
          <p:nvPr/>
        </p:nvSpPr>
        <p:spPr>
          <a:xfrm>
            <a:off x="9246870" y="3840480"/>
            <a:ext cx="2164842" cy="38404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46870" y="3840480"/>
            <a:ext cx="21648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ОПРОВЕРГНУТО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246870" y="4343400"/>
            <a:ext cx="21648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действует только новый представитель</a:t>
            </a:r>
            <a:endParaRPr lang="en-US" sz="1400" dirty="0"/>
          </a:p>
        </p:txBody>
      </p:sp>
      <p:sp>
        <p:nvSpPr>
          <p:cNvPr id="32" name="card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22960" y="534924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Ручная сверка «на сегодня» ошибается в обе стороны: отказывает по действующей МЧД и пропускает оборванную цепочку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Доверие без доступа к базе: подписанное удостоверение, статус и журнал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Стандарты: W3C Verifiable Credentials 2.0 и Bitstring Status List v1.0 (Рекомендации W3C, 15.05.2025); RFC 6962 / RFC 9162. В стенде подпись Ed25519, к пилоту — ГОСТ через СКЗИ банка</a:t>
            </a:r>
            <a:endParaRPr lang="en-US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325880"/>
            <a:ext cx="3544824" cy="3337560"/>
          </a:xfrm>
          <a:prstGeom prst="roundRect">
            <a:avLst>
              <a:gd name="adj" fmla="val 2192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822960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742846"/>
            <a:ext cx="309067" cy="3090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91640"/>
            <a:ext cx="2356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Удостоверение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вердикт, операция, хеш набора правил и входов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номера МЧД цепочки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без ФИО, только хеш ИНН представителя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322064" y="1325880"/>
            <a:ext cx="3544824" cy="3337560"/>
          </a:xfrm>
          <a:prstGeom prst="roundRect">
            <a:avLst>
              <a:gd name="adj" fmla="val 2192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4596384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030" y="174284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27904" y="1691640"/>
            <a:ext cx="2356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Статус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596384" y="251460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списки «отозвано» и «приостановлено»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мониторинг меняет статус по событию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проверяющий видит актуальный статус сам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8095488" y="1325880"/>
            <a:ext cx="3544824" cy="3337560"/>
          </a:xfrm>
          <a:prstGeom prst="roundRect">
            <a:avLst>
              <a:gd name="adj" fmla="val 2192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5" name="icon-circle"/>
          <p:cNvSpPr/>
          <p:nvPr/>
        </p:nvSpPr>
        <p:spPr>
          <a:xfrm>
            <a:off x="8369808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2454" y="174284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01328" y="1691640"/>
            <a:ext cx="2356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Журнал решений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369808" y="251460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хеш-цепочка и HMAC: правка записи видна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дерево Меркла: доказательство одной записи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аудитор не получает весь журнал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548640" y="4892040"/>
            <a:ext cx="11091672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822960" y="4892040"/>
            <a:ext cx="10543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Сценарий: </a:t>
            </a:r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проверка → удостоверение уходит в «ВТБ Бизнес» → основную МЧД отменили → мониторинг ставит «отозвано» → интернет-банк видит статус сам, без запроса к «Мандату».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Как мы измеряем качество — и что изменится на реальных данных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Источники: evidence.json, docs/EVALUATION.md; Brown, Cai, DasGupta (2001) — интервал Вилсона; Geifman, El-Yaniv (2017) — «риск — покрытие»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480560"/>
                <a:gridCol w="4233672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Сейчас: синтетика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пилоте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6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Корпус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294 кейса, 49 видов: 1 зелёных, 18 опровергающих, 21 на разбор, 9 без данных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50–100 обезличенных пакетов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Ложные «подтверждено»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из 288, верхняя граница 95% — 1,3%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стоп-критерий: 0 на всех кейсах пилота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Полнота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все опровергающие найдены, нижняя граница 95% — 96,6%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меньше 139 дефектных случаев для ±5%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Покрытие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38,8% автоматических вердиктов в профиле demo; 0,0% в strict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порог согласуем с банком до старта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Разметка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ожидаемый вердикт задан генератором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два независимых эксперта, κ Коэна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Независимая проверка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 цепочки: «Мандат» и Cedar совпали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символьное доказательство свойства — спринт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Всё в контуре банка: данные, модель и решения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Это описание проектных решений, а не оценка соответствия: её проводят ИБ и юристы банка. docs/DATA_PROTECTION.md, docs/THREAT_MODEL.md</a:t>
            </a:r>
            <a:endParaRPr lang="en-US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325880"/>
            <a:ext cx="3544824" cy="2148840"/>
          </a:xfrm>
          <a:prstGeom prst="roundRect">
            <a:avLst>
              <a:gd name="adj" fmla="val 3404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7318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73352"/>
            <a:ext cx="2401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On-prem без сети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2996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Ядро не делает внешних запросов; модель — только хосты из белого списка, по умолчанию выключена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322064" y="1325880"/>
            <a:ext cx="3544824" cy="2148840"/>
          </a:xfrm>
          <a:prstGeom prst="roundRect">
            <a:avLst>
              <a:gd name="adj" fmla="val 3404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4596384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058" y="17318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82184" y="1673352"/>
            <a:ext cx="2401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ПДн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96384" y="2331720"/>
            <a:ext cx="2996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Псевдонимизация ИНН, СНИЛС, паспорта, телефона, почты; удостоверение без ФИО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8095488" y="1325880"/>
            <a:ext cx="3544824" cy="2148840"/>
          </a:xfrm>
          <a:prstGeom prst="roundRect">
            <a:avLst>
              <a:gd name="adj" fmla="val 3404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5" name="icon-circle"/>
          <p:cNvSpPr/>
          <p:nvPr/>
        </p:nvSpPr>
        <p:spPr>
          <a:xfrm>
            <a:off x="8369808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482" y="173187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55608" y="1673352"/>
            <a:ext cx="2401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Вредоносные файлы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69808" y="2331720"/>
            <a:ext cx="2996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Защита от XML-бомб и внешних сущностей, лимиты размера и глубины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548640" y="3703320"/>
            <a:ext cx="3544824" cy="2148840"/>
          </a:xfrm>
          <a:prstGeom prst="roundRect">
            <a:avLst>
              <a:gd name="adj" fmla="val 3404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20" name="icon-circle"/>
          <p:cNvSpPr/>
          <p:nvPr/>
        </p:nvSpPr>
        <p:spPr>
          <a:xfrm>
            <a:off x="822960" y="3977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410931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4050792"/>
            <a:ext cx="2401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API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4709160"/>
            <a:ext cx="2996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Закрыт без токена: 503, неверный токен — 401; лимит тела, CSP на отчёте</a:t>
            </a:r>
            <a:endParaRPr lang="en-US" sz="1500" dirty="0"/>
          </a:p>
        </p:txBody>
      </p:sp>
      <p:sp>
        <p:nvSpPr>
          <p:cNvPr id="24" name="card"/>
          <p:cNvSpPr/>
          <p:nvPr/>
        </p:nvSpPr>
        <p:spPr>
          <a:xfrm>
            <a:off x="4322064" y="3703320"/>
            <a:ext cx="3544824" cy="2148840"/>
          </a:xfrm>
          <a:prstGeom prst="roundRect">
            <a:avLst>
              <a:gd name="adj" fmla="val 3404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25" name="icon-circle"/>
          <p:cNvSpPr/>
          <p:nvPr/>
        </p:nvSpPr>
        <p:spPr>
          <a:xfrm>
            <a:off x="4596384" y="3977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058" y="410931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82184" y="4050792"/>
            <a:ext cx="2401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152-ФЗ и 115-ФЗ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596384" y="4709160"/>
            <a:ext cx="2996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Спроектировано с учётом 152-ФЗ; идентификацию по 115-ФЗ не подменяем</a:t>
            </a:r>
            <a:endParaRPr lang="en-US" sz="1500" dirty="0"/>
          </a:p>
        </p:txBody>
      </p:sp>
      <p:sp>
        <p:nvSpPr>
          <p:cNvPr id="29" name="card"/>
          <p:cNvSpPr/>
          <p:nvPr/>
        </p:nvSpPr>
        <p:spPr>
          <a:xfrm>
            <a:off x="8095488" y="3703320"/>
            <a:ext cx="3544824" cy="2148840"/>
          </a:xfrm>
          <a:prstGeom prst="roundRect">
            <a:avLst>
              <a:gd name="adj" fmla="val 3404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30" name="icon-circle"/>
          <p:cNvSpPr/>
          <p:nvPr/>
        </p:nvSpPr>
        <p:spPr>
          <a:xfrm>
            <a:off x="8369808" y="3977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c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1482" y="410931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55608" y="4050792"/>
            <a:ext cx="2401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Подпись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369808" y="4709160"/>
            <a:ext cx="2996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КЭП проверяют сертифицированные СКЗИ банка через порт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Риски, которые банк увидит первыми, — и как мы их снимаем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LIMITS.md — полный список границ; docs/AI_RISKS.md — матрица рисков ИИ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754880"/>
                <a:gridCol w="3776472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Риск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снимаем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Чем контролируем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6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Ложное подтверждение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неизвестное не становится «да», обязательные группы проверок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ложных «подтверждено» — стоп-критерий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Ошибка в норме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норма у каждого правила, статус draft/approved, юрист банка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 правил, утверждённых юристом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Ошибка модели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цитаты — нет факта; вердикт модель не меняет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тест «модель не меняет вердикт»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Формат МЧД изменится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теги — в файле соответствия, формы ЦБ по 315-ФЗ — через адаптер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пересборка примеров одной командой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Нагрузка «на разбор»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сигнал вместо разбора там, где закон позволяет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 «на разбор» с порогом банка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Интеграция с ДБО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пилоте — только рекомендация, без изменений в ДБО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сценарий пилота без доработок ДБО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Расчёт эффекта: формулы, допущения и мировой ориентир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Источники: Банк России, I кв. 2026; ВТБ, МСФО за 1П 2026; Fenergo — опросы банков 2022 и 2025 (данные поставщика ПО)</a:t>
            </a:r>
            <a:endParaRPr lang="en-US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325880"/>
            <a:ext cx="5431536" cy="3657600"/>
          </a:xfrm>
          <a:prstGeom prst="roundRect">
            <a:avLst>
              <a:gd name="adj" fmla="val 2000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08760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Формулы «Мандата»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488289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Ставки = клиенты × доля с событием представительства × сэкономленные минуты на кейс (включая разбор) ÷ 60 ÷ 1 800 ч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Ущерб = 818 × 4 × доля ВТБ × доля случаев с полномочиями × 0,7 млн ₽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Годовой объём — I кв. 2026 × 4; статистика Банка России не выделяет случаи с полномочиями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Все доли и минуты — гипотезы: их измеряет пилот; расчёт — python scripts/effect_model.py --scenarios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6208776" y="1325880"/>
            <a:ext cx="5431536" cy="3657600"/>
          </a:xfrm>
          <a:prstGeom prst="roundRect">
            <a:avLst>
              <a:gd name="adj" fmla="val 2000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83096" y="1508760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Мировой ориентир — не наша экономия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83096" y="2057400"/>
            <a:ext cx="488289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1 500–3 000 долл. США — стоимость проверки корпоративного клиента у 54% банков (опрос Fenergo, 2022; данные поставщика ПО)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70% банков теряли клиентов из-за медленного подключения в 2025 году (опрос Fenergo; данные поставщика ПО)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Масштаб западных корпоративных банков несопоставим со сменой подписанта в малом и среднем бизнесе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548640" y="5212080"/>
            <a:ext cx="11091672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521208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Что заменит допущения фактами: </a:t>
            </a:r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число событий представительства в год, минуты на кейс по хронометражу 30–50 проверок, доля инцидентов, связанных с полномочиями.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Трудные вопросы жюри (1/2)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Ответы опираются на CLAIMS_REGISTRY.md и LIMITS.md: каждое число — с командой воспроизведения и границей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340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Вопрос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Ответ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Чем вы лучше проверки статуса МЧД в реестре ФНС?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Реестр отвечает «действует или отменена». Мы — покрывает ли МЧД эту операцию у этой компании на эту дату, с ЕГРЮЛ, уставом, передоверием и событиями. Статус реестра — одно из 36 правил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Откуда «0 ложных», если данные синтетические?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Это проверка логики правил. Верхняя граница — 1,3%. Реальная доля — стоп-критерий пилота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Кто отвечает, если «подтверждено», а это мошенник?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Решение остаётся за банком. В пилоте теневой режим; мы даём доказательства и журнал, права не выдаём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Почему правила, а не машинное обучение?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Полномочия — вопрос права, а не вероятности. Правила объяснимы и проверяемы; машинное обучение уместно для сигналов риска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Зачем тогда ИИ?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Извлечь положения устава и текстовые полномочия с дословной цитатой. Без модели продукт работает полностью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Откуда 34–229 млн ₽?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Формула на данных Банка России с тремя явными допущениями. Пилот их измерит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Всё на заглушках — что реально работает?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Ядро, 36 правил, журнал, мониторинг (Standard Webhooks), роли API, SBOM. Заглушки — реестр ФНС, ЕФРСБ, КЭП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Почему почти нет «подтверждено»?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«Да» — только если закрыт и устав; без разметки устава 61% корпуса уходит человеку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Трудные вопросы жюри (2/2)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Ответы опираются на CLAIMS_REGISTRY.md и LIMITS.md: каждое число — с командой воспроизведения и границей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340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Вопрос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Ответ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Почему смена директора не прекращает МЧД?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Перечень оснований в п. 1 ст. 188 ГК РФ исчерпывающий, ФНС это подтверждает. Новый директор может отменить МЧД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при конфликте ЕГРЮЛ и МЧД?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Корневую МЧД подписал не директор по ЕГРЮЛ на дату выдачи — «опровергнуто» (R-EIO-001). Сверить нельзя или наименование расходится — «на разбор». Свежая смена директора — всегда разбор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с ИБ и ПДн?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On-prem, без сети, псевдонимизация, удостоверение без ФИО. Оценку соответствия проводит банк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Сколько стоит внедрение?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Пилот — одна операция, 6 недель. Цену назовём после замеров; бизнес-модель — лицензия на контур банка и годовое обновление правил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масштабируется?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Новая операция — новые правила и коды полномочий, ядро то же. Формы Банка России по 315-ФЗ — новый адаптер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Почему вам можно доверять код?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322 автотеста проходят (v0.3.0, evidence.json), независимая проверка на Cedar, реестр утверждений: каждое число воспроизводится командой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Есть ли юрлицо для пилота?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Для конкурса не нужно. К пилоту через Акселератор ВТБ — регистрация компании или партнёр-интегратор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Нормативная база на октябрь 2026 и что она меняет в «Мандате»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Ревизия 12.10.2026 по открытым источникам; это не юридическое заключение — каждую строку проверяет юрист банка. docs/REGULATORY.md, docs/SOURCES.md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5788152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Акт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 какой даты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меняет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6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63-ФЗ в ред. 476-ФЗ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01.09.2024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представитель юрлица подписывает своей КЭП и МЧД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ГК РФ, ст. 186–188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действует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срок по умолчанию — год; передоверие; исчерпывающие основания прекращения; каскад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Приказ Банка России № ОД-2506 от 05.11.2025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01.01.2026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обновлённый перечень признаков операций без согласия клиента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Приказ Минцифры № 1001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01.02.2026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СНИЛС и ИНН представителя, КПП, наименование полномочия рядом с кодом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Кодекс этики в сфере ИИ на финансовом рынке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2025; ВТБ — 21.08.2026 (CNews)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прозрачность, человек в контуре, право на пересмотр решения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315-ФЗ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01.09.2027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единая форма МЧД универсальна; Банк России вправе утверждать свои формы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5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4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Дорожная карта: от онлайн-питча до решения о пилоте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docs/ROADMAP.md, docs/MVP.md</a:t>
            </a:r>
            <a:endParaRPr lang="en-US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325880"/>
            <a:ext cx="2622042" cy="3657600"/>
          </a:xfrm>
          <a:prstGeom prst="roundRect">
            <a:avLst>
              <a:gd name="adj" fmla="val 2790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21648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До 10.11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21648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Онлайн-питч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51760"/>
            <a:ext cx="216484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сверка формата с официальной XSD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8–12 интервью и опрос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видео-демо, критерии трека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3371850" y="1325880"/>
            <a:ext cx="2622042" cy="3657600"/>
          </a:xfrm>
          <a:prstGeom prst="roundRect">
            <a:avLst>
              <a:gd name="adj" fmla="val 2790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00450" y="1554480"/>
            <a:ext cx="21648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16–29.11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00450" y="2011680"/>
            <a:ext cx="21648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Спринт 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600450" y="2651760"/>
            <a:ext cx="216484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коды из выгрузки ЕСНСИ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корпус от 300 пакетов, κ Коэна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прототип проверки КЭП через СКЗИ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финансовая модель на фактах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6195060" y="1325880"/>
            <a:ext cx="2622042" cy="3657600"/>
          </a:xfrm>
          <a:prstGeom prst="roundRect">
            <a:avLst>
              <a:gd name="adj" fmla="val 2790"/>
            </a:avLst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23660" y="1554480"/>
            <a:ext cx="21648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03–08.12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23660" y="2011680"/>
            <a:ext cx="21648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Спринт 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23660" y="2651760"/>
            <a:ext cx="216484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символьная проверка на Cedar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ГОСТ-подпись удостоверений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контракт интеграции с ДБО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9018270" y="1325880"/>
            <a:ext cx="2622042" cy="3657600"/>
          </a:xfrm>
          <a:prstGeom prst="roundRect">
            <a:avLst>
              <a:gd name="adj" fmla="val 279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46870" y="1554480"/>
            <a:ext cx="21648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После 11.12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246870" y="2011680"/>
            <a:ext cx="21648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Пилот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246870" y="2651760"/>
            <a:ext cx="216484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6 недель в теневом режиме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одна операция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решение: продолжать или остановить</a:t>
            </a:r>
            <a:endParaRPr lang="en-US" sz="1500" dirty="0"/>
          </a:p>
        </p:txBody>
      </p:sp>
      <p:sp>
        <p:nvSpPr>
          <p:cNvPr id="20" name="card"/>
          <p:cNvSpPr/>
          <p:nvPr/>
        </p:nvSpPr>
        <p:spPr>
          <a:xfrm>
            <a:off x="548640" y="5212080"/>
            <a:ext cx="11091672" cy="96012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521208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Финал 11.12.2026: живое демо и, если банк даст данные, результаты на обезличенных кейсах вместо синтетики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dat">
  <a:themeElements>
    <a:clrScheme name="Mandat">
      <a:dk1>
        <a:srgbClr val="0F1B2A"/>
      </a:dk1>
      <a:lt1>
        <a:srgbClr val="F3F6F9"/>
      </a:lt1>
      <a:dk2>
        <a:srgbClr val="2B4561"/>
      </a:dk2>
      <a:lt2>
        <a:srgbClr val="E6ECF2"/>
      </a:lt2>
      <a:accent1>
        <a:srgbClr val="F28C3A"/>
      </a:accent1>
      <a:accent2>
        <a:srgbClr val="6FA3D8"/>
      </a:accent2>
      <a:accent3>
        <a:srgbClr val="8FD3A8"/>
      </a:accent3>
      <a:accent4>
        <a:srgbClr val="C9D5E0"/>
      </a:accent4>
      <a:accent5>
        <a:srgbClr val="E8705F"/>
      </a:accent5>
      <a:accent6>
        <a:srgbClr val="172B40"/>
      </a:accent6>
      <a:hlink>
        <a:srgbClr val="F28C3A"/>
      </a:hlink>
      <a:folHlink>
        <a:srgbClr val="C9D5E0"/>
      </a:folHlink>
    </a:clrScheme>
    <a:fontScheme name="Manda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Команда «Мандат»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Мандат — единое окно полномочий для бизнес-клиентов банка</dc:title>
  <dc:subject>Академия Финтеха 2026, трек ВТБ «Финтех без границ»</dc:subject>
  <dc:creator>Команда «Мандат»</dc:creator>
  <cp:lastModifiedBy>Команда «Мандат»</cp:lastModifiedBy>
  <cp:revision>1</cp:revision>
  <dcterms:created xsi:type="dcterms:W3CDTF">2026-10-13T10:16:35Z</dcterms:created>
  <dcterms:modified xsi:type="dcterms:W3CDTF">2026-10-13T10:16:35Z</dcterms:modified>
</cp:coreProperties>
</file>