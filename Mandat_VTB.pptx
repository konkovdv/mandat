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1B3BA410-F50E-A210-E836-06FDBD208553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DBB4B4C6-0388-8443-0633-9DA419060DFF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lang="ru-RU"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F217-4256-878D-4EF3F2BA4377}"/>
              </c:ext>
            </c:extLst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F217-4256-878D-4EF3F2BA4377}"/>
              </c:ext>
            </c:extLst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F217-4256-878D-4EF3F2BA4377}"/>
              </c:ext>
            </c:extLst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F217-4256-878D-4EF3F2BA4377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F3F6F9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ПОДТВЕРЖДЕНО</c:v>
                </c:pt>
                <c:pt idx="1">
                  <c:v>ОПРОВЕРГНУТО</c:v>
                </c:pt>
                <c:pt idx="2">
                  <c:v>НА РАЗБОР</c:v>
                </c:pt>
                <c:pt idx="3">
                  <c:v>НЕДОСТ. ДАННЫХ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F217-4256-878D-4EF3F2BA437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lang="ru-RU"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F3F6F9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Консервативный</c:v>
                </c:pt>
                <c:pt idx="1">
                  <c:v>Базовый</c:v>
                </c:pt>
                <c:pt idx="2">
                  <c:v>Оптимистичный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B47-4981-BFD7-90FC8339C0E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lang="ru-RU"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F3F6F9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Консервативный</c:v>
                </c:pt>
                <c:pt idx="1">
                  <c:v>Базовый</c:v>
                </c:pt>
                <c:pt idx="2">
                  <c:v>Оптимистичный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E17-4B55-8CC7-834AB03D16E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08288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качество, Николай — за исследование и процесс, Алексей — за правовые нормы. Спасибо,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jpg"/><Relationship Id="rId5" Type="http://schemas.openxmlformats.org/officeDocument/2006/relationships/image" Target="../media/image28.jpg"/><Relationship Id="rId4" Type="http://schemas.openxmlformats.org/officeDocument/2006/relationships/image" Target="../media/image27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onkovDV/Mandat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32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r>
              <a:rPr lang="en-US" sz="2400" b="1" dirty="0">
                <a:solidFill>
                  <a:schemeClr val="accent1"/>
                </a:solidFill>
              </a:rPr>
              <a:t>X</a:t>
            </a: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r>
              <a:rPr lang="en-US" sz="2400" b="1" dirty="0">
                <a:solidFill>
                  <a:schemeClr val="accent1"/>
                </a:solidFill>
              </a:rPr>
              <a:t>O</a:t>
            </a: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r>
              <a:rPr lang="en-US" sz="2400" b="1" dirty="0">
                <a:solidFill>
                  <a:schemeClr val="accent1"/>
                </a:solidFill>
              </a:rPr>
              <a:t>Y</a:t>
            </a: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r>
              <a:rPr lang="en-US" sz="2400" b="1" dirty="0">
                <a:solidFill>
                  <a:schemeClr val="accent1"/>
                </a:solidFill>
              </a:rPr>
              <a:t>t</a:t>
            </a: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(13.10.2026,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/>
          <p:cNvGraphicFramePr/>
          <p:nvPr/>
        </p:nvGraphicFramePr>
        <p:xfrm>
          <a:off x="6080760" y="1417320"/>
          <a:ext cx="5376672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/>
          <p:cNvGraphicFramePr/>
          <p:nvPr/>
        </p:nvGraphicFramePr>
        <p:xfrm>
          <a:off x="685800" y="1417320"/>
          <a:ext cx="5157216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/>
          <p:cNvGraphicFramePr/>
          <p:nvPr/>
        </p:nvGraphicFramePr>
        <p:xfrm>
          <a:off x="6345936" y="1417320"/>
          <a:ext cx="5157216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585 автотестов, evidence.json от 13.10.2026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585 автотестов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правила, измерение, процесс и право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00200"/>
            <a:ext cx="1737360" cy="1737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834640" y="160020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bg1"/>
                </a:solidFill>
              </a:rPr>
              <a:t>Коньков Дмитрий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2834640" y="203911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2834640" y="2606040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08776" y="1325880"/>
            <a:ext cx="5431536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96" y="1600200"/>
            <a:ext cx="1737360" cy="17373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494776" y="160020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bg1"/>
                </a:solidFill>
              </a:rPr>
              <a:t>Конькова Елена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8494776" y="203911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494776" y="2606040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548640" y="3886200"/>
            <a:ext cx="5431536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pic>
        <p:nvPicPr>
          <p:cNvPr id="15" name="photo" descr="Фото: Ляхов Николай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160520"/>
            <a:ext cx="1737360" cy="17373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834640" y="416052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bg1"/>
                </a:solidFill>
              </a:rPr>
              <a:t>Ляхов Николай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2834640" y="459943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Владелец продукта и исследователь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2834640" y="5166360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Интервью, опрос, карта процесса, питч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6208776" y="3886200"/>
            <a:ext cx="5431536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pic>
        <p:nvPicPr>
          <p:cNvPr id="20" name="photo" descr="Фото: Кузнецов Алексей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3096" y="4160520"/>
            <a:ext cx="1737360" cy="17373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494776" y="416052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bg1"/>
                </a:solidFill>
              </a:rPr>
              <a:t>Кузнецов Алексей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8494776" y="459943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Юрист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8494776" y="5166360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Правила и нормы, разметка корпуса, юридические эффекты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marL="0" indent="0" algn="l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marL="0" indent="0" algn="l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r>
              <a:rPr lang="en-US" sz="1600" u="sng" dirty="0">
                <a:solidFill>
                  <a:schemeClr val="accent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12.10.2026; «не проверяли» — открытых данных недостаточно для сравнения. Источники: vtb.ru/r/terms_mchd; kontur.ru/mchd; docs/COMPETITORS.md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3621024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706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1С-ЭДО, Контур.Доверенность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МЧД под документ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438912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36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33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4224528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764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опросы банков 2022 и 2025 (данные поставщика ПО)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стоимость проверки корпоративного клиента у 54% банков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банков теряли клиентов из-за медленного подключения в 2025 году (опрос Fenergo;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493776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34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453644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34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585 автотестов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4828032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88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5312</Words>
  <Application>Microsoft Office PowerPoint</Application>
  <PresentationFormat>Широкоэкранный</PresentationFormat>
  <Paragraphs>555</Paragraphs>
  <Slides>27</Slides>
  <Notes>27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27</vt:i4>
      </vt:variant>
    </vt:vector>
  </HeadingPairs>
  <TitlesOfParts>
    <vt:vector size="30" baseType="lpstr">
      <vt:lpstr>Arial</vt:lpstr>
      <vt:lpstr>Calibri</vt:lpstr>
      <vt:lpstr>Mandat</vt:lpstr>
      <vt:lpstr>Презентация PowerPoint</vt:lpstr>
      <vt:lpstr>Ошибка в полномочиях стоит дорого: ≈0,7 млн ₽ на одну операцию против компании</vt:lpstr>
      <vt:lpstr>Мошеннику хватает пяти рабочих дней, а сверка «на сегодня» не видит событий между обращениями</vt:lpstr>
      <vt:lpstr>Один вопрос — четыре ответа, и неизвестное никогда не становится «да»</vt:lpstr>
      <vt:lpstr>Каждый вердикт доказан: поле МЧД, запись ЕГРЮЛ, норма закона</vt:lpstr>
      <vt:lpstr>После выдачи прав «Мандат» продолжает следить: признаки захвата видны до платежа</vt:lpstr>
      <vt:lpstr>Ноль ложных «подтверждено» на 288 кейсах, где подтверждать нельзя</vt:lpstr>
      <vt:lpstr>ИИ советует, но не решает: вердикт выносят правила, спорное — человек</vt:lpstr>
      <vt:lpstr>Эффект для ВТБ в двух валютах: ставки сотрудников и предотвращённый ущерб</vt:lpstr>
      <vt:lpstr>Почему сейчас: МЧД втрое больше, а правила меняются каждые полгода</vt:lpstr>
      <vt:lpstr>Встаёт в контур ВТБ on-prem: ядро готово, источники подключаются через порты</vt:lpstr>
      <vt:lpstr>Предлагаем 6-недельный теневой пилот на праве подписи платёжных поручений по МЧД</vt:lpstr>
      <vt:lpstr>Команда: правила, измерение, процесс и право</vt:lpstr>
      <vt:lpstr>Презентация PowerPoint</vt:lpstr>
      <vt:lpstr>Приложение: ответы на вопросы жюри</vt:lpstr>
      <vt:lpstr>Реестр и ЭДО отвечают «действует ли МЧД», «Мандат» — «можно ли эту операцию сегодня»</vt:lpstr>
      <vt:lpstr>39 правил со ссылкой на норму: что они ловят</vt:lpstr>
      <vt:lpstr>Пять норм, на которых ошибается ручная сверка</vt:lpstr>
      <vt:lpstr>Доверие без доступа к базе: подписанное удостоверение, статус и журнал</vt:lpstr>
      <vt:lpstr>Как мы измеряем качество — и что изменится на реальных данных</vt:lpstr>
      <vt:lpstr>Всё в контуре банка: данные, модель и решения</vt:lpstr>
      <vt:lpstr>Риски, которые банк увидит первыми, — и как мы их снимаем</vt:lpstr>
      <vt:lpstr>Расчёт эффекта: формулы, допущения и мировой ориентир</vt:lpstr>
      <vt:lpstr>Трудные вопросы жюри (1/2)</vt:lpstr>
      <vt:lpstr>Трудные вопросы жюри (2/2)</vt:lpstr>
      <vt:lpstr>Нормативная база на октябрь 2026 и что она меняет в «Мандате»</vt:lpstr>
      <vt:lpstr>Дорожная карта: от онлайн-питча до решения о пилоте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2026-10-13T13:00:56Z</dcterms:created>
  <dcterms:modified xsi:type="dcterms:W3CDTF">2026-10-13T13:09:18Z</dcterms:modified>
</cp:coreProperties>
</file>