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" id="{63aeedea-d617-cf9b-26be-4c29e4072b8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Приложение" id="{e471fd17-5d52-2ebf-f6c3-b2aaef3b0054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Похищено у юрлиц, млн ₽</c:v>
                </c:pt>
              </c:strCache>
            </c:strRef>
          </c:tx>
          <c:spPr>
            <a:solidFill>
              <a:srgbClr val="9DB8E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0A2973"/>
                    </a:solidFill>
                    <a:latin typeface="Golos Tex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B8E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4CBC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 кв. 2026</c:v>
                  </c:pt>
                  <c:pt idx="1">
                    <c:v>II кв. 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573</c:v>
                </c:pt>
                <c:pt idx="1">
                  <c:v>830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0A2973"/>
                  </a:solidFill>
                  <a:latin typeface="Golos Tex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2557A"/>
                </a:solidFill>
                <a:latin typeface="Golos Tex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Golos Tex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1A9F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B1F44"/>
                    </a:solidFill>
                    <a:latin typeface="Golos Tex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9F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5484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A30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B7A99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0B1F44"/>
                  </a:solidFill>
                  <a:latin typeface="Golos Tex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2557A"/>
                </a:solidFill>
                <a:latin typeface="Golos Tex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Golos Tex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Высвобождение нагрузки, ставок в год</c:v>
                </c:pt>
              </c:strCache>
            </c:strRef>
          </c:tx>
          <c:spPr>
            <a:solidFill>
              <a:srgbClr val="004CB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0A2973"/>
                    </a:solidFill>
                    <a:latin typeface="Golos Tex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0A2973"/>
                  </a:solidFill>
                  <a:latin typeface="Golos Tex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2557A"/>
                </a:solidFill>
                <a:latin typeface="Golos Tex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Golos Tex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Предотвращённый ущерб, млн ₽ в год</c:v>
                </c:pt>
              </c:strCache>
            </c:strRef>
          </c:tx>
          <c:spPr>
            <a:solidFill>
              <a:srgbClr val="1A9F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0A2973"/>
                    </a:solidFill>
                    <a:latin typeface="Golos Tex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0A2973"/>
                  </a:solidFill>
                  <a:latin typeface="Golos Tex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2557A"/>
                </a:solidFill>
                <a:latin typeface="Golos Tex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Golos Tex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в конкретный день,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около 0,7 миллиона на операцию, почти в 50 раз больше средней по всем клиентам. Во втором квартале у компаний похищено уже свыше 830 миллионов, их доля в потерях выросла с 7,8 до 11,3 процента. Возмещают компаниям мало: 15,9 процента по счетам и 2,4 через СБП. А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Это не теория: в октябре у агентства «ЭОС» в ЕГРЮЛ на десять дней появился чужой гендиректор — по версии компании, по поддельным нотариальным документам.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 и сроком.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[1:30–2:00] Так выглядит вердикт. Директор, выдавший доверенность, сменился почти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[2:00–2:30] Вторая половина продукта — постоянный контроль. Демо: за три часа смена директора, новая доверенность и заявка на смену контактного телефона.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отзываются. Права в интернет-банке меняет банк по своей политике.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[2:30–3:00]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 процента. 8814 мутаций сценариев тоже не дали ни одного ложного «да». Ключевое свойство — передоверие не расширяет полномочия — проверено на 384 цепочках и совпало с независимой реализацией на Cedar. Реализацию стандартов сверили с внешними эталонами.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[3:00–3:20]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Модель работает в контуре банка, по умолчанию выключена, провайдер сменный — это важно с учётом закона об ИИ. Это логика Кодекса этики в сфере ИИ на финансовом рынке; по сообщениям СМИ,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[3:20–3:45]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 И база консервативна: во втором квартале потери компаний выросли.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[3:45–4:00] Почему сейчас. МЧД стали обязательными в сентябре 2024 года, и за два года их стало втрое больше — уже более пяти миллионов. С февраля действуют новые реквизиты, с марта реестр ищет доверенность только по трём параметрам, Банк России расширил признаки операций без согласия, в сентябре вступили в силу закон об ИИ и первые нормы нового антифрод-пакета, а с сентября 2027 года единая форма МЧД станет основной.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[4:00–4:15] Мировая практика. FATF и новый регламент ЕС требуют проверять, что представитель клиента уполномочен, а проект стандартов AMLA — ещё и объём полномочия. ЕС вводит выписку о компании, где видно, действуют ли представители по одному или совместно, и цифровую доверенность. «Мандат» отвечает именно на этот вопрос и построен на открытых стандартах: удостоверения в модели W3C, журнал по RFC 9162, независимая проверка на Cedar.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[4:15–4:30]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[4:30–4:50]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&#1054;&#1073;&#1083;&#1086;&#1078;&#1082;&#1072;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&#1056;&#1072;&#1079;&#1076;&#1077;&#1083;-image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&#1060;&#1080;&#1085;&#1072;&#1083;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Обложка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572768" y="1371600"/>
            <a:ext cx="49377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онтент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Знак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274320"/>
            <a:ext cx="329184" cy="29626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027664" y="256032"/>
            <a:ext cx="612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Мандат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5000"/>
              </a:lnSpc>
              <a:buNone/>
              <a:defRPr lang="en-US" sz="2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endParaRPr lang="en-US" sz="2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62718F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Раздел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4028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29000"/>
            <a:ext cx="9601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FE3FF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Финал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64008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2-1.png"/><Relationship Id="rId3" Type="http://schemas.openxmlformats.org/officeDocument/2006/relationships/image" Target="../media/image-2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4" Type="http://schemas.openxmlformats.org/officeDocument/2006/relationships/chart" Target="/ppt/charts/chart4.xml"/><Relationship Id="rId1" Type="http://schemas.openxmlformats.org/officeDocument/2006/relationships/image" Target="../media/image-9-1.png"/><Relationship Id="rId3" Type="http://schemas.openxmlformats.org/officeDocument/2006/relationships/image" Target="../media/image-9-2.png"/><Relationship Id="rId5" Type="http://schemas.openxmlformats.org/officeDocument/2006/relationships/image" Target="../media/image-9-3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FE3FF"/>
                </a:solidFill>
              </a:rPr>
              <a:t>Академия Финтеха 2026 · трек ВТБ «Финтех без границ» · задача «Онбординг и проверка полномочий»</a:t>
            </a:r>
            <a:endParaRPr lang="en-US" sz="1200" dirty="0"/>
          </a:p>
        </p:txBody>
      </p:sp>
      <p:pic>
        <p:nvPicPr>
          <p:cNvPr id="3" name="Image 0" descr="Знак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841248" cy="75895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1572768" y="13716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chemeClr val="bg1"/>
                </a:solidFill>
              </a:rPr>
              <a:t>Мандат</a:t>
            </a:r>
            <a:endParaRPr lang="en-US" sz="5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5146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7472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CFE3FF"/>
                </a:solidFill>
              </a:rPr>
              <a:t>Отвечает, вправе ли человек провести операцию от имени компании в этот день, — за миллисекунды и с доказательством до поля документа</a:t>
            </a:r>
            <a:endParaRPr lang="en-US" sz="1500" dirty="0"/>
          </a:p>
        </p:txBody>
      </p:sp>
      <p:sp>
        <p:nvSpPr>
          <p:cNvPr id="7" name="Вердикт: ПОДТВЕРЖДЕНО"/>
          <p:cNvSpPr/>
          <p:nvPr/>
        </p:nvSpPr>
        <p:spPr>
          <a:xfrm>
            <a:off x="548640" y="4572000"/>
            <a:ext cx="1632570" cy="310896"/>
          </a:xfrm>
          <a:prstGeom prst="roundRect">
            <a:avLst>
              <a:gd name="adj" fmla="val 50000"/>
            </a:avLst>
          </a:prstGeom>
          <a:solidFill>
            <a:srgbClr val="E2F4EB"/>
          </a:solidFill>
          <a:ln/>
        </p:spPr>
      </p:sp>
      <p:sp>
        <p:nvSpPr>
          <p:cNvPr id="8" name="Метка статуса"/>
          <p:cNvSpPr/>
          <p:nvPr/>
        </p:nvSpPr>
        <p:spPr>
          <a:xfrm>
            <a:off x="685800" y="4681728"/>
            <a:ext cx="91440" cy="91440"/>
          </a:xfrm>
          <a:prstGeom prst="ellipse">
            <a:avLst/>
          </a:prstGeom>
          <a:solidFill>
            <a:srgbClr val="1A9F6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4572000"/>
            <a:ext cx="126681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B6B44"/>
                </a:solidFill>
              </a:rPr>
              <a:t>ПОДТВЕРЖДЕНО</a:t>
            </a:r>
            <a:endParaRPr lang="en-US" sz="950" dirty="0"/>
          </a:p>
        </p:txBody>
      </p:sp>
      <p:sp>
        <p:nvSpPr>
          <p:cNvPr id="10" name="Вердикт: ОПРОВЕРГНУТО"/>
          <p:cNvSpPr/>
          <p:nvPr/>
        </p:nvSpPr>
        <p:spPr>
          <a:xfrm>
            <a:off x="2290938" y="4572000"/>
            <a:ext cx="1632570" cy="310896"/>
          </a:xfrm>
          <a:prstGeom prst="roundRect">
            <a:avLst>
              <a:gd name="adj" fmla="val 50000"/>
            </a:avLst>
          </a:prstGeom>
          <a:solidFill>
            <a:srgbClr val="FDE6E7"/>
          </a:solidFill>
          <a:ln/>
        </p:spPr>
      </p:sp>
      <p:sp>
        <p:nvSpPr>
          <p:cNvPr id="11" name="Метка статуса"/>
          <p:cNvSpPr/>
          <p:nvPr/>
        </p:nvSpPr>
        <p:spPr>
          <a:xfrm>
            <a:off x="2428098" y="4681728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592690" y="4572000"/>
            <a:ext cx="126681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A3161B"/>
                </a:solidFill>
              </a:rPr>
              <a:t>ОПРОВЕРГНУТО</a:t>
            </a:r>
            <a:endParaRPr lang="en-US" sz="950" dirty="0"/>
          </a:p>
        </p:txBody>
      </p:sp>
      <p:sp>
        <p:nvSpPr>
          <p:cNvPr id="13" name="Вердикт: НА РАЗБОР"/>
          <p:cNvSpPr/>
          <p:nvPr/>
        </p:nvSpPr>
        <p:spPr>
          <a:xfrm>
            <a:off x="4033236" y="4572000"/>
            <a:ext cx="1283360" cy="310896"/>
          </a:xfrm>
          <a:prstGeom prst="roundRect">
            <a:avLst>
              <a:gd name="adj" fmla="val 50000"/>
            </a:avLst>
          </a:prstGeom>
          <a:solidFill>
            <a:srgbClr val="FFF1D4"/>
          </a:solidFill>
          <a:ln/>
        </p:spPr>
      </p:sp>
      <p:sp>
        <p:nvSpPr>
          <p:cNvPr id="14" name="Метка статуса"/>
          <p:cNvSpPr/>
          <p:nvPr/>
        </p:nvSpPr>
        <p:spPr>
          <a:xfrm>
            <a:off x="4170396" y="4681728"/>
            <a:ext cx="91440" cy="91440"/>
          </a:xfrm>
          <a:prstGeom prst="ellipse">
            <a:avLst/>
          </a:prstGeom>
          <a:solidFill>
            <a:srgbClr val="F5A3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334988" y="4572000"/>
            <a:ext cx="91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7A4E00"/>
                </a:solidFill>
              </a:rPr>
              <a:t>НА РАЗБОР</a:t>
            </a:r>
            <a:endParaRPr lang="en-US" sz="950" dirty="0"/>
          </a:p>
        </p:txBody>
      </p:sp>
      <p:sp>
        <p:nvSpPr>
          <p:cNvPr id="16" name="Вердикт: НЕДОСТАТОЧНО ДАННЫХ"/>
          <p:cNvSpPr/>
          <p:nvPr/>
        </p:nvSpPr>
        <p:spPr>
          <a:xfrm>
            <a:off x="5426324" y="4572000"/>
            <a:ext cx="2247595" cy="310896"/>
          </a:xfrm>
          <a:prstGeom prst="roundRect">
            <a:avLst>
              <a:gd name="adj" fmla="val 50000"/>
            </a:avLst>
          </a:prstGeom>
          <a:solidFill>
            <a:srgbClr val="E8ECF3"/>
          </a:solidFill>
          <a:ln/>
        </p:spPr>
      </p:sp>
      <p:sp>
        <p:nvSpPr>
          <p:cNvPr id="17" name="Метка статуса"/>
          <p:cNvSpPr/>
          <p:nvPr/>
        </p:nvSpPr>
        <p:spPr>
          <a:xfrm>
            <a:off x="5563484" y="4681728"/>
            <a:ext cx="91440" cy="91440"/>
          </a:xfrm>
          <a:prstGeom prst="ellipse">
            <a:avLst/>
          </a:prstGeom>
          <a:solidFill>
            <a:srgbClr val="6B7A9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728076" y="4572000"/>
            <a:ext cx="18818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3B4864"/>
                </a:solidFill>
              </a:rPr>
              <a:t>НЕДОСТАТОЧНО ДАННЫХ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59612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Коньков Дмитрий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5907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FE3FF"/>
                </a:solidFill>
              </a:rPr>
              <a:t>капитан команды «Мандат»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590702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FE3FF"/>
                </a:solidFill>
              </a:rPr>
              <a:t>Онлайн-питч · ноябрь 2026</a:t>
            </a:r>
            <a:endParaRPr lang="en-US" sz="1200" dirty="0"/>
          </a:p>
        </p:txBody>
      </p:sp>
      <p:pic>
        <p:nvPicPr>
          <p:cNvPr id="22" name="Image 1" descr="Схема: шесть источников — ЕГРЮЛ, МЧД, реестр ФНС, передоверие, устав и события — сходятся в один вердикт на дату операци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566928"/>
            <a:ext cx="5074920" cy="44949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ЦЕНА ОШИБКИ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2"/>
                </a:solidFill>
              </a:rPr>
              <a:t>Компании теряют редко, но крупно: ≈0,7 млн ₽ на одну операцию против юрлица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2718F"/>
                </a:solidFill>
              </a:rPr>
              <a:t>Банк России: обзоры операций без согласия клиентов за I кв. 2026 (cbr.ru, 14.05.2026) и II кв. 2026 (cbr.ru, 04.08.2026; сумма и доля юрлиц — по Интерфаксу и Smart-Lab); fintechacademy.ru — задача трека ВТБ</a:t>
            </a:r>
            <a:endParaRPr lang="en-US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4343400" cy="3456432"/>
          </a:xfrm>
          <a:prstGeom prst="roundRect">
            <a:avLst>
              <a:gd name="adj" fmla="val 3175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773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42557A"/>
                </a:solidFill>
              </a:rPr>
              <a:t>I квартал 2026 · операции без согласия клиента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7568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chemeClr val="accent1"/>
                </a:solidFill>
              </a:rPr>
              <a:t>≈0,7 млн ₽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7121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2557A"/>
                </a:solidFill>
              </a:rPr>
              <a:t>средняя операция против юрлица: 818 операций на 573 млн ₽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419856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chemeClr val="tx2"/>
                </a:solidFill>
              </a:rPr>
              <a:t>юрлица · ≈0,7 млн ₽</a:t>
            </a:r>
            <a:endParaRPr lang="en-US" sz="1100" dirty="0"/>
          </a:p>
        </p:txBody>
      </p:sp>
      <p:sp>
        <p:nvSpPr>
          <p:cNvPr id="10" name="Столбик: юрлица"/>
          <p:cNvSpPr/>
          <p:nvPr/>
        </p:nvSpPr>
        <p:spPr>
          <a:xfrm>
            <a:off x="822960" y="3675888"/>
            <a:ext cx="3794760" cy="219456"/>
          </a:xfrm>
          <a:prstGeom prst="roundRect">
            <a:avLst>
              <a:gd name="adj" fmla="val 50000"/>
            </a:avLst>
          </a:prstGeom>
          <a:solidFill>
            <a:srgbClr val="004CB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4005072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chemeClr val="tx2"/>
                </a:solidFill>
              </a:rPr>
              <a:t>все клиенты · ≈15 тыс. ₽ — в ≈47 раз меньше</a:t>
            </a:r>
            <a:endParaRPr lang="en-US" sz="1100" dirty="0"/>
          </a:p>
        </p:txBody>
      </p:sp>
      <p:sp>
        <p:nvSpPr>
          <p:cNvPr id="12" name="Столбик: все клиенты"/>
          <p:cNvSpPr/>
          <p:nvPr/>
        </p:nvSpPr>
        <p:spPr>
          <a:xfrm>
            <a:off x="822960" y="4261104"/>
            <a:ext cx="91440" cy="219456"/>
          </a:xfrm>
          <a:prstGeom prst="roundRect">
            <a:avLst>
              <a:gd name="adj" fmla="val 50000"/>
            </a:avLst>
          </a:prstGeom>
          <a:solidFill>
            <a:srgbClr val="C9DCF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4590288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2718F"/>
                </a:solidFill>
              </a:rPr>
              <a:t>495,8 тыс. операций на 7,4 млрд ₽</a:t>
            </a:r>
            <a:endParaRPr lang="en-US" sz="1100" dirty="0"/>
          </a:p>
        </p:txBody>
      </p:sp>
      <p:sp>
        <p:nvSpPr>
          <p:cNvPr id="14" name="Карточка"/>
          <p:cNvSpPr/>
          <p:nvPr/>
        </p:nvSpPr>
        <p:spPr>
          <a:xfrm>
            <a:off x="5120640" y="1572768"/>
            <a:ext cx="3520440" cy="3456432"/>
          </a:xfrm>
          <a:prstGeom prst="roundRect">
            <a:avLst>
              <a:gd name="adj" fmla="val 3175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5394960" y="177393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42557A"/>
                </a:solidFill>
              </a:rPr>
              <a:t>Потери юрлиц растут, млн ₽</a:t>
            </a:r>
            <a:endParaRPr lang="en-US" sz="1200" dirty="0"/>
          </a:p>
        </p:txBody>
      </p:sp>
      <p:graphicFrame>
        <p:nvGraphicFramePr>
          <p:cNvPr id="16" name="Диаграмма: похищено у юрлиц по кварталам" descr=""/>
          <p:cNvGraphicFramePr/>
          <p:nvPr/>
        </p:nvGraphicFramePr>
        <p:xfrm>
          <a:off x="5303520" y="2029968"/>
          <a:ext cx="315468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5394960" y="3858768"/>
            <a:ext cx="2971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2557A"/>
                </a:solidFill>
              </a:rPr>
              <a:t>доля юрлиц в потерях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94960" y="4096512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chemeClr val="tx2"/>
                </a:solidFill>
              </a:rPr>
              <a:t>7,8% → 11,3%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5394960" y="455371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2718F"/>
                </a:solidFill>
              </a:rPr>
              <a:t>II кв.: «свыше 830 млн ₽», в основном со счетов</a:t>
            </a:r>
            <a:endParaRPr lang="en-US" sz="1100" dirty="0"/>
          </a:p>
        </p:txBody>
      </p:sp>
      <p:sp>
        <p:nvSpPr>
          <p:cNvPr id="20" name="Карточка"/>
          <p:cNvSpPr/>
          <p:nvPr/>
        </p:nvSpPr>
        <p:spPr>
          <a:xfrm>
            <a:off x="8869680" y="1572768"/>
            <a:ext cx="2773375" cy="162763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9144000" y="1755648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E5484D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2" name="Text 19"/>
          <p:cNvSpPr txBox="1"/>
          <p:nvPr/>
        </p:nvSpPr>
        <p:spPr>
          <a:xfrm>
            <a:off x="9144000" y="2350008"/>
            <a:ext cx="2224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2557A"/>
                </a:solidFill>
              </a:rPr>
              <a:t>столько возмещено компаниям по счетам и через СБП в I кв.</a:t>
            </a:r>
            <a:endParaRPr lang="en-US" sz="1200" dirty="0"/>
          </a:p>
        </p:txBody>
      </p:sp>
      <p:sp>
        <p:nvSpPr>
          <p:cNvPr id="23" name="Карточка"/>
          <p:cNvSpPr/>
          <p:nvPr/>
        </p:nvSpPr>
        <p:spPr>
          <a:xfrm>
            <a:off x="8869680" y="3401568"/>
            <a:ext cx="2773375" cy="1627632"/>
          </a:xfrm>
          <a:prstGeom prst="roundRect">
            <a:avLst>
              <a:gd name="adj" fmla="val 6742"/>
            </a:avLst>
          </a:prstGeom>
          <a:solidFill>
            <a:srgbClr val="E6F0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24" name="Плитка значка"/>
          <p:cNvSpPr/>
          <p:nvPr/>
        </p:nvSpPr>
        <p:spPr>
          <a:xfrm>
            <a:off x="9144000" y="3584448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25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6537" y="3676985"/>
            <a:ext cx="235549" cy="235549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674352" y="3584448"/>
            <a:ext cx="1767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chemeClr val="tx2"/>
                </a:solidFill>
              </a:rPr>
              <a:t>Задача трека ВТБ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9144000" y="4114800"/>
            <a:ext cx="2224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«Онбординг и проверка полномочий» — первое направление для бизнеса в задаче «Финтех без границ»</a:t>
            </a:r>
            <a:endParaRPr lang="en-US" sz="1200" dirty="0"/>
          </a:p>
        </p:txBody>
      </p:sp>
      <p:sp>
        <p:nvSpPr>
          <p:cNvPr id="28" name="Плашка вывода"/>
          <p:cNvSpPr/>
          <p:nvPr/>
        </p:nvSpPr>
        <p:spPr>
          <a:xfrm>
            <a:off x="548640" y="5230368"/>
            <a:ext cx="11094415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9" name="Плитка значка"/>
          <p:cNvSpPr/>
          <p:nvPr/>
        </p:nvSpPr>
        <p:spPr>
          <a:xfrm>
            <a:off x="749808" y="543610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30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5536692"/>
            <a:ext cx="256032" cy="256032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389888" y="5230368"/>
            <a:ext cx="997884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Право подписи складывается из трёх источников — МЧД, выписки ЕГРЮЛ и устава — и меняется со временем. Сегодня их сводит вручную сотрудник банка.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СЦЕНАРИЙ ЗАХВАТА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2"/>
                </a:solidFill>
              </a:rPr>
              <a:t>Захвату хватает пяти рабочих дней, а сверка «на сегодня» не видит событий между обращениями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2718F"/>
                </a:solidFill>
              </a:rPr>
              <a:t>129-ФЗ, ст. 8 (срок регистрации); ГК РФ, ст. 188; разъяснения ФНС; Forbes и ABN по данным РБК, 22.10.2026 — случай «ЭОС» в изложении компании; Банк России, I кв. 2026</a:t>
            </a:r>
            <a:endParaRPr lang="en-US" sz="1000" dirty="0"/>
          </a:p>
        </p:txBody>
      </p:sp>
      <p:sp>
        <p:nvSpPr>
          <p:cNvPr id="5" name="Линия времени"/>
          <p:cNvSpPr/>
          <p:nvPr/>
        </p:nvSpPr>
        <p:spPr>
          <a:xfrm>
            <a:off x="731520" y="2281428"/>
            <a:ext cx="10728655" cy="0"/>
          </a:xfrm>
          <a:prstGeom prst="line">
            <a:avLst/>
          </a:prstGeom>
          <a:noFill/>
          <a:ln w="25400">
            <a:solidFill>
              <a:srgbClr val="C9DCFA"/>
            </a:solidFill>
            <a:prstDash val="solid"/>
          </a:ln>
        </p:spPr>
      </p:sp>
      <p:sp>
        <p:nvSpPr>
          <p:cNvPr id="6" name="Карточка"/>
          <p:cNvSpPr/>
          <p:nvPr/>
        </p:nvSpPr>
        <p:spPr>
          <a:xfrm>
            <a:off x="548640" y="1572768"/>
            <a:ext cx="2057949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1719072"/>
            <a:ext cx="1692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accent1"/>
                </a:solidFill>
              </a:rPr>
              <a:t>День 0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011680"/>
            <a:ext cx="169218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Заявление в ФНС о смене директора — нередко по подделке</a:t>
            </a:r>
            <a:endParaRPr lang="en-US" sz="1250" dirty="0"/>
          </a:p>
        </p:txBody>
      </p:sp>
      <p:sp>
        <p:nvSpPr>
          <p:cNvPr id="9" name="Карточка"/>
          <p:cNvSpPr/>
          <p:nvPr/>
        </p:nvSpPr>
        <p:spPr>
          <a:xfrm>
            <a:off x="2807757" y="1572768"/>
            <a:ext cx="2057949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90637" y="1719072"/>
            <a:ext cx="1692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accent1"/>
                </a:solidFill>
              </a:rPr>
              <a:t>+5 рабочих дней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90637" y="2011680"/>
            <a:ext cx="169218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В ЕГРЮЛ — новый директор</a:t>
            </a:r>
            <a:endParaRPr lang="en-US" sz="1250" dirty="0"/>
          </a:p>
        </p:txBody>
      </p:sp>
      <p:sp>
        <p:nvSpPr>
          <p:cNvPr id="12" name="Карточка"/>
          <p:cNvSpPr/>
          <p:nvPr/>
        </p:nvSpPr>
        <p:spPr>
          <a:xfrm>
            <a:off x="5066873" y="1572768"/>
            <a:ext cx="2057949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249753" y="1719072"/>
            <a:ext cx="1692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accent1"/>
                </a:solidFill>
              </a:rPr>
              <a:t>Затем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249753" y="2011680"/>
            <a:ext cx="169218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Новая МЧД на «своего» представителя</a:t>
            </a:r>
            <a:endParaRPr lang="en-US" sz="1250" dirty="0"/>
          </a:p>
        </p:txBody>
      </p:sp>
      <p:sp>
        <p:nvSpPr>
          <p:cNvPr id="15" name="Карточка"/>
          <p:cNvSpPr/>
          <p:nvPr/>
        </p:nvSpPr>
        <p:spPr>
          <a:xfrm>
            <a:off x="7325990" y="1572768"/>
            <a:ext cx="2057949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508870" y="1719072"/>
            <a:ext cx="1692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accent1"/>
                </a:solidFill>
              </a:rPr>
              <a:t>Затем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508870" y="2011680"/>
            <a:ext cx="169218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Заявка в банк: доступ к счёту, смена реквизитов</a:t>
            </a:r>
            <a:endParaRPr lang="en-US" sz="1250" dirty="0"/>
          </a:p>
        </p:txBody>
      </p:sp>
      <p:sp>
        <p:nvSpPr>
          <p:cNvPr id="18" name="Карточка"/>
          <p:cNvSpPr/>
          <p:nvPr/>
        </p:nvSpPr>
        <p:spPr>
          <a:xfrm>
            <a:off x="9585107" y="1572768"/>
            <a:ext cx="2057949" cy="1417320"/>
          </a:xfrm>
          <a:prstGeom prst="roundRect">
            <a:avLst>
              <a:gd name="adj" fmla="val 7742"/>
            </a:avLst>
          </a:prstGeom>
          <a:solidFill>
            <a:srgbClr val="FDE6E7"/>
          </a:solidFill>
          <a:ln w="9525">
            <a:solidFill>
              <a:srgbClr val="F6B9BC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767987" y="1719072"/>
            <a:ext cx="1692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A3161B"/>
                </a:solidFill>
              </a:rPr>
              <a:t>Финал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767987" y="2011680"/>
            <a:ext cx="169218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A3161B"/>
                </a:solidFill>
              </a:rPr>
              <a:t>Платёж, который редко удаётся вернуть</a:t>
            </a:r>
            <a:endParaRPr lang="en-US" sz="1250" dirty="0"/>
          </a:p>
        </p:txBody>
      </p:sp>
      <p:sp>
        <p:nvSpPr>
          <p:cNvPr id="21" name="Карточка"/>
          <p:cNvSpPr/>
          <p:nvPr/>
        </p:nvSpPr>
        <p:spPr>
          <a:xfrm>
            <a:off x="548640" y="3191256"/>
            <a:ext cx="544068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2" name="Плитка значка"/>
          <p:cNvSpPr/>
          <p:nvPr/>
        </p:nvSpPr>
        <p:spPr>
          <a:xfrm>
            <a:off x="822960" y="341985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DE6E7"/>
          </a:solidFill>
          <a:ln/>
        </p:spPr>
      </p:sp>
      <p:pic>
        <p:nvPicPr>
          <p:cNvPr id="23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3520440"/>
            <a:ext cx="256032" cy="256032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417320" y="3392424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A3161B"/>
                </a:solidFill>
              </a:rPr>
              <a:t>Реальный случай · октябрь 2026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417320" y="361188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«ЭОС»: 10 дней с чужим гендиректором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4014216"/>
            <a:ext cx="48920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09.10 в ЕГРЮЛ появился неизвестный компании руководитель — по версии компании, через поддельные нотариальные документы и доверенности от имени участников. 19.10 запись исправили. Нотариальная форма решения с 01.09.2024 подделку не исключает.</a:t>
            </a:r>
            <a:endParaRPr lang="en-US" sz="1200" dirty="0"/>
          </a:p>
        </p:txBody>
      </p:sp>
      <p:sp>
        <p:nvSpPr>
          <p:cNvPr id="27" name="Карточка"/>
          <p:cNvSpPr/>
          <p:nvPr/>
        </p:nvSpPr>
        <p:spPr>
          <a:xfrm>
            <a:off x="6199632" y="3191256"/>
            <a:ext cx="5443423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8" name="Плитка значка"/>
          <p:cNvSpPr/>
          <p:nvPr/>
        </p:nvSpPr>
        <p:spPr>
          <a:xfrm>
            <a:off x="6473952" y="341985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2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3520440"/>
            <a:ext cx="256032" cy="256032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7068312" y="3419856"/>
            <a:ext cx="43461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Ловушка в обе стороны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7068312" y="3666744"/>
            <a:ext cx="43461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accent1"/>
                </a:solidFill>
              </a:rPr>
              <a:t>Смена директора не прекращает МЧД — п. 1 ст. 188 ГК РФ, позиция ФНС</a:t>
            </a:r>
            <a:endParaRPr lang="en-US" sz="1200" dirty="0"/>
          </a:p>
        </p:txBody>
      </p:sp>
      <p:sp>
        <p:nvSpPr>
          <p:cNvPr id="32" name="Круг значка"/>
          <p:cNvSpPr/>
          <p:nvPr/>
        </p:nvSpPr>
        <p:spPr>
          <a:xfrm>
            <a:off x="6528816" y="4178808"/>
            <a:ext cx="347472" cy="347472"/>
          </a:xfrm>
          <a:prstGeom prst="ellipse">
            <a:avLst/>
          </a:prstGeom>
          <a:solidFill>
            <a:srgbClr val="E5484D"/>
          </a:solidFill>
          <a:ln/>
        </p:spPr>
      </p:sp>
      <p:pic>
        <p:nvPicPr>
          <p:cNvPr id="33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5260" y="4255252"/>
            <a:ext cx="194584" cy="194584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7068312" y="4123944"/>
            <a:ext cx="43004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Откажете по старой МЧД — потеряете клиента и день его работы</a:t>
            </a:r>
            <a:endParaRPr lang="en-US" sz="1300" dirty="0"/>
          </a:p>
        </p:txBody>
      </p:sp>
      <p:sp>
        <p:nvSpPr>
          <p:cNvPr id="35" name="Круг значка"/>
          <p:cNvSpPr/>
          <p:nvPr/>
        </p:nvSpPr>
        <p:spPr>
          <a:xfrm>
            <a:off x="6528816" y="4745736"/>
            <a:ext cx="347472" cy="347472"/>
          </a:xfrm>
          <a:prstGeom prst="ellipse">
            <a:avLst/>
          </a:prstGeom>
          <a:solidFill>
            <a:srgbClr val="F5A300"/>
          </a:solidFill>
          <a:ln/>
        </p:spPr>
      </p:sp>
      <p:pic>
        <p:nvPicPr>
          <p:cNvPr id="36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5260" y="4822180"/>
            <a:ext cx="194584" cy="194584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7068312" y="4690872"/>
            <a:ext cx="43004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Пропустите свежую смену — откроете дверь захвату</a:t>
            </a:r>
            <a:endParaRPr lang="en-US" sz="1300" dirty="0"/>
          </a:p>
        </p:txBody>
      </p:sp>
      <p:sp>
        <p:nvSpPr>
          <p:cNvPr id="38" name="Плашка вывода"/>
          <p:cNvSpPr/>
          <p:nvPr/>
        </p:nvSpPr>
        <p:spPr>
          <a:xfrm>
            <a:off x="548640" y="5394960"/>
            <a:ext cx="11094415" cy="731520"/>
          </a:xfrm>
          <a:prstGeom prst="roundRect">
            <a:avLst>
              <a:gd name="adj" fmla="val 15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9" name="Плитка значка"/>
          <p:cNvSpPr/>
          <p:nvPr/>
        </p:nvSpPr>
        <p:spPr>
          <a:xfrm>
            <a:off x="749808" y="55321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40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5632704"/>
            <a:ext cx="256032" cy="256032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1389888" y="5394960"/>
            <a:ext cx="997884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chemeClr val="bg1"/>
                </a:solidFill>
              </a:rPr>
              <a:t>Нужен ответ на дату операции — с историей событий ЕГРЮЛ и реестра МЧД, а не снимок «на сегодня»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РЕШЕНИЕ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2"/>
                </a:solidFill>
              </a:rPr>
              <a:t>Один вопрос — четыре ответа, и неизвестное никогда не становится «да»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2718F"/>
                </a:solidFill>
              </a:rPr>
              <a:t>«Мандат» проверяет полномочия, а не личность: идентификацию по 115-ФЗ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11094415" cy="658368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Вопрос"/>
          <p:cNvSpPr txBox="1"/>
          <p:nvPr/>
        </p:nvSpPr>
        <p:spPr>
          <a:xfrm>
            <a:off x="548640" y="15727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100" b="1" dirty="0">
                <a:solidFill>
                  <a:srgbClr val="00AAFF"/>
                </a:solidFill>
              </a:rPr>
              <a:t>X</a:t>
            </a:r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100" b="1" dirty="0">
                <a:solidFill>
                  <a:srgbClr val="00AAFF"/>
                </a:solidFill>
              </a:rPr>
              <a:t>O</a:t>
            </a:r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100" b="1" dirty="0">
                <a:solidFill>
                  <a:srgbClr val="00AAFF"/>
                </a:solidFill>
              </a:rPr>
              <a:t>Y</a:t>
            </a:r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100" b="1" dirty="0">
                <a:solidFill>
                  <a:srgbClr val="00AAFF"/>
                </a:solidFill>
              </a:rPr>
              <a:t>t</a:t>
            </a:r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?</a:t>
            </a:r>
            <a:endParaRPr lang="en-US" sz="2100" dirty="0"/>
          </a:p>
        </p:txBody>
      </p:sp>
      <p:sp>
        <p:nvSpPr>
          <p:cNvPr id="7" name="Карточка"/>
          <p:cNvSpPr/>
          <p:nvPr/>
        </p:nvSpPr>
        <p:spPr>
          <a:xfrm>
            <a:off x="548640" y="2441448"/>
            <a:ext cx="2602154" cy="2432304"/>
          </a:xfrm>
          <a:prstGeom prst="roundRect">
            <a:avLst>
              <a:gd name="adj" fmla="val 4511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8" name="Круг значка"/>
          <p:cNvSpPr/>
          <p:nvPr/>
        </p:nvSpPr>
        <p:spPr>
          <a:xfrm>
            <a:off x="777240" y="2642616"/>
            <a:ext cx="457200" cy="457200"/>
          </a:xfrm>
          <a:prstGeom prst="ellipse">
            <a:avLst/>
          </a:prstGeom>
          <a:solidFill>
            <a:srgbClr val="1A9F68"/>
          </a:solidFill>
          <a:ln/>
        </p:spPr>
      </p:sp>
      <p:pic>
        <p:nvPicPr>
          <p:cNvPr id="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743200"/>
            <a:ext cx="256032" cy="256032"/>
          </a:xfrm>
          <a:prstGeom prst="rect">
            <a:avLst/>
          </a:prstGeom>
        </p:spPr>
      </p:pic>
      <p:sp>
        <p:nvSpPr>
          <p:cNvPr id="10" name="Вердикт: ПОДТВЕРЖДЕНО"/>
          <p:cNvSpPr/>
          <p:nvPr/>
        </p:nvSpPr>
        <p:spPr>
          <a:xfrm>
            <a:off x="777240" y="3227832"/>
            <a:ext cx="1632570" cy="274320"/>
          </a:xfrm>
          <a:prstGeom prst="roundRect">
            <a:avLst>
              <a:gd name="adj" fmla="val 50000"/>
            </a:avLst>
          </a:prstGeom>
          <a:solidFill>
            <a:srgbClr val="E2F4EB"/>
          </a:solidFill>
          <a:ln/>
        </p:spPr>
      </p:sp>
      <p:sp>
        <p:nvSpPr>
          <p:cNvPr id="11" name="Метка статуса"/>
          <p:cNvSpPr/>
          <p:nvPr/>
        </p:nvSpPr>
        <p:spPr>
          <a:xfrm>
            <a:off x="914400" y="3319272"/>
            <a:ext cx="91440" cy="91440"/>
          </a:xfrm>
          <a:prstGeom prst="ellipse">
            <a:avLst/>
          </a:prstGeom>
          <a:solidFill>
            <a:srgbClr val="1A9F6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78992" y="3227832"/>
            <a:ext cx="12668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B6B44"/>
                </a:solidFill>
              </a:rPr>
              <a:t>ПОДТВЕРЖДЕНО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593592"/>
            <a:ext cx="21449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Все обязательные проверки пройдены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4123944"/>
            <a:ext cx="21449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62718F"/>
                </a:solidFill>
              </a:rPr>
              <a:t>Банк получает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4325112"/>
            <a:ext cx="21449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рекомендацию роли и подписанное удостоверение</a:t>
            </a:r>
            <a:endParaRPr lang="en-US" sz="1200" dirty="0"/>
          </a:p>
        </p:txBody>
      </p:sp>
      <p:sp>
        <p:nvSpPr>
          <p:cNvPr id="16" name="Карточка"/>
          <p:cNvSpPr/>
          <p:nvPr/>
        </p:nvSpPr>
        <p:spPr>
          <a:xfrm>
            <a:off x="3379394" y="2441448"/>
            <a:ext cx="2602154" cy="2432304"/>
          </a:xfrm>
          <a:prstGeom prst="roundRect">
            <a:avLst>
              <a:gd name="adj" fmla="val 4511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7" name="Круг значка"/>
          <p:cNvSpPr/>
          <p:nvPr/>
        </p:nvSpPr>
        <p:spPr>
          <a:xfrm>
            <a:off x="3607994" y="2642616"/>
            <a:ext cx="457200" cy="457200"/>
          </a:xfrm>
          <a:prstGeom prst="ellipse">
            <a:avLst/>
          </a:prstGeom>
          <a:solidFill>
            <a:srgbClr val="E5484D"/>
          </a:solidFill>
          <a:ln/>
        </p:spPr>
      </p:sp>
      <p:pic>
        <p:nvPicPr>
          <p:cNvPr id="18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578" y="2743200"/>
            <a:ext cx="256032" cy="256032"/>
          </a:xfrm>
          <a:prstGeom prst="rect">
            <a:avLst/>
          </a:prstGeom>
        </p:spPr>
      </p:pic>
      <p:sp>
        <p:nvSpPr>
          <p:cNvPr id="19" name="Вердикт: ОПРОВЕРГНУТО"/>
          <p:cNvSpPr/>
          <p:nvPr/>
        </p:nvSpPr>
        <p:spPr>
          <a:xfrm>
            <a:off x="3607994" y="3227832"/>
            <a:ext cx="1632570" cy="274320"/>
          </a:xfrm>
          <a:prstGeom prst="roundRect">
            <a:avLst>
              <a:gd name="adj" fmla="val 50000"/>
            </a:avLst>
          </a:prstGeom>
          <a:solidFill>
            <a:srgbClr val="FDE6E7"/>
          </a:solidFill>
          <a:ln/>
        </p:spPr>
      </p:sp>
      <p:sp>
        <p:nvSpPr>
          <p:cNvPr id="20" name="Метка статуса"/>
          <p:cNvSpPr/>
          <p:nvPr/>
        </p:nvSpPr>
        <p:spPr>
          <a:xfrm>
            <a:off x="3745154" y="3319272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3909746" y="3227832"/>
            <a:ext cx="12668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A3161B"/>
                </a:solidFill>
              </a:rPr>
              <a:t>ОПРОВЕРГНУТО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3607994" y="3593592"/>
            <a:ext cx="21449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Найдено нарушение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3607994" y="4123944"/>
            <a:ext cx="21449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62718F"/>
                </a:solidFill>
              </a:rPr>
              <a:t>Банк получает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3607994" y="4325112"/>
            <a:ext cx="21449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звено цепочки, норму закона и что запросить у клиента</a:t>
            </a:r>
            <a:endParaRPr lang="en-US" sz="1200" dirty="0"/>
          </a:p>
        </p:txBody>
      </p:sp>
      <p:sp>
        <p:nvSpPr>
          <p:cNvPr id="25" name="Карточка"/>
          <p:cNvSpPr/>
          <p:nvPr/>
        </p:nvSpPr>
        <p:spPr>
          <a:xfrm>
            <a:off x="6210148" y="2441448"/>
            <a:ext cx="2602154" cy="2432304"/>
          </a:xfrm>
          <a:prstGeom prst="roundRect">
            <a:avLst>
              <a:gd name="adj" fmla="val 4511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6" name="Круг значка"/>
          <p:cNvSpPr/>
          <p:nvPr/>
        </p:nvSpPr>
        <p:spPr>
          <a:xfrm>
            <a:off x="6438748" y="2642616"/>
            <a:ext cx="457200" cy="457200"/>
          </a:xfrm>
          <a:prstGeom prst="ellipse">
            <a:avLst/>
          </a:prstGeom>
          <a:solidFill>
            <a:srgbClr val="F5A300"/>
          </a:solidFill>
          <a:ln/>
        </p:spPr>
      </p:sp>
      <p:pic>
        <p:nvPicPr>
          <p:cNvPr id="27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9332" y="2743200"/>
            <a:ext cx="256032" cy="256032"/>
          </a:xfrm>
          <a:prstGeom prst="rect">
            <a:avLst/>
          </a:prstGeom>
        </p:spPr>
      </p:pic>
      <p:sp>
        <p:nvSpPr>
          <p:cNvPr id="28" name="Вердикт: НА РАЗБОР"/>
          <p:cNvSpPr/>
          <p:nvPr/>
        </p:nvSpPr>
        <p:spPr>
          <a:xfrm>
            <a:off x="6438748" y="3227832"/>
            <a:ext cx="1283360" cy="274320"/>
          </a:xfrm>
          <a:prstGeom prst="roundRect">
            <a:avLst>
              <a:gd name="adj" fmla="val 50000"/>
            </a:avLst>
          </a:prstGeom>
          <a:solidFill>
            <a:srgbClr val="FFF1D4"/>
          </a:solidFill>
          <a:ln/>
        </p:spPr>
      </p:sp>
      <p:sp>
        <p:nvSpPr>
          <p:cNvPr id="29" name="Метка статуса"/>
          <p:cNvSpPr/>
          <p:nvPr/>
        </p:nvSpPr>
        <p:spPr>
          <a:xfrm>
            <a:off x="6575908" y="3319272"/>
            <a:ext cx="91440" cy="91440"/>
          </a:xfrm>
          <a:prstGeom prst="ellipse">
            <a:avLst/>
          </a:prstGeom>
          <a:solidFill>
            <a:srgbClr val="F5A300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6740500" y="3227832"/>
            <a:ext cx="91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7A4E00"/>
                </a:solidFill>
              </a:rPr>
              <a:t>НА РАЗБОР</a:t>
            </a:r>
            <a:endParaRPr lang="en-US" sz="950" dirty="0"/>
          </a:p>
        </p:txBody>
      </p:sp>
      <p:sp>
        <p:nvSpPr>
          <p:cNvPr id="31" name="Text 26"/>
          <p:cNvSpPr txBox="1"/>
          <p:nvPr/>
        </p:nvSpPr>
        <p:spPr>
          <a:xfrm>
            <a:off x="6438748" y="3593592"/>
            <a:ext cx="21449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Спорная ситуация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6438748" y="4123944"/>
            <a:ext cx="21449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62718F"/>
                </a:solidFill>
              </a:rPr>
              <a:t>Банк получает</a:t>
            </a:r>
            <a:endParaRPr lang="en-US" sz="1050" dirty="0"/>
          </a:p>
        </p:txBody>
      </p:sp>
      <p:sp>
        <p:nvSpPr>
          <p:cNvPr id="33" name="Text 28"/>
          <p:cNvSpPr txBox="1"/>
          <p:nvPr/>
        </p:nvSpPr>
        <p:spPr>
          <a:xfrm>
            <a:off x="6438748" y="4325112"/>
            <a:ext cx="21449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досье для сотрудника, приоритет P1–P3 и срок разбора</a:t>
            </a:r>
            <a:endParaRPr lang="en-US" sz="1200" dirty="0"/>
          </a:p>
        </p:txBody>
      </p:sp>
      <p:sp>
        <p:nvSpPr>
          <p:cNvPr id="34" name="Карточка"/>
          <p:cNvSpPr/>
          <p:nvPr/>
        </p:nvSpPr>
        <p:spPr>
          <a:xfrm>
            <a:off x="9040901" y="2441448"/>
            <a:ext cx="2602154" cy="2432304"/>
          </a:xfrm>
          <a:prstGeom prst="roundRect">
            <a:avLst>
              <a:gd name="adj" fmla="val 4511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5" name="Круг значка"/>
          <p:cNvSpPr/>
          <p:nvPr/>
        </p:nvSpPr>
        <p:spPr>
          <a:xfrm>
            <a:off x="9269501" y="2642616"/>
            <a:ext cx="457200" cy="457200"/>
          </a:xfrm>
          <a:prstGeom prst="ellipse">
            <a:avLst/>
          </a:prstGeom>
          <a:solidFill>
            <a:srgbClr val="6B7A99"/>
          </a:solidFill>
          <a:ln/>
        </p:spPr>
      </p:sp>
      <p:pic>
        <p:nvPicPr>
          <p:cNvPr id="36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0085" y="2743200"/>
            <a:ext cx="256032" cy="256032"/>
          </a:xfrm>
          <a:prstGeom prst="rect">
            <a:avLst/>
          </a:prstGeom>
        </p:spPr>
      </p:pic>
      <p:sp>
        <p:nvSpPr>
          <p:cNvPr id="37" name="Вердикт: НЕДОСТАТОЧНО ДАННЫХ"/>
          <p:cNvSpPr/>
          <p:nvPr/>
        </p:nvSpPr>
        <p:spPr>
          <a:xfrm>
            <a:off x="9269501" y="3227832"/>
            <a:ext cx="2247595" cy="274320"/>
          </a:xfrm>
          <a:prstGeom prst="roundRect">
            <a:avLst>
              <a:gd name="adj" fmla="val 50000"/>
            </a:avLst>
          </a:prstGeom>
          <a:solidFill>
            <a:srgbClr val="E8ECF3"/>
          </a:solidFill>
          <a:ln/>
        </p:spPr>
      </p:sp>
      <p:sp>
        <p:nvSpPr>
          <p:cNvPr id="38" name="Метка статуса"/>
          <p:cNvSpPr/>
          <p:nvPr/>
        </p:nvSpPr>
        <p:spPr>
          <a:xfrm>
            <a:off x="9406661" y="3319272"/>
            <a:ext cx="91440" cy="91440"/>
          </a:xfrm>
          <a:prstGeom prst="ellipse">
            <a:avLst/>
          </a:prstGeom>
          <a:solidFill>
            <a:srgbClr val="6B7A99"/>
          </a:solidFill>
          <a:ln/>
        </p:spPr>
      </p:sp>
      <p:sp>
        <p:nvSpPr>
          <p:cNvPr id="39" name="Text 33"/>
          <p:cNvSpPr txBox="1"/>
          <p:nvPr/>
        </p:nvSpPr>
        <p:spPr>
          <a:xfrm>
            <a:off x="9571253" y="3227832"/>
            <a:ext cx="18818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3B4864"/>
                </a:solidFill>
              </a:rPr>
              <a:t>НЕДОСТАТОЧНО ДАННЫХ</a:t>
            </a:r>
            <a:endParaRPr lang="en-US" sz="950" dirty="0"/>
          </a:p>
        </p:txBody>
      </p:sp>
      <p:sp>
        <p:nvSpPr>
          <p:cNvPr id="40" name="Text 34"/>
          <p:cNvSpPr txBox="1"/>
          <p:nvPr/>
        </p:nvSpPr>
        <p:spPr>
          <a:xfrm>
            <a:off x="9269501" y="3593592"/>
            <a:ext cx="21449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Источник не ответил или нет документа</a:t>
            </a:r>
            <a:endParaRPr lang="en-US" sz="1400" dirty="0"/>
          </a:p>
        </p:txBody>
      </p:sp>
      <p:sp>
        <p:nvSpPr>
          <p:cNvPr id="41" name="Text 35"/>
          <p:cNvSpPr txBox="1"/>
          <p:nvPr/>
        </p:nvSpPr>
        <p:spPr>
          <a:xfrm>
            <a:off x="9269501" y="4123944"/>
            <a:ext cx="21449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62718F"/>
                </a:solidFill>
              </a:rPr>
              <a:t>Банк получает</a:t>
            </a:r>
            <a:endParaRPr lang="en-US" sz="1050" dirty="0"/>
          </a:p>
        </p:txBody>
      </p:sp>
      <p:sp>
        <p:nvSpPr>
          <p:cNvPr id="42" name="Text 36"/>
          <p:cNvSpPr txBox="1"/>
          <p:nvPr/>
        </p:nvSpPr>
        <p:spPr>
          <a:xfrm>
            <a:off x="9269501" y="4325112"/>
            <a:ext cx="21449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список недостающего — вместо «да»</a:t>
            </a:r>
            <a:endParaRPr lang="en-US" sz="1200" dirty="0"/>
          </a:p>
        </p:txBody>
      </p:sp>
      <p:sp>
        <p:nvSpPr>
          <p:cNvPr id="43" name="Карточка"/>
          <p:cNvSpPr/>
          <p:nvPr/>
        </p:nvSpPr>
        <p:spPr>
          <a:xfrm>
            <a:off x="548640" y="5102352"/>
            <a:ext cx="2602154" cy="1042416"/>
          </a:xfrm>
          <a:prstGeom prst="roundRect">
            <a:avLst>
              <a:gd name="adj" fmla="val 10526"/>
            </a:avLst>
          </a:prstGeom>
          <a:solidFill>
            <a:srgbClr val="E6F0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749808" y="51937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chemeClr val="accent1"/>
                </a:solidFill>
              </a:rPr>
              <a:t>01</a:t>
            </a:r>
            <a:endParaRPr lang="en-US" sz="1700" dirty="0"/>
          </a:p>
        </p:txBody>
      </p:sp>
      <p:sp>
        <p:nvSpPr>
          <p:cNvPr id="45" name="Text 39"/>
          <p:cNvSpPr txBox="1"/>
          <p:nvPr/>
        </p:nvSpPr>
        <p:spPr>
          <a:xfrm>
            <a:off x="1207008" y="5193792"/>
            <a:ext cx="17791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Принять</a:t>
            </a:r>
            <a:endParaRPr lang="en-US" sz="1400" dirty="0"/>
          </a:p>
        </p:txBody>
      </p:sp>
      <p:sp>
        <p:nvSpPr>
          <p:cNvPr id="46" name="Text 40"/>
          <p:cNvSpPr txBox="1"/>
          <p:nvPr/>
        </p:nvSpPr>
        <p:spPr>
          <a:xfrm>
            <a:off x="749808" y="5541264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МЧД XML, ЕГРЮЛ, устав, бумажная доверенность</a:t>
            </a:r>
            <a:endParaRPr lang="en-US" sz="1200" dirty="0"/>
          </a:p>
        </p:txBody>
      </p:sp>
      <p:sp>
        <p:nvSpPr>
          <p:cNvPr id="47" name="Стрелка"/>
          <p:cNvSpPr/>
          <p:nvPr/>
        </p:nvSpPr>
        <p:spPr>
          <a:xfrm>
            <a:off x="3178226" y="5623560"/>
            <a:ext cx="173736" cy="0"/>
          </a:xfrm>
          <a:prstGeom prst="line">
            <a:avLst/>
          </a:prstGeom>
          <a:noFill/>
          <a:ln w="19050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48" name="Карточка"/>
          <p:cNvSpPr/>
          <p:nvPr/>
        </p:nvSpPr>
        <p:spPr>
          <a:xfrm>
            <a:off x="3379394" y="5102352"/>
            <a:ext cx="2602154" cy="1042416"/>
          </a:xfrm>
          <a:prstGeom prst="roundRect">
            <a:avLst>
              <a:gd name="adj" fmla="val 10526"/>
            </a:avLst>
          </a:prstGeom>
          <a:solidFill>
            <a:srgbClr val="E6F0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3580562" y="51937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chemeClr val="accent1"/>
                </a:solidFill>
              </a:rPr>
              <a:t>02</a:t>
            </a:r>
            <a:endParaRPr lang="en-US" sz="1700" dirty="0"/>
          </a:p>
        </p:txBody>
      </p:sp>
      <p:sp>
        <p:nvSpPr>
          <p:cNvPr id="50" name="Text 44"/>
          <p:cNvSpPr txBox="1"/>
          <p:nvPr/>
        </p:nvSpPr>
        <p:spPr>
          <a:xfrm>
            <a:off x="4037762" y="5193792"/>
            <a:ext cx="17791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Проверить</a:t>
            </a:r>
            <a:endParaRPr lang="en-US" sz="1400" dirty="0"/>
          </a:p>
        </p:txBody>
      </p:sp>
      <p:sp>
        <p:nvSpPr>
          <p:cNvPr id="51" name="Text 45"/>
          <p:cNvSpPr txBox="1"/>
          <p:nvPr/>
        </p:nvSpPr>
        <p:spPr>
          <a:xfrm>
            <a:off x="3580562" y="5541264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граф полномочий на дату, 39 правил с нормой</a:t>
            </a:r>
            <a:endParaRPr lang="en-US" sz="1200" dirty="0"/>
          </a:p>
        </p:txBody>
      </p:sp>
      <p:sp>
        <p:nvSpPr>
          <p:cNvPr id="52" name="Стрелка"/>
          <p:cNvSpPr/>
          <p:nvPr/>
        </p:nvSpPr>
        <p:spPr>
          <a:xfrm>
            <a:off x="6008980" y="5623560"/>
            <a:ext cx="173736" cy="0"/>
          </a:xfrm>
          <a:prstGeom prst="line">
            <a:avLst/>
          </a:prstGeom>
          <a:noFill/>
          <a:ln w="19050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53" name="Карточка"/>
          <p:cNvSpPr/>
          <p:nvPr/>
        </p:nvSpPr>
        <p:spPr>
          <a:xfrm>
            <a:off x="6210148" y="5102352"/>
            <a:ext cx="2602154" cy="1042416"/>
          </a:xfrm>
          <a:prstGeom prst="roundRect">
            <a:avLst>
              <a:gd name="adj" fmla="val 10526"/>
            </a:avLst>
          </a:prstGeom>
          <a:solidFill>
            <a:srgbClr val="E6F0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6411316" y="51937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chemeClr val="accent1"/>
                </a:solidFill>
              </a:rPr>
              <a:t>03</a:t>
            </a:r>
            <a:endParaRPr lang="en-US" sz="1700" dirty="0"/>
          </a:p>
        </p:txBody>
      </p:sp>
      <p:sp>
        <p:nvSpPr>
          <p:cNvPr id="55" name="Text 49"/>
          <p:cNvSpPr txBox="1"/>
          <p:nvPr/>
        </p:nvSpPr>
        <p:spPr>
          <a:xfrm>
            <a:off x="6868516" y="5193792"/>
            <a:ext cx="17791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Решить</a:t>
            </a:r>
            <a:endParaRPr lang="en-US" sz="1400" dirty="0"/>
          </a:p>
        </p:txBody>
      </p:sp>
      <p:sp>
        <p:nvSpPr>
          <p:cNvPr id="56" name="Text 50"/>
          <p:cNvSpPr txBox="1"/>
          <p:nvPr/>
        </p:nvSpPr>
        <p:spPr>
          <a:xfrm>
            <a:off x="6411316" y="5541264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вердикт, доказательства, следующий шаг</a:t>
            </a:r>
            <a:endParaRPr lang="en-US" sz="1200" dirty="0"/>
          </a:p>
        </p:txBody>
      </p:sp>
      <p:sp>
        <p:nvSpPr>
          <p:cNvPr id="57" name="Стрелка"/>
          <p:cNvSpPr/>
          <p:nvPr/>
        </p:nvSpPr>
        <p:spPr>
          <a:xfrm>
            <a:off x="8839733" y="5623560"/>
            <a:ext cx="173736" cy="0"/>
          </a:xfrm>
          <a:prstGeom prst="line">
            <a:avLst/>
          </a:prstGeom>
          <a:noFill/>
          <a:ln w="19050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58" name="Карточка"/>
          <p:cNvSpPr/>
          <p:nvPr/>
        </p:nvSpPr>
        <p:spPr>
          <a:xfrm>
            <a:off x="9040901" y="5102352"/>
            <a:ext cx="2602154" cy="1042416"/>
          </a:xfrm>
          <a:prstGeom prst="roundRect">
            <a:avLst>
              <a:gd name="adj" fmla="val 10526"/>
            </a:avLst>
          </a:prstGeom>
          <a:solidFill>
            <a:srgbClr val="E6F0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59" name="Text 53"/>
          <p:cNvSpPr txBox="1"/>
          <p:nvPr/>
        </p:nvSpPr>
        <p:spPr>
          <a:xfrm>
            <a:off x="9242069" y="51937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chemeClr val="accent1"/>
                </a:solidFill>
              </a:rPr>
              <a:t>04</a:t>
            </a:r>
            <a:endParaRPr lang="en-US" sz="1700" dirty="0"/>
          </a:p>
        </p:txBody>
      </p:sp>
      <p:sp>
        <p:nvSpPr>
          <p:cNvPr id="60" name="Text 54"/>
          <p:cNvSpPr txBox="1"/>
          <p:nvPr/>
        </p:nvSpPr>
        <p:spPr>
          <a:xfrm>
            <a:off x="9699269" y="5193792"/>
            <a:ext cx="17791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Следить</a:t>
            </a:r>
            <a:endParaRPr lang="en-US" sz="1400" dirty="0"/>
          </a:p>
        </p:txBody>
      </p:sp>
      <p:sp>
        <p:nvSpPr>
          <p:cNvPr id="61" name="Text 55"/>
          <p:cNvSpPr txBox="1"/>
          <p:nvPr/>
        </p:nvSpPr>
        <p:spPr>
          <a:xfrm>
            <a:off x="9242069" y="5541264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события ЕГРЮЛ и реестра МЧД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ДОКАЗАТЕЛЬНОСТЬ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2"/>
                </a:solidFill>
              </a:rPr>
              <a:t>Каждый вердикт доказан: поле МЧД, запись ЕГРЮЛ, норма закона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2718F"/>
                </a:solidFill>
              </a:rPr>
              <a:t>Демо-кейсы 14, 05 и 11 (mandat demo); данные вымышлены, отметка юриста об уставе в кейсе 14 синтетическая. Реестр МЧД и проверка КЭП на стенде — заглушки, и это написано в каждом отчёте</a:t>
            </a:r>
            <a:endParaRPr lang="en-US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6812280" cy="4572000"/>
          </a:xfrm>
          <a:prstGeom prst="roundRect">
            <a:avLst>
              <a:gd name="adj" fmla="val 24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8013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62718F"/>
                </a:solidFill>
              </a:rPr>
              <a:t>Кейс 14 · синтетическая отметка юриста об уставе</a:t>
            </a:r>
            <a:endParaRPr lang="en-US" sz="1100" dirty="0"/>
          </a:p>
        </p:txBody>
      </p:sp>
      <p:sp>
        <p:nvSpPr>
          <p:cNvPr id="7" name="Вердикт: ПОДТВЕРЖДЕНО"/>
          <p:cNvSpPr/>
          <p:nvPr/>
        </p:nvSpPr>
        <p:spPr>
          <a:xfrm>
            <a:off x="5393131" y="1773936"/>
            <a:ext cx="1693469" cy="292608"/>
          </a:xfrm>
          <a:prstGeom prst="roundRect">
            <a:avLst>
              <a:gd name="adj" fmla="val 50000"/>
            </a:avLst>
          </a:prstGeom>
          <a:solidFill>
            <a:srgbClr val="E2F4EB"/>
          </a:solidFill>
          <a:ln/>
        </p:spPr>
      </p:sp>
      <p:sp>
        <p:nvSpPr>
          <p:cNvPr id="8" name="Метка статуса"/>
          <p:cNvSpPr/>
          <p:nvPr/>
        </p:nvSpPr>
        <p:spPr>
          <a:xfrm>
            <a:off x="5530291" y="1874520"/>
            <a:ext cx="91440" cy="91440"/>
          </a:xfrm>
          <a:prstGeom prst="ellipse">
            <a:avLst/>
          </a:prstGeom>
          <a:solidFill>
            <a:srgbClr val="1A9F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94883" y="1773936"/>
            <a:ext cx="13277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B6B44"/>
                </a:solidFill>
              </a:rPr>
              <a:t>ПОДТВЕРЖДЕНО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139696"/>
            <a:ext cx="6263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Платёжное поручение на 480 000 ₽ · 20.10.2026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468880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2557A"/>
                </a:solidFill>
              </a:rPr>
              <a:t>Представитель Лебедева И. П. по МЧД от директора Петрова П. П.</a:t>
            </a:r>
            <a:endParaRPr lang="en-US" sz="1200" dirty="0"/>
          </a:p>
        </p:txBody>
      </p:sp>
      <p:sp>
        <p:nvSpPr>
          <p:cNvPr id="12" name="Разделитель"/>
          <p:cNvSpPr/>
          <p:nvPr/>
        </p:nvSpPr>
        <p:spPr>
          <a:xfrm>
            <a:off x="822960" y="2852928"/>
            <a:ext cx="626364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</p:sp>
      <p:sp>
        <p:nvSpPr>
          <p:cNvPr id="13" name="Круг значка"/>
          <p:cNvSpPr/>
          <p:nvPr/>
        </p:nvSpPr>
        <p:spPr>
          <a:xfrm>
            <a:off x="822960" y="2999232"/>
            <a:ext cx="365760" cy="365760"/>
          </a:xfrm>
          <a:prstGeom prst="ellipse">
            <a:avLst/>
          </a:prstGeom>
          <a:solidFill>
            <a:srgbClr val="1A9F68"/>
          </a:solidFill>
          <a:ln/>
        </p:spPr>
      </p:sp>
      <p:pic>
        <p:nvPicPr>
          <p:cNvPr id="14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3427" y="3079699"/>
            <a:ext cx="204826" cy="20482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353312" y="2926080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300" dirty="0"/>
          </a:p>
        </p:txBody>
      </p:sp>
      <p:sp>
        <p:nvSpPr>
          <p:cNvPr id="16" name="Ссылка на доказательство"/>
          <p:cNvSpPr/>
          <p:nvPr/>
        </p:nvSpPr>
        <p:spPr>
          <a:xfrm>
            <a:off x="4956048" y="3017520"/>
            <a:ext cx="2130552" cy="347472"/>
          </a:xfrm>
          <a:prstGeom prst="roundRect">
            <a:avLst>
              <a:gd name="adj" fmla="val 21053"/>
            </a:avLst>
          </a:prstGeom>
          <a:solidFill>
            <a:srgbClr val="E6F0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47488" y="301752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chemeClr val="accent1"/>
                </a:solidFill>
              </a:rPr>
              <a:t>ЕГРЮЛ · ГРН 2247700123456</a:t>
            </a:r>
            <a:endParaRPr lang="en-US" sz="1000" dirty="0"/>
          </a:p>
        </p:txBody>
      </p:sp>
      <p:sp>
        <p:nvSpPr>
          <p:cNvPr id="18" name="Разделитель"/>
          <p:cNvSpPr/>
          <p:nvPr/>
        </p:nvSpPr>
        <p:spPr>
          <a:xfrm>
            <a:off x="822960" y="3493008"/>
            <a:ext cx="626364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</p:sp>
      <p:sp>
        <p:nvSpPr>
          <p:cNvPr id="19" name="Круг значка"/>
          <p:cNvSpPr/>
          <p:nvPr/>
        </p:nvSpPr>
        <p:spPr>
          <a:xfrm>
            <a:off x="822960" y="3639312"/>
            <a:ext cx="365760" cy="365760"/>
          </a:xfrm>
          <a:prstGeom prst="ellipse">
            <a:avLst/>
          </a:prstGeom>
          <a:solidFill>
            <a:srgbClr val="1A9F68"/>
          </a:solidFill>
          <a:ln/>
        </p:spPr>
      </p:sp>
      <p:pic>
        <p:nvPicPr>
          <p:cNvPr id="20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427" y="3719779"/>
            <a:ext cx="204826" cy="20482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353312" y="3566160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300" dirty="0"/>
          </a:p>
        </p:txBody>
      </p:sp>
      <p:sp>
        <p:nvSpPr>
          <p:cNvPr id="22" name="Ссылка на доказательство"/>
          <p:cNvSpPr/>
          <p:nvPr/>
        </p:nvSpPr>
        <p:spPr>
          <a:xfrm>
            <a:off x="4956048" y="3657600"/>
            <a:ext cx="2130552" cy="347472"/>
          </a:xfrm>
          <a:prstGeom prst="roundRect">
            <a:avLst>
              <a:gd name="adj" fmla="val 21053"/>
            </a:avLst>
          </a:prstGeom>
          <a:solidFill>
            <a:srgbClr val="E6F0FF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5047488" y="365760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chemeClr val="accent1"/>
                </a:solidFill>
              </a:rPr>
              <a:t>XPath …/СвДов/@СрокДейст</a:t>
            </a:r>
            <a:endParaRPr lang="en-US" sz="1000" dirty="0"/>
          </a:p>
        </p:txBody>
      </p:sp>
      <p:sp>
        <p:nvSpPr>
          <p:cNvPr id="24" name="Разделитель"/>
          <p:cNvSpPr/>
          <p:nvPr/>
        </p:nvSpPr>
        <p:spPr>
          <a:xfrm>
            <a:off x="822960" y="4133088"/>
            <a:ext cx="626364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</p:sp>
      <p:sp>
        <p:nvSpPr>
          <p:cNvPr id="25" name="Круг значка"/>
          <p:cNvSpPr/>
          <p:nvPr/>
        </p:nvSpPr>
        <p:spPr>
          <a:xfrm>
            <a:off x="822960" y="4279392"/>
            <a:ext cx="365760" cy="365760"/>
          </a:xfrm>
          <a:prstGeom prst="ellipse">
            <a:avLst/>
          </a:prstGeom>
          <a:solidFill>
            <a:srgbClr val="1A9F68"/>
          </a:solidFill>
          <a:ln/>
        </p:spPr>
      </p:sp>
      <p:pic>
        <p:nvPicPr>
          <p:cNvPr id="26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427" y="4359859"/>
            <a:ext cx="204826" cy="204826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1353312" y="4206240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300" dirty="0"/>
          </a:p>
        </p:txBody>
      </p:sp>
      <p:sp>
        <p:nvSpPr>
          <p:cNvPr id="28" name="Ссылка на доказательство"/>
          <p:cNvSpPr/>
          <p:nvPr/>
        </p:nvSpPr>
        <p:spPr>
          <a:xfrm>
            <a:off x="4956048" y="4297680"/>
            <a:ext cx="2130552" cy="347472"/>
          </a:xfrm>
          <a:prstGeom prst="roundRect">
            <a:avLst>
              <a:gd name="adj" fmla="val 21053"/>
            </a:avLst>
          </a:prstGeom>
          <a:solidFill>
            <a:srgbClr val="E6F0FF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5047488" y="429768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chemeClr val="accent1"/>
                </a:solidFill>
              </a:rPr>
              <a:t>XPath …/СвПолн/МашПолн[1]</a:t>
            </a:r>
            <a:endParaRPr lang="en-US" sz="1000" dirty="0"/>
          </a:p>
        </p:txBody>
      </p:sp>
      <p:sp>
        <p:nvSpPr>
          <p:cNvPr id="30" name="Разделитель"/>
          <p:cNvSpPr/>
          <p:nvPr/>
        </p:nvSpPr>
        <p:spPr>
          <a:xfrm>
            <a:off x="822960" y="4773168"/>
            <a:ext cx="6263640" cy="0"/>
          </a:xfrm>
          <a:prstGeom prst="line">
            <a:avLst/>
          </a:prstGeom>
          <a:noFill/>
          <a:ln w="9525">
            <a:solidFill>
              <a:srgbClr val="DCE4F0"/>
            </a:solidFill>
            <a:prstDash val="solid"/>
          </a:ln>
        </p:spPr>
      </p:sp>
      <p:sp>
        <p:nvSpPr>
          <p:cNvPr id="31" name="Круг значка"/>
          <p:cNvSpPr/>
          <p:nvPr/>
        </p:nvSpPr>
        <p:spPr>
          <a:xfrm>
            <a:off x="822960" y="4919472"/>
            <a:ext cx="365760" cy="365760"/>
          </a:xfrm>
          <a:prstGeom prst="ellipse">
            <a:avLst/>
          </a:prstGeom>
          <a:solidFill>
            <a:srgbClr val="F5A300"/>
          </a:solidFill>
          <a:ln/>
        </p:spPr>
      </p:sp>
      <p:pic>
        <p:nvPicPr>
          <p:cNvPr id="32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427" y="4999939"/>
            <a:ext cx="204826" cy="20482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1353312" y="4846320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300" dirty="0"/>
          </a:p>
        </p:txBody>
      </p:sp>
      <p:sp>
        <p:nvSpPr>
          <p:cNvPr id="34" name="Ссылка на доказательство"/>
          <p:cNvSpPr/>
          <p:nvPr/>
        </p:nvSpPr>
        <p:spPr>
          <a:xfrm>
            <a:off x="4956048" y="4937760"/>
            <a:ext cx="2130552" cy="347472"/>
          </a:xfrm>
          <a:prstGeom prst="roundRect">
            <a:avLst>
              <a:gd name="adj" fmla="val 21053"/>
            </a:avLst>
          </a:prstGeom>
          <a:solidFill>
            <a:srgbClr val="E6F0FF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5047488" y="49377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chemeClr val="accent1"/>
                </a:solidFill>
              </a:rPr>
              <a:t>п. 1 ст. 188 ГК РФ</a:t>
            </a:r>
            <a:endParaRPr lang="en-US" sz="1000" dirty="0"/>
          </a:p>
        </p:txBody>
      </p:sp>
      <p:sp>
        <p:nvSpPr>
          <p:cNvPr id="36" name="Text 30"/>
          <p:cNvSpPr txBox="1"/>
          <p:nvPr/>
        </p:nvSpPr>
        <p:spPr>
          <a:xfrm>
            <a:off x="822960" y="5522976"/>
            <a:ext cx="6263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2718F"/>
                </a:solidFill>
              </a:rPr>
              <a:t>Хеш набора правил и входов — в отчёте: одинаковые документы дают одинаковый хеш. Решение пишется в журнал.</a:t>
            </a:r>
            <a:endParaRPr lang="en-US" sz="1150" dirty="0"/>
          </a:p>
        </p:txBody>
      </p:sp>
      <p:sp>
        <p:nvSpPr>
          <p:cNvPr id="37" name="Text 31"/>
          <p:cNvSpPr txBox="1"/>
          <p:nvPr/>
        </p:nvSpPr>
        <p:spPr>
          <a:xfrm>
            <a:off x="7616952" y="1572768"/>
            <a:ext cx="40261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Та же компания — другие факты</a:t>
            </a:r>
            <a:endParaRPr lang="en-US" sz="1400" dirty="0"/>
          </a:p>
        </p:txBody>
      </p:sp>
      <p:sp>
        <p:nvSpPr>
          <p:cNvPr id="38" name="Карточка"/>
          <p:cNvSpPr/>
          <p:nvPr/>
        </p:nvSpPr>
        <p:spPr>
          <a:xfrm>
            <a:off x="7616952" y="1984248"/>
            <a:ext cx="4026103" cy="1901952"/>
          </a:xfrm>
          <a:prstGeom prst="roundRect">
            <a:avLst>
              <a:gd name="adj" fmla="val 5769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9" name="Text 33"/>
          <p:cNvSpPr txBox="1"/>
          <p:nvPr/>
        </p:nvSpPr>
        <p:spPr>
          <a:xfrm>
            <a:off x="7872984" y="2185416"/>
            <a:ext cx="35140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Директор сменился 19 дней назад</a:t>
            </a:r>
            <a:endParaRPr lang="en-US" sz="1400" dirty="0"/>
          </a:p>
        </p:txBody>
      </p:sp>
      <p:sp>
        <p:nvSpPr>
          <p:cNvPr id="40" name="Вердикт: НА РАЗБОР"/>
          <p:cNvSpPr/>
          <p:nvPr/>
        </p:nvSpPr>
        <p:spPr>
          <a:xfrm>
            <a:off x="7872984" y="2752344"/>
            <a:ext cx="1887962" cy="292608"/>
          </a:xfrm>
          <a:prstGeom prst="roundRect">
            <a:avLst>
              <a:gd name="adj" fmla="val 50000"/>
            </a:avLst>
          </a:prstGeom>
          <a:solidFill>
            <a:srgbClr val="FFF1D4"/>
          </a:solidFill>
          <a:ln/>
        </p:spPr>
      </p:sp>
      <p:sp>
        <p:nvSpPr>
          <p:cNvPr id="41" name="Метка статуса"/>
          <p:cNvSpPr/>
          <p:nvPr/>
        </p:nvSpPr>
        <p:spPr>
          <a:xfrm>
            <a:off x="8010144" y="2852928"/>
            <a:ext cx="91440" cy="91440"/>
          </a:xfrm>
          <a:prstGeom prst="ellipse">
            <a:avLst/>
          </a:prstGeom>
          <a:solidFill>
            <a:srgbClr val="F5A300"/>
          </a:solidFill>
          <a:ln/>
        </p:spPr>
      </p:sp>
      <p:sp>
        <p:nvSpPr>
          <p:cNvPr id="42" name="Text 36"/>
          <p:cNvSpPr txBox="1"/>
          <p:nvPr/>
        </p:nvSpPr>
        <p:spPr>
          <a:xfrm>
            <a:off x="8174736" y="2752344"/>
            <a:ext cx="15222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7A4E00"/>
                </a:solidFill>
              </a:rPr>
              <a:t>НА РАЗБОР · P1 · 4 Ч</a:t>
            </a:r>
            <a:endParaRPr lang="en-US" sz="950" dirty="0"/>
          </a:p>
        </p:txBody>
      </p:sp>
      <p:sp>
        <p:nvSpPr>
          <p:cNvPr id="43" name="Text 37"/>
          <p:cNvSpPr txBox="1"/>
          <p:nvPr/>
        </p:nvSpPr>
        <p:spPr>
          <a:xfrm>
            <a:off x="7872984" y="3154680"/>
            <a:ext cx="35140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200" dirty="0"/>
          </a:p>
        </p:txBody>
      </p:sp>
      <p:sp>
        <p:nvSpPr>
          <p:cNvPr id="44" name="Карточка"/>
          <p:cNvSpPr/>
          <p:nvPr/>
        </p:nvSpPr>
        <p:spPr>
          <a:xfrm>
            <a:off x="7616952" y="4059936"/>
            <a:ext cx="4026103" cy="1901952"/>
          </a:xfrm>
          <a:prstGeom prst="roundRect">
            <a:avLst>
              <a:gd name="adj" fmla="val 5769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45" name="Text 39"/>
          <p:cNvSpPr txBox="1"/>
          <p:nvPr/>
        </p:nvSpPr>
        <p:spPr>
          <a:xfrm>
            <a:off x="7872984" y="4261104"/>
            <a:ext cx="35140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Основную МЧД отменили, осталось передоверие</a:t>
            </a:r>
            <a:endParaRPr lang="en-US" sz="1400" dirty="0"/>
          </a:p>
        </p:txBody>
      </p:sp>
      <p:sp>
        <p:nvSpPr>
          <p:cNvPr id="46" name="Вердикт: ОПРОВЕРГНУТО"/>
          <p:cNvSpPr/>
          <p:nvPr/>
        </p:nvSpPr>
        <p:spPr>
          <a:xfrm>
            <a:off x="7872984" y="4828032"/>
            <a:ext cx="1632570" cy="292608"/>
          </a:xfrm>
          <a:prstGeom prst="roundRect">
            <a:avLst>
              <a:gd name="adj" fmla="val 50000"/>
            </a:avLst>
          </a:prstGeom>
          <a:solidFill>
            <a:srgbClr val="FDE6E7"/>
          </a:solidFill>
          <a:ln/>
        </p:spPr>
      </p:sp>
      <p:sp>
        <p:nvSpPr>
          <p:cNvPr id="47" name="Метка статуса"/>
          <p:cNvSpPr/>
          <p:nvPr/>
        </p:nvSpPr>
        <p:spPr>
          <a:xfrm>
            <a:off x="8010144" y="4928616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48" name="Text 42"/>
          <p:cNvSpPr txBox="1"/>
          <p:nvPr/>
        </p:nvSpPr>
        <p:spPr>
          <a:xfrm>
            <a:off x="8174736" y="4828032"/>
            <a:ext cx="1266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A3161B"/>
                </a:solidFill>
              </a:rPr>
              <a:t>ОПРОВЕРГНУТО</a:t>
            </a:r>
            <a:endParaRPr lang="en-US" sz="950" dirty="0"/>
          </a:p>
        </p:txBody>
      </p:sp>
      <p:sp>
        <p:nvSpPr>
          <p:cNvPr id="49" name="Text 43"/>
          <p:cNvSpPr txBox="1"/>
          <p:nvPr/>
        </p:nvSpPr>
        <p:spPr>
          <a:xfrm>
            <a:off x="7872984" y="5230368"/>
            <a:ext cx="35140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С прекращением доверенности теряет силу и передоверие — п. 3 ст. 188 ГК РФ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НЕПРЕРЫВНЫЙ КОНТРОЛЬ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2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2718F"/>
                </a:solidFill>
              </a:rPr>
              <a:t>Сценарии examples/events/takeover.json и poa_revoked.json; команды mandat monitor и mandat attest-verify; статусы — W3C Bitstring Status List v1.0; события — Standard Webhooks</a:t>
            </a:r>
            <a:endParaRPr lang="en-US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5989320" cy="4572000"/>
          </a:xfrm>
          <a:prstGeom prst="roundRect">
            <a:avLst>
              <a:gd name="adj" fmla="val 24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Плитка значка"/>
          <p:cNvSpPr/>
          <p:nvPr/>
        </p:nvSpPr>
        <p:spPr>
          <a:xfrm>
            <a:off x="822960" y="180136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7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90195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17320" y="1801368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Демо: три события за 2 ч 55 мин</a:t>
            </a:r>
            <a:endParaRPr lang="en-US" sz="1500" dirty="0"/>
          </a:p>
        </p:txBody>
      </p:sp>
      <p:sp>
        <p:nvSpPr>
          <p:cNvPr id="9" name="Линия"/>
          <p:cNvSpPr/>
          <p:nvPr/>
        </p:nvSpPr>
        <p:spPr>
          <a:xfrm>
            <a:off x="1207008" y="2487168"/>
            <a:ext cx="0" cy="1005840"/>
          </a:xfrm>
          <a:prstGeom prst="line">
            <a:avLst/>
          </a:prstGeom>
          <a:noFill/>
          <a:ln w="25400">
            <a:solidFill>
              <a:srgbClr val="C9DCFA"/>
            </a:solidFill>
            <a:prstDash val="solid"/>
          </a:ln>
        </p:spPr>
      </p:sp>
      <p:sp>
        <p:nvSpPr>
          <p:cNvPr id="10" name="Время события"/>
          <p:cNvSpPr/>
          <p:nvPr/>
        </p:nvSpPr>
        <p:spPr>
          <a:xfrm>
            <a:off x="822960" y="2377440"/>
            <a:ext cx="768096" cy="329184"/>
          </a:xfrm>
          <a:prstGeom prst="roundRect">
            <a:avLst>
              <a:gd name="adj" fmla="val 50000"/>
            </a:avLst>
          </a:prstGeom>
          <a:solidFill>
            <a:srgbClr val="0A297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22960" y="2377440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09:10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783080" y="235915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в ЕГРЮЛ — новый директор</a:t>
            </a:r>
            <a:endParaRPr lang="en-US" sz="1350" dirty="0"/>
          </a:p>
        </p:txBody>
      </p:sp>
      <p:sp>
        <p:nvSpPr>
          <p:cNvPr id="13" name="Время события"/>
          <p:cNvSpPr/>
          <p:nvPr/>
        </p:nvSpPr>
        <p:spPr>
          <a:xfrm>
            <a:off x="822960" y="2880360"/>
            <a:ext cx="768096" cy="329184"/>
          </a:xfrm>
          <a:prstGeom prst="roundRect">
            <a:avLst>
              <a:gd name="adj" fmla="val 50000"/>
            </a:avLst>
          </a:prstGeom>
          <a:solidFill>
            <a:srgbClr val="0A2973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22960" y="2880360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11:40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783080" y="286207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новая МЧД на нового представителя</a:t>
            </a:r>
            <a:endParaRPr lang="en-US" sz="1350" dirty="0"/>
          </a:p>
        </p:txBody>
      </p:sp>
      <p:sp>
        <p:nvSpPr>
          <p:cNvPr id="16" name="Время события"/>
          <p:cNvSpPr/>
          <p:nvPr/>
        </p:nvSpPr>
        <p:spPr>
          <a:xfrm>
            <a:off x="822960" y="3383280"/>
            <a:ext cx="768096" cy="329184"/>
          </a:xfrm>
          <a:prstGeom prst="roundRect">
            <a:avLst>
              <a:gd name="adj" fmla="val 50000"/>
            </a:avLst>
          </a:prstGeom>
          <a:solidFill>
            <a:srgbClr val="0A297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22960" y="3383280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bg1"/>
                </a:solidFill>
              </a:rPr>
              <a:t>12:05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783080" y="33649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заявка на смену контактного телефона</a:t>
            </a:r>
            <a:endParaRPr lang="en-US" sz="1350" dirty="0"/>
          </a:p>
        </p:txBody>
      </p:sp>
      <p:sp>
        <p:nvSpPr>
          <p:cNvPr id="19" name="Карточка"/>
          <p:cNvSpPr/>
          <p:nvPr/>
        </p:nvSpPr>
        <p:spPr>
          <a:xfrm>
            <a:off x="822960" y="3904488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FDE6E7"/>
          </a:solidFill>
          <a:ln w="9525">
            <a:solidFill>
              <a:srgbClr val="F6B9BC"/>
            </a:solidFill>
            <a:prstDash val="solid"/>
          </a:ln>
        </p:spPr>
      </p:sp>
      <p:sp>
        <p:nvSpPr>
          <p:cNvPr id="20" name="Круг значка"/>
          <p:cNvSpPr/>
          <p:nvPr/>
        </p:nvSpPr>
        <p:spPr>
          <a:xfrm>
            <a:off x="1005840" y="4087368"/>
            <a:ext cx="384048" cy="384048"/>
          </a:xfrm>
          <a:prstGeom prst="ellipse">
            <a:avLst/>
          </a:prstGeom>
          <a:solidFill>
            <a:srgbClr val="E5484D"/>
          </a:solidFill>
          <a:ln/>
        </p:spPr>
      </p:sp>
      <p:pic>
        <p:nvPicPr>
          <p:cNvPr id="21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331" y="4171859"/>
            <a:ext cx="215067" cy="215067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536192" y="4087368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A3161B"/>
                </a:solidFill>
              </a:rPr>
              <a:t>Тревога «возможный захват» · высокий риск</a:t>
            </a:r>
            <a:endParaRPr lang="en-US" sz="1400" dirty="0"/>
          </a:p>
        </p:txBody>
      </p:sp>
      <p:sp>
        <p:nvSpPr>
          <p:cNvPr id="23" name="Список"/>
          <p:cNvSpPr txBox="1"/>
          <p:nvPr/>
        </p:nvSpPr>
        <p:spPr>
          <a:xfrm>
            <a:off x="1051560" y="4617720"/>
            <a:ext cx="49834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передать кейс в антифрод и уведомить прежних подписантов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удостоверения компании — в статус «приостановлено»</a:t>
            </a:r>
            <a:endParaRPr lang="en-US" sz="1250" dirty="0"/>
          </a:p>
        </p:txBody>
      </p:sp>
      <p:sp>
        <p:nvSpPr>
          <p:cNvPr id="24" name="Карточка"/>
          <p:cNvSpPr/>
          <p:nvPr/>
        </p:nvSpPr>
        <p:spPr>
          <a:xfrm>
            <a:off x="6766560" y="1572768"/>
            <a:ext cx="4876495" cy="1414272"/>
          </a:xfrm>
          <a:prstGeom prst="roundRect">
            <a:avLst>
              <a:gd name="adj" fmla="val 7759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5" name="Плитка значка"/>
          <p:cNvSpPr/>
          <p:nvPr/>
        </p:nvSpPr>
        <p:spPr>
          <a:xfrm>
            <a:off x="6995160" y="177393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26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7697" y="1866473"/>
            <a:ext cx="235549" cy="235549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7543800" y="1773936"/>
            <a:ext cx="39163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Отменили основную МЧД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6995160" y="2286000"/>
            <a:ext cx="4419295" cy="637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удостоверения по всей цепочке передоверия — «отозвано»; банку — рекомендация приостановить права (п. 3 ст. 188 ГК РФ)</a:t>
            </a:r>
            <a:endParaRPr lang="en-US" sz="1200" dirty="0"/>
          </a:p>
        </p:txBody>
      </p:sp>
      <p:sp>
        <p:nvSpPr>
          <p:cNvPr id="29" name="Карточка"/>
          <p:cNvSpPr/>
          <p:nvPr/>
        </p:nvSpPr>
        <p:spPr>
          <a:xfrm>
            <a:off x="6766560" y="3151632"/>
            <a:ext cx="4876495" cy="1414272"/>
          </a:xfrm>
          <a:prstGeom prst="roundRect">
            <a:avLst>
              <a:gd name="adj" fmla="val 7759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0" name="Плитка значка"/>
          <p:cNvSpPr/>
          <p:nvPr/>
        </p:nvSpPr>
        <p:spPr>
          <a:xfrm>
            <a:off x="6995160" y="3352800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31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7697" y="3445337"/>
            <a:ext cx="235549" cy="235549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7543800" y="3352800"/>
            <a:ext cx="39163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Сменился руководитель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6995160" y="3864864"/>
            <a:ext cx="4419295" cy="637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его собственные удостоверения без МЧД — «отозвано»; права по МЧД остаются: смена директора их не прекращает</a:t>
            </a:r>
            <a:endParaRPr lang="en-US" sz="1200" dirty="0"/>
          </a:p>
        </p:txBody>
      </p:sp>
      <p:sp>
        <p:nvSpPr>
          <p:cNvPr id="34" name="Карточка"/>
          <p:cNvSpPr/>
          <p:nvPr/>
        </p:nvSpPr>
        <p:spPr>
          <a:xfrm>
            <a:off x="6766560" y="4730496"/>
            <a:ext cx="4876495" cy="1414272"/>
          </a:xfrm>
          <a:prstGeom prst="roundRect">
            <a:avLst>
              <a:gd name="adj" fmla="val 7759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5" name="Плитка значка"/>
          <p:cNvSpPr/>
          <p:nvPr/>
        </p:nvSpPr>
        <p:spPr>
          <a:xfrm>
            <a:off x="6995160" y="4931664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36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7697" y="5024201"/>
            <a:ext cx="235549" cy="235549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7543800" y="4931664"/>
            <a:ext cx="39163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Проверка без доступа к базе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6995160" y="5443728"/>
            <a:ext cx="4419295" cy="637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интернет-банк и антифрод сами видят статус удостоверения; права в ДБО меняет банк, а не «Мандат»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КАЧЕСТВО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2"/>
                </a:solidFill>
              </a:rPr>
              <a:t>Ноль ложных «подтверждено» на 288 кейсах, где подтверждать нельзя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2718F"/>
                </a:solidFill>
              </a:rPr>
              <a:t>Воспроизводится: mandat eval --per-defect 6; pytest tests/test_properties.py tests/test_cedar.py tests/test_redteam_fuzz.py; python scripts/bench.py → evidence.json от 27.10.2026, v0.3.0: 1600 автотестов проходят</a:t>
            </a:r>
            <a:endParaRPr lang="en-US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4892040" cy="640080"/>
          </a:xfrm>
          <a:prstGeom prst="roundRect">
            <a:avLst>
              <a:gd name="adj" fmla="val 1714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49808" y="157276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A9F68"/>
                </a:solidFill>
              </a:rPr>
              <a:t>0 из 288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423160" y="157276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chemeClr val="tx1"/>
                </a:solidFill>
              </a:rPr>
              <a:t>ложных «подтверждено»; верхняя граница 95% — 1,3%</a:t>
            </a:r>
            <a:endParaRPr lang="en-US" sz="1150" dirty="0"/>
          </a:p>
        </p:txBody>
      </p:sp>
      <p:sp>
        <p:nvSpPr>
          <p:cNvPr id="8" name="Карточка"/>
          <p:cNvSpPr/>
          <p:nvPr/>
        </p:nvSpPr>
        <p:spPr>
          <a:xfrm>
            <a:off x="548640" y="2322576"/>
            <a:ext cx="4892040" cy="640080"/>
          </a:xfrm>
          <a:prstGeom prst="roundRect">
            <a:avLst>
              <a:gd name="adj" fmla="val 1714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49808" y="2322576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chemeClr val="accent1"/>
                </a:solidFill>
              </a:rPr>
              <a:t>294 / 294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423160" y="232257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chemeClr val="tx1"/>
                </a:solidFill>
              </a:rPr>
              <a:t>совпадение с ожидаемым вердиктом, 49 видов ситуаций; на отложенном seed — 0 расхождений</a:t>
            </a:r>
            <a:endParaRPr lang="en-US" sz="1150" dirty="0"/>
          </a:p>
        </p:txBody>
      </p:sp>
      <p:sp>
        <p:nvSpPr>
          <p:cNvPr id="11" name="Карточка"/>
          <p:cNvSpPr/>
          <p:nvPr/>
        </p:nvSpPr>
        <p:spPr>
          <a:xfrm>
            <a:off x="548640" y="3072384"/>
            <a:ext cx="4892040" cy="640080"/>
          </a:xfrm>
          <a:prstGeom prst="roundRect">
            <a:avLst>
              <a:gd name="adj" fmla="val 1714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49808" y="30723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chemeClr val="accent1"/>
                </a:solidFill>
              </a:rPr>
              <a:t>8 814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2423160" y="3072384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chemeClr val="tx1"/>
                </a:solidFill>
              </a:rPr>
              <a:t>мутаций сценариев: ни одного ложного «подтверждено» и ни одного падения</a:t>
            </a:r>
            <a:endParaRPr lang="en-US" sz="1150" dirty="0"/>
          </a:p>
        </p:txBody>
      </p:sp>
      <p:sp>
        <p:nvSpPr>
          <p:cNvPr id="14" name="Карточка"/>
          <p:cNvSpPr/>
          <p:nvPr/>
        </p:nvSpPr>
        <p:spPr>
          <a:xfrm>
            <a:off x="548640" y="3822192"/>
            <a:ext cx="4892040" cy="640080"/>
          </a:xfrm>
          <a:prstGeom prst="roundRect">
            <a:avLst>
              <a:gd name="adj" fmla="val 1714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49808" y="3822192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chemeClr val="accent1"/>
                </a:solidFill>
              </a:rPr>
              <a:t>384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2423160" y="382219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chemeClr val="tx1"/>
                </a:solidFill>
              </a:rPr>
              <a:t>цепочки передоверия: решения совпали с независимой реализацией на Cedar</a:t>
            </a:r>
            <a:endParaRPr lang="en-US" sz="1150" dirty="0"/>
          </a:p>
        </p:txBody>
      </p:sp>
      <p:sp>
        <p:nvSpPr>
          <p:cNvPr id="17" name="Карточка"/>
          <p:cNvSpPr/>
          <p:nvPr/>
        </p:nvSpPr>
        <p:spPr>
          <a:xfrm>
            <a:off x="548640" y="4572000"/>
            <a:ext cx="4892040" cy="640080"/>
          </a:xfrm>
          <a:prstGeom prst="roundRect">
            <a:avLst>
              <a:gd name="adj" fmla="val 1714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49808" y="457200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chemeClr val="accent1"/>
                </a:solidFill>
              </a:rPr>
              <a:t>≈2,4 мс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242316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chemeClr val="tx1"/>
                </a:solidFill>
              </a:rPr>
              <a:t>медиана на кейс с разбором документов, без сети; 95% кейсов — быстрее 3,3 мс</a:t>
            </a:r>
            <a:endParaRPr lang="en-US" sz="1150" dirty="0"/>
          </a:p>
        </p:txBody>
      </p:sp>
      <p:sp>
        <p:nvSpPr>
          <p:cNvPr id="20" name="Карточка"/>
          <p:cNvSpPr/>
          <p:nvPr/>
        </p:nvSpPr>
        <p:spPr>
          <a:xfrm>
            <a:off x="5669280" y="1572768"/>
            <a:ext cx="5973775" cy="2615184"/>
          </a:xfrm>
          <a:prstGeom prst="roundRect">
            <a:avLst>
              <a:gd name="adj" fmla="val 419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5943600" y="1737360"/>
            <a:ext cx="5425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42557A"/>
                </a:solidFill>
              </a:rPr>
              <a:t>Ожидаемые вердикты 294 проверочных кейсов</a:t>
            </a:r>
            <a:endParaRPr lang="en-US" sz="1200" dirty="0"/>
          </a:p>
        </p:txBody>
      </p:sp>
      <p:graphicFrame>
        <p:nvGraphicFramePr>
          <p:cNvPr id="22" name="Диаграмма: ожидаемые вердикты корпуса" descr=""/>
          <p:cNvGraphicFramePr/>
          <p:nvPr/>
        </p:nvGraphicFramePr>
        <p:xfrm>
          <a:off x="5806440" y="2029968"/>
          <a:ext cx="5699455" cy="20848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Карточка"/>
          <p:cNvSpPr/>
          <p:nvPr/>
        </p:nvSpPr>
        <p:spPr>
          <a:xfrm>
            <a:off x="5669280" y="4370832"/>
            <a:ext cx="5973775" cy="950976"/>
          </a:xfrm>
          <a:prstGeom prst="roundRect">
            <a:avLst>
              <a:gd name="adj" fmla="val 11538"/>
            </a:avLst>
          </a:prstGeom>
          <a:solidFill>
            <a:srgbClr val="E6F0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24" name="Плитка значка"/>
          <p:cNvSpPr/>
          <p:nvPr/>
        </p:nvSpPr>
        <p:spPr>
          <a:xfrm>
            <a:off x="5897880" y="461772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25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464" y="4718304"/>
            <a:ext cx="256032" cy="256032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6492240" y="4370832"/>
            <a:ext cx="496793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A2973"/>
                </a:solidFill>
              </a:rPr>
              <a:t>Сверка с внешними эталонами, 27.10.2026: </a:t>
            </a:r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каноническая запись JCS (RFC 8785, 20 000 документов), дерево Меркла (RFC 6962), подпись — векторы W3C eddsa-jcs-2022: совпало</a:t>
            </a:r>
            <a:endParaRPr lang="en-US" sz="1200" dirty="0"/>
          </a:p>
        </p:txBody>
      </p:sp>
      <p:sp>
        <p:nvSpPr>
          <p:cNvPr id="27" name="Плашка вывода"/>
          <p:cNvSpPr/>
          <p:nvPr/>
        </p:nvSpPr>
        <p:spPr>
          <a:xfrm>
            <a:off x="548640" y="5413248"/>
            <a:ext cx="11094415" cy="731520"/>
          </a:xfrm>
          <a:prstGeom prst="roundRect">
            <a:avLst>
              <a:gd name="adj" fmla="val 15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8" name="Плитка значка"/>
          <p:cNvSpPr/>
          <p:nvPr/>
        </p:nvSpPr>
        <p:spPr>
          <a:xfrm>
            <a:off x="749808" y="555040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2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5650992"/>
            <a:ext cx="256032" cy="256032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389888" y="5413248"/>
            <a:ext cx="997884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уходит человеку — без проверки КЭП и разметки устава стенд не говорит «да». Реальная доля ошибок — стоп-критерий пилота.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ИИ ПОД КОНТРОЛЕМ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2"/>
                </a:solidFill>
              </a:rPr>
              <a:t>ИИ советует, но не решает: вердикт выносят правила, спорное — человек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2718F"/>
                </a:solidFill>
              </a:rPr>
              <a:t>Кодекс этики в сфере ИИ на финансовом рынке (информационное письмо Банка России № ИН-016-13/91 от 09.07.2025); CNews, 21.08.2026; 243-ФЗ от 26.07.2026, ст. 5 и 13; ADR-001, ADR-005; OWASP Top 10 for LLM Applications 2025</a:t>
            </a:r>
            <a:endParaRPr lang="en-US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1999427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Плитка значка"/>
          <p:cNvSpPr/>
          <p:nvPr/>
        </p:nvSpPr>
        <p:spPr>
          <a:xfrm>
            <a:off x="731520" y="1755648"/>
            <a:ext cx="438912" cy="438912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7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081" y="1852209"/>
            <a:ext cx="245791" cy="24579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31520" y="2267712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chemeClr val="tx2"/>
                </a:solidFill>
              </a:rPr>
              <a:t>Документ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743200"/>
            <a:ext cx="167024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устав, текстовое полномочие</a:t>
            </a:r>
            <a:endParaRPr lang="en-US" sz="1200" dirty="0"/>
          </a:p>
        </p:txBody>
      </p:sp>
      <p:sp>
        <p:nvSpPr>
          <p:cNvPr id="10" name="Стрелка"/>
          <p:cNvSpPr/>
          <p:nvPr/>
        </p:nvSpPr>
        <p:spPr>
          <a:xfrm>
            <a:off x="2584643" y="2487168"/>
            <a:ext cx="201168" cy="0"/>
          </a:xfrm>
          <a:prstGeom prst="line">
            <a:avLst/>
          </a:prstGeom>
          <a:noFill/>
          <a:ln w="22225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11" name="Карточка"/>
          <p:cNvSpPr/>
          <p:nvPr/>
        </p:nvSpPr>
        <p:spPr>
          <a:xfrm>
            <a:off x="2822387" y="1572768"/>
            <a:ext cx="1999427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2" name="Плитка значка"/>
          <p:cNvSpPr/>
          <p:nvPr/>
        </p:nvSpPr>
        <p:spPr>
          <a:xfrm>
            <a:off x="3005267" y="1755648"/>
            <a:ext cx="438912" cy="438912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3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1828" y="1852209"/>
            <a:ext cx="245791" cy="245791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005267" y="2267712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chemeClr val="tx2"/>
                </a:solidFill>
              </a:rPr>
              <a:t>Модель в контуре банка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3005267" y="2743200"/>
            <a:ext cx="167024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предлагает факт с дословной цитатой</a:t>
            </a:r>
            <a:endParaRPr lang="en-US" sz="1200" dirty="0"/>
          </a:p>
        </p:txBody>
      </p:sp>
      <p:sp>
        <p:nvSpPr>
          <p:cNvPr id="16" name="Стрелка"/>
          <p:cNvSpPr/>
          <p:nvPr/>
        </p:nvSpPr>
        <p:spPr>
          <a:xfrm>
            <a:off x="4858390" y="2487168"/>
            <a:ext cx="201168" cy="0"/>
          </a:xfrm>
          <a:prstGeom prst="line">
            <a:avLst/>
          </a:prstGeom>
          <a:noFill/>
          <a:ln w="22225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17" name="Карточка"/>
          <p:cNvSpPr/>
          <p:nvPr/>
        </p:nvSpPr>
        <p:spPr>
          <a:xfrm>
            <a:off x="5096134" y="1572768"/>
            <a:ext cx="1999427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8" name="Плитка значка"/>
          <p:cNvSpPr/>
          <p:nvPr/>
        </p:nvSpPr>
        <p:spPr>
          <a:xfrm>
            <a:off x="5279014" y="1755648"/>
            <a:ext cx="438912" cy="438912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5575" y="1852209"/>
            <a:ext cx="245791" cy="245791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279014" y="2267712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chemeClr val="tx2"/>
                </a:solidFill>
              </a:rPr>
              <a:t>Шлюз цитат</a:t>
            </a:r>
            <a:endParaRPr lang="en-US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5279014" y="2743200"/>
            <a:ext cx="167024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нет цитаты в документе — нет факта</a:t>
            </a:r>
            <a:endParaRPr lang="en-US" sz="1200" dirty="0"/>
          </a:p>
        </p:txBody>
      </p:sp>
      <p:sp>
        <p:nvSpPr>
          <p:cNvPr id="22" name="Стрелка"/>
          <p:cNvSpPr/>
          <p:nvPr/>
        </p:nvSpPr>
        <p:spPr>
          <a:xfrm>
            <a:off x="7132137" y="2487168"/>
            <a:ext cx="201168" cy="0"/>
          </a:xfrm>
          <a:prstGeom prst="line">
            <a:avLst/>
          </a:prstGeom>
          <a:noFill/>
          <a:ln w="22225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23" name="Карточка"/>
          <p:cNvSpPr/>
          <p:nvPr/>
        </p:nvSpPr>
        <p:spPr>
          <a:xfrm>
            <a:off x="7369881" y="1572768"/>
            <a:ext cx="1999427" cy="182880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4" name="Плитка значка"/>
          <p:cNvSpPr/>
          <p:nvPr/>
        </p:nvSpPr>
        <p:spPr>
          <a:xfrm>
            <a:off x="7552761" y="1755648"/>
            <a:ext cx="438912" cy="438912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25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9322" y="1852209"/>
            <a:ext cx="245791" cy="245791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552761" y="2267712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chemeClr val="bg1"/>
                </a:solidFill>
              </a:rPr>
              <a:t>39 правил с нормой</a:t>
            </a:r>
            <a:endParaRPr lang="en-US" sz="1350" dirty="0"/>
          </a:p>
        </p:txBody>
      </p:sp>
      <p:sp>
        <p:nvSpPr>
          <p:cNvPr id="27" name="Text 21"/>
          <p:cNvSpPr txBox="1"/>
          <p:nvPr/>
        </p:nvSpPr>
        <p:spPr>
          <a:xfrm>
            <a:off x="7552761" y="2743200"/>
            <a:ext cx="167024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FE3FF"/>
                </a:solidFill>
              </a:rPr>
              <a:t>выносят вердикт</a:t>
            </a:r>
            <a:endParaRPr lang="en-US" sz="1200" dirty="0"/>
          </a:p>
        </p:txBody>
      </p:sp>
      <p:sp>
        <p:nvSpPr>
          <p:cNvPr id="28" name="Стрелка"/>
          <p:cNvSpPr/>
          <p:nvPr/>
        </p:nvSpPr>
        <p:spPr>
          <a:xfrm>
            <a:off x="9405884" y="2487168"/>
            <a:ext cx="201168" cy="0"/>
          </a:xfrm>
          <a:prstGeom prst="line">
            <a:avLst/>
          </a:prstGeom>
          <a:noFill/>
          <a:ln w="22225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29" name="Карточка"/>
          <p:cNvSpPr/>
          <p:nvPr/>
        </p:nvSpPr>
        <p:spPr>
          <a:xfrm>
            <a:off x="9643628" y="1572768"/>
            <a:ext cx="1999427" cy="1828800"/>
          </a:xfrm>
          <a:prstGeom prst="roundRect">
            <a:avLst>
              <a:gd name="adj" fmla="val 60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0" name="Плитка значка"/>
          <p:cNvSpPr/>
          <p:nvPr/>
        </p:nvSpPr>
        <p:spPr>
          <a:xfrm>
            <a:off x="9826508" y="1755648"/>
            <a:ext cx="438912" cy="438912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31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3069" y="1852209"/>
            <a:ext cx="245791" cy="245791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9826508" y="2267712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chemeClr val="tx2"/>
                </a:solidFill>
              </a:rPr>
              <a:t>Человек</a:t>
            </a:r>
            <a:endParaRPr lang="en-US" sz="1350" dirty="0"/>
          </a:p>
        </p:txBody>
      </p:sp>
      <p:sp>
        <p:nvSpPr>
          <p:cNvPr id="33" name="Text 26"/>
          <p:cNvSpPr txBox="1"/>
          <p:nvPr/>
        </p:nvSpPr>
        <p:spPr>
          <a:xfrm>
            <a:off x="9826508" y="2743200"/>
            <a:ext cx="167024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разбирает спорное; клиент может оспорить</a:t>
            </a:r>
            <a:endParaRPr lang="en-US" sz="1200" dirty="0"/>
          </a:p>
        </p:txBody>
      </p:sp>
      <p:sp>
        <p:nvSpPr>
          <p:cNvPr id="34" name="Карточка"/>
          <p:cNvSpPr/>
          <p:nvPr/>
        </p:nvSpPr>
        <p:spPr>
          <a:xfrm>
            <a:off x="548640" y="3630168"/>
            <a:ext cx="11094415" cy="566928"/>
          </a:xfrm>
          <a:prstGeom prst="roundRect">
            <a:avLst>
              <a:gd name="adj" fmla="val 19355"/>
            </a:avLst>
          </a:prstGeom>
          <a:solidFill>
            <a:srgbClr val="E6F0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22960" y="3630168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A2973"/>
                </a:solidFill>
              </a:rPr>
              <a:t>В логике Кодекса этики в сфере ИИ на финансовом рынке (Банк России, 2025). </a:t>
            </a:r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По сообщениям СМИ, ВТБ присоединился к Кодексу в августе 2026</a:t>
            </a:r>
            <a:endParaRPr lang="en-US" sz="1300" dirty="0"/>
          </a:p>
        </p:txBody>
      </p:sp>
      <p:sp>
        <p:nvSpPr>
          <p:cNvPr id="36" name="Карточка"/>
          <p:cNvSpPr/>
          <p:nvPr/>
        </p:nvSpPr>
        <p:spPr>
          <a:xfrm>
            <a:off x="548640" y="4425696"/>
            <a:ext cx="2602154" cy="1719072"/>
          </a:xfrm>
          <a:prstGeom prst="roundRect">
            <a:avLst>
              <a:gd name="adj" fmla="val 638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7" name="Плитка значка"/>
          <p:cNvSpPr/>
          <p:nvPr/>
        </p:nvSpPr>
        <p:spPr>
          <a:xfrm>
            <a:off x="731520" y="4572000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38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987" y="4652467"/>
            <a:ext cx="204826" cy="204826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1188720" y="4572000"/>
            <a:ext cx="18249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chemeClr val="tx2"/>
                </a:solidFill>
              </a:rPr>
              <a:t>Прозрачность</a:t>
            </a:r>
            <a:endParaRPr lang="en-US" sz="1350" dirty="0"/>
          </a:p>
        </p:txBody>
      </p:sp>
      <p:sp>
        <p:nvSpPr>
          <p:cNvPr id="40" name="Text 32"/>
          <p:cNvSpPr txBox="1"/>
          <p:nvPr/>
        </p:nvSpPr>
        <p:spPr>
          <a:xfrm>
            <a:off x="731520" y="5029200"/>
            <a:ext cx="225468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у каждого вывода — норма и ссылка на поле документа; отчёт сам пишет, где на стенде заглушка</a:t>
            </a:r>
            <a:endParaRPr lang="en-US" sz="1200" dirty="0"/>
          </a:p>
        </p:txBody>
      </p:sp>
      <p:sp>
        <p:nvSpPr>
          <p:cNvPr id="41" name="Карточка"/>
          <p:cNvSpPr/>
          <p:nvPr/>
        </p:nvSpPr>
        <p:spPr>
          <a:xfrm>
            <a:off x="3379394" y="4425696"/>
            <a:ext cx="2602154" cy="1719072"/>
          </a:xfrm>
          <a:prstGeom prst="roundRect">
            <a:avLst>
              <a:gd name="adj" fmla="val 638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42" name="Плитка значка"/>
          <p:cNvSpPr/>
          <p:nvPr/>
        </p:nvSpPr>
        <p:spPr>
          <a:xfrm>
            <a:off x="3562274" y="4572000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43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42741" y="4652467"/>
            <a:ext cx="204826" cy="204826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4019474" y="4572000"/>
            <a:ext cx="18249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chemeClr val="tx2"/>
                </a:solidFill>
              </a:rPr>
              <a:t>Человек в контуре</a:t>
            </a:r>
            <a:endParaRPr lang="en-US" sz="1350" dirty="0"/>
          </a:p>
        </p:txBody>
      </p:sp>
      <p:sp>
        <p:nvSpPr>
          <p:cNvPr id="45" name="Text 36"/>
          <p:cNvSpPr txBox="1"/>
          <p:nvPr/>
        </p:nvSpPr>
        <p:spPr>
          <a:xfrm>
            <a:off x="3562274" y="5029200"/>
            <a:ext cx="225468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человекоцентричность: спорное решает сотрудник, автоматический вердикт клиент может оспорить у человека</a:t>
            </a:r>
            <a:endParaRPr lang="en-US" sz="1200" dirty="0"/>
          </a:p>
        </p:txBody>
      </p:sp>
      <p:sp>
        <p:nvSpPr>
          <p:cNvPr id="46" name="Карточка"/>
          <p:cNvSpPr/>
          <p:nvPr/>
        </p:nvSpPr>
        <p:spPr>
          <a:xfrm>
            <a:off x="6210148" y="4425696"/>
            <a:ext cx="2602154" cy="1719072"/>
          </a:xfrm>
          <a:prstGeom prst="roundRect">
            <a:avLst>
              <a:gd name="adj" fmla="val 638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47" name="Плитка значка"/>
          <p:cNvSpPr/>
          <p:nvPr/>
        </p:nvSpPr>
        <p:spPr>
          <a:xfrm>
            <a:off x="6393028" y="4572000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48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3495" y="4652467"/>
            <a:ext cx="204826" cy="204826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6850228" y="4572000"/>
            <a:ext cx="18249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chemeClr val="tx2"/>
                </a:solidFill>
              </a:rPr>
              <a:t>Безопасность</a:t>
            </a:r>
            <a:endParaRPr lang="en-US" sz="1350" dirty="0"/>
          </a:p>
        </p:txBody>
      </p:sp>
      <p:sp>
        <p:nvSpPr>
          <p:cNvPr id="50" name="Text 40"/>
          <p:cNvSpPr txBox="1"/>
          <p:nvPr/>
        </p:nvSpPr>
        <p:spPr>
          <a:xfrm>
            <a:off x="6393028" y="5029200"/>
            <a:ext cx="225468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модель on-prem и по умолчанию выключена — без неё продукт работает полностью; ПДн псевдонимизированы</a:t>
            </a:r>
            <a:endParaRPr lang="en-US" sz="1200" dirty="0"/>
          </a:p>
        </p:txBody>
      </p:sp>
      <p:sp>
        <p:nvSpPr>
          <p:cNvPr id="51" name="Карточка"/>
          <p:cNvSpPr/>
          <p:nvPr/>
        </p:nvSpPr>
        <p:spPr>
          <a:xfrm>
            <a:off x="9040901" y="4425696"/>
            <a:ext cx="2602154" cy="1719072"/>
          </a:xfrm>
          <a:prstGeom prst="roundRect">
            <a:avLst>
              <a:gd name="adj" fmla="val 638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52" name="Плитка значка"/>
          <p:cNvSpPr/>
          <p:nvPr/>
        </p:nvSpPr>
        <p:spPr>
          <a:xfrm>
            <a:off x="9223781" y="4572000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53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04249" y="4652467"/>
            <a:ext cx="204826" cy="204826"/>
          </a:xfrm>
          <a:prstGeom prst="rect">
            <a:avLst/>
          </a:prstGeom>
        </p:spPr>
      </p:pic>
      <p:sp>
        <p:nvSpPr>
          <p:cNvPr id="54" name="Text 43"/>
          <p:cNvSpPr txBox="1"/>
          <p:nvPr/>
        </p:nvSpPr>
        <p:spPr>
          <a:xfrm>
            <a:off x="9680981" y="4572000"/>
            <a:ext cx="18249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chemeClr val="tx2"/>
                </a:solidFill>
              </a:rPr>
              <a:t>Суверенность</a:t>
            </a:r>
            <a:endParaRPr lang="en-US" sz="1350" dirty="0"/>
          </a:p>
        </p:txBody>
      </p:sp>
      <p:sp>
        <p:nvSpPr>
          <p:cNvPr id="55" name="Text 44"/>
          <p:cNvSpPr txBox="1"/>
          <p:nvPr/>
        </p:nvSpPr>
        <p:spPr>
          <a:xfrm>
            <a:off x="9223781" y="5029200"/>
            <a:ext cx="225468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провайдер сменный: по 243-ФЗ с 01.03.2027 банкам могут предписать национальные модели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ЭФФЕКТ ДЛЯ ВТБ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2"/>
                </a:solidFill>
              </a:rPr>
              <a:t>Эффект в двух валютах: время сотрудников и предотвращённый ущерб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2718F"/>
                </a:solidFill>
              </a:rPr>
              <a:t>ВТБ, МСФО за 1П 2026 (≈1,8 млн предприятий и предпринимателей; пересказ пресс-релиза, altapress.ru; первичный источник не открыт); Банк России, I–II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5432908" cy="3611880"/>
          </a:xfrm>
          <a:prstGeom prst="roundRect">
            <a:avLst>
              <a:gd name="adj" fmla="val 3038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Плитка значка"/>
          <p:cNvSpPr/>
          <p:nvPr/>
        </p:nvSpPr>
        <p:spPr>
          <a:xfrm>
            <a:off x="804672" y="177393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7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209" y="1866473"/>
            <a:ext cx="235549" cy="23554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53312" y="1773936"/>
            <a:ext cx="44270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Высвобождение нагрузки, ставок в год</a:t>
            </a:r>
            <a:endParaRPr lang="en-US" sz="1400" dirty="0"/>
          </a:p>
        </p:txBody>
      </p:sp>
      <p:graphicFrame>
        <p:nvGraphicFramePr>
          <p:cNvPr id="9" name="Диаграмма: Высвобождение нагрузки, ставок в год" descr=""/>
          <p:cNvGraphicFramePr/>
          <p:nvPr/>
        </p:nvGraphicFramePr>
        <p:xfrm>
          <a:off x="777240" y="2258568"/>
          <a:ext cx="4975708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804672" y="4297680"/>
            <a:ext cx="49208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2557A"/>
                </a:solidFill>
              </a:rPr>
              <a:t>≈1,8 млн предприятий и ИП × доля с событием представительства (10 / 15 / 25%) × минуты на кейс с разбором (20 / 30 / 40) ÷ 60 ÷ 1 800 ч на ставку</a:t>
            </a:r>
            <a:endParaRPr lang="en-US" sz="1100" dirty="0"/>
          </a:p>
        </p:txBody>
      </p:sp>
      <p:sp>
        <p:nvSpPr>
          <p:cNvPr id="11" name="Карточка"/>
          <p:cNvSpPr/>
          <p:nvPr/>
        </p:nvSpPr>
        <p:spPr>
          <a:xfrm>
            <a:off x="6210148" y="1572768"/>
            <a:ext cx="5432908" cy="3611880"/>
          </a:xfrm>
          <a:prstGeom prst="roundRect">
            <a:avLst>
              <a:gd name="adj" fmla="val 3038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2" name="Плитка значка"/>
          <p:cNvSpPr/>
          <p:nvPr/>
        </p:nvSpPr>
        <p:spPr>
          <a:xfrm>
            <a:off x="6466180" y="177393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3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8717" y="1866473"/>
            <a:ext cx="235549" cy="23554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014820" y="1773936"/>
            <a:ext cx="44270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Предотвращённый ущерб, млн ₽ в год</a:t>
            </a:r>
            <a:endParaRPr lang="en-US" sz="1400" dirty="0"/>
          </a:p>
        </p:txBody>
      </p:sp>
      <p:graphicFrame>
        <p:nvGraphicFramePr>
          <p:cNvPr id="15" name="Диаграмма: Предотвращённый ущерб, млн ₽ в год" descr=""/>
          <p:cNvGraphicFramePr/>
          <p:nvPr/>
        </p:nvGraphicFramePr>
        <p:xfrm>
          <a:off x="6438748" y="2258568"/>
          <a:ext cx="4975708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6" name="Text 10"/>
          <p:cNvSpPr txBox="1"/>
          <p:nvPr/>
        </p:nvSpPr>
        <p:spPr>
          <a:xfrm>
            <a:off x="6466180" y="4297680"/>
            <a:ext cx="49208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2557A"/>
                </a:solidFill>
              </a:rPr>
              <a:t>818 операций против юрлиц за I кв. × 4 × доля ВТБ (15 / 20 / 25%) × доля случаев с полномочиями (10 / 25 / 40%) × 0,7 млн ₽</a:t>
            </a:r>
            <a:endParaRPr lang="en-US" sz="1100" dirty="0"/>
          </a:p>
        </p:txBody>
      </p:sp>
      <p:sp>
        <p:nvSpPr>
          <p:cNvPr id="17" name="Плашка вывода"/>
          <p:cNvSpPr/>
          <p:nvPr/>
        </p:nvSpPr>
        <p:spPr>
          <a:xfrm>
            <a:off x="548640" y="5413248"/>
            <a:ext cx="11094415" cy="731520"/>
          </a:xfrm>
          <a:prstGeom prst="roundRect">
            <a:avLst>
              <a:gd name="adj" fmla="val 15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8" name="Плитка значка"/>
          <p:cNvSpPr/>
          <p:nvPr/>
        </p:nvSpPr>
        <p:spPr>
          <a:xfrm>
            <a:off x="749808" y="555040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1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5650992"/>
            <a:ext cx="256032" cy="25603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389888" y="5413248"/>
            <a:ext cx="997884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chemeClr val="bg1"/>
                </a:solidFill>
              </a:rPr>
              <a:t>Сценарии, а не прогноз: доли и минуты — гипотезы команды, первые две недели пилота заменят их фактами ВТБ. База ущерба консервативна: во II кв. 2026 у юрлиц похищено свыше 830 млн ₽ против 573 млн ₽ в I кв.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ПОЧЕМУ СЕЙЧАС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2"/>
                </a:solidFill>
              </a:rPr>
              <a:t>МЧД стало втрое больше, а правила для банков меняются каждые полгода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2718F"/>
                </a:solidFill>
              </a:rPr>
              <a:t>63-ФЗ в ред. 476-ФЗ; Приказ Банка России № ОД-2506; Приказ Минцифры № 1001; ФНС, 27.07.2026; emchd.ru, 10.2024; 243-ФЗ; 210-ФЗ от 26.06.2026; Указание Банка России № 7220-У; 315-ФЗ; CNews, 12.02.2026 — комплект МЧД и КЭП</a:t>
            </a:r>
            <a:endParaRPr lang="en-US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7040880" cy="4572000"/>
          </a:xfrm>
          <a:prstGeom prst="roundRect">
            <a:avLst>
              <a:gd name="adj" fmla="val 24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Линия"/>
          <p:cNvSpPr/>
          <p:nvPr/>
        </p:nvSpPr>
        <p:spPr>
          <a:xfrm>
            <a:off x="2093976" y="1920240"/>
            <a:ext cx="0" cy="3600450"/>
          </a:xfrm>
          <a:prstGeom prst="line">
            <a:avLst/>
          </a:prstGeom>
          <a:noFill/>
          <a:ln w="25400">
            <a:solidFill>
              <a:srgbClr val="C9DC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80136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accent1"/>
                </a:solidFill>
              </a:rPr>
              <a:t>01.09.2024</a:t>
            </a:r>
            <a:endParaRPr lang="en-US" sz="1200" dirty="0"/>
          </a:p>
        </p:txBody>
      </p:sp>
      <p:sp>
        <p:nvSpPr>
          <p:cNvPr id="8" name="Точка шкалы"/>
          <p:cNvSpPr/>
          <p:nvPr/>
        </p:nvSpPr>
        <p:spPr>
          <a:xfrm>
            <a:off x="2029968" y="1865376"/>
            <a:ext cx="128016" cy="128016"/>
          </a:xfrm>
          <a:prstGeom prst="ellipse">
            <a:avLst/>
          </a:prstGeom>
          <a:solidFill>
            <a:srgbClr val="004CBC"/>
          </a:solidFill>
          <a:ln w="19050">
            <a:solidFill>
              <a:srgbClr val="004CB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50008" y="1764792"/>
            <a:ext cx="5056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МЧД обязательна для представителей юрлиц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31571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accent1"/>
                </a:solidFill>
              </a:rPr>
              <a:t>01.01.2026</a:t>
            </a:r>
            <a:endParaRPr lang="en-US" sz="1200" dirty="0"/>
          </a:p>
        </p:txBody>
      </p:sp>
      <p:sp>
        <p:nvSpPr>
          <p:cNvPr id="11" name="Точка шкалы"/>
          <p:cNvSpPr/>
          <p:nvPr/>
        </p:nvSpPr>
        <p:spPr>
          <a:xfrm>
            <a:off x="2029968" y="2379726"/>
            <a:ext cx="128016" cy="128016"/>
          </a:xfrm>
          <a:prstGeom prst="ellipse">
            <a:avLst/>
          </a:prstGeom>
          <a:solidFill>
            <a:srgbClr val="004CBC"/>
          </a:solidFill>
          <a:ln w="19050">
            <a:solidFill>
              <a:srgbClr val="004CB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350008" y="2279142"/>
            <a:ext cx="5056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12 признаков операций без согласия вместо 6 — Приказ № ОД-2506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283006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accent1"/>
                </a:solidFill>
              </a:rPr>
              <a:t>01.02.2026</a:t>
            </a:r>
            <a:endParaRPr lang="en-US" sz="1200" dirty="0"/>
          </a:p>
        </p:txBody>
      </p:sp>
      <p:sp>
        <p:nvSpPr>
          <p:cNvPr id="14" name="Точка шкалы"/>
          <p:cNvSpPr/>
          <p:nvPr/>
        </p:nvSpPr>
        <p:spPr>
          <a:xfrm>
            <a:off x="2029968" y="2894076"/>
            <a:ext cx="128016" cy="128016"/>
          </a:xfrm>
          <a:prstGeom prst="ellipse">
            <a:avLst/>
          </a:prstGeom>
          <a:solidFill>
            <a:srgbClr val="004CBC"/>
          </a:solidFill>
          <a:ln w="19050">
            <a:solidFill>
              <a:srgbClr val="004CB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350008" y="2793492"/>
            <a:ext cx="5056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новые реквизиты МЧД: СНИЛС и ИНН представителя — Приказ № 1001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34441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accent1"/>
                </a:solidFill>
              </a:rPr>
              <a:t>01.03.2026</a:t>
            </a:r>
            <a:endParaRPr lang="en-US" sz="1200" dirty="0"/>
          </a:p>
        </p:txBody>
      </p:sp>
      <p:sp>
        <p:nvSpPr>
          <p:cNvPr id="17" name="Точка шкалы"/>
          <p:cNvSpPr/>
          <p:nvPr/>
        </p:nvSpPr>
        <p:spPr>
          <a:xfrm>
            <a:off x="2029968" y="3408426"/>
            <a:ext cx="128016" cy="128016"/>
          </a:xfrm>
          <a:prstGeom prst="ellipse">
            <a:avLst/>
          </a:prstGeom>
          <a:solidFill>
            <a:srgbClr val="004CBC"/>
          </a:solidFill>
          <a:ln w="19050">
            <a:solidFill>
              <a:srgbClr val="004CB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50008" y="3307842"/>
            <a:ext cx="5056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реестр МЧД ищет по номеру и ИНН доверителя и представителя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385876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accent1"/>
                </a:solidFill>
              </a:rPr>
              <a:t>27.07.2026</a:t>
            </a:r>
            <a:endParaRPr lang="en-US" sz="1200" dirty="0"/>
          </a:p>
        </p:txBody>
      </p:sp>
      <p:sp>
        <p:nvSpPr>
          <p:cNvPr id="20" name="Точка шкалы"/>
          <p:cNvSpPr/>
          <p:nvPr/>
        </p:nvSpPr>
        <p:spPr>
          <a:xfrm>
            <a:off x="2029968" y="3922776"/>
            <a:ext cx="128016" cy="128016"/>
          </a:xfrm>
          <a:prstGeom prst="ellipse">
            <a:avLst/>
          </a:prstGeom>
          <a:solidFill>
            <a:srgbClr val="004CBC"/>
          </a:solidFill>
          <a:ln w="19050">
            <a:solidFill>
              <a:srgbClr val="004CB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50008" y="3822192"/>
            <a:ext cx="5056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в реестре ФНС зарегистрирована пятимиллионная МЧД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437311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accent1"/>
                </a:solidFill>
              </a:rPr>
              <a:t>01.09.2026</a:t>
            </a:r>
            <a:endParaRPr lang="en-US" sz="1200" dirty="0"/>
          </a:p>
        </p:txBody>
      </p:sp>
      <p:sp>
        <p:nvSpPr>
          <p:cNvPr id="23" name="Точка шкалы"/>
          <p:cNvSpPr/>
          <p:nvPr/>
        </p:nvSpPr>
        <p:spPr>
          <a:xfrm>
            <a:off x="2029968" y="4437126"/>
            <a:ext cx="128016" cy="128016"/>
          </a:xfrm>
          <a:prstGeom prst="ellipse">
            <a:avLst/>
          </a:prstGeom>
          <a:solidFill>
            <a:srgbClr val="004CBC"/>
          </a:solidFill>
          <a:ln w="19050">
            <a:solidFill>
              <a:srgbClr val="004CB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350008" y="4336542"/>
            <a:ext cx="5056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в силе закон об ИИ (243-ФЗ) и первые нормы антифрод-пакета (210-ФЗ)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488746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accent1"/>
                </a:solidFill>
              </a:rPr>
              <a:t>01.10.2026</a:t>
            </a:r>
            <a:endParaRPr lang="en-US" sz="1200" dirty="0"/>
          </a:p>
        </p:txBody>
      </p:sp>
      <p:sp>
        <p:nvSpPr>
          <p:cNvPr id="26" name="Точка шкалы"/>
          <p:cNvSpPr/>
          <p:nvPr/>
        </p:nvSpPr>
        <p:spPr>
          <a:xfrm>
            <a:off x="2029968" y="4951476"/>
            <a:ext cx="128016" cy="128016"/>
          </a:xfrm>
          <a:prstGeom prst="ellipse">
            <a:avLst/>
          </a:prstGeom>
          <a:solidFill>
            <a:srgbClr val="004CBC"/>
          </a:solidFill>
          <a:ln w="19050">
            <a:solidFill>
              <a:srgbClr val="004CB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350008" y="4850892"/>
            <a:ext cx="5056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изменения 821-П о защите информации при переводах (№ 7220-У)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540181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0AAFF"/>
                </a:solidFill>
              </a:rPr>
              <a:t>01.09.2027</a:t>
            </a:r>
            <a:endParaRPr lang="en-US" sz="1200" dirty="0"/>
          </a:p>
        </p:txBody>
      </p:sp>
      <p:sp>
        <p:nvSpPr>
          <p:cNvPr id="29" name="Точка шкалы"/>
          <p:cNvSpPr/>
          <p:nvPr/>
        </p:nvSpPr>
        <p:spPr>
          <a:xfrm>
            <a:off x="2029968" y="5465826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AA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350008" y="5365242"/>
            <a:ext cx="5056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chemeClr val="tx1"/>
                </a:solidFill>
              </a:rPr>
              <a:t>единая форма МЧД становится основной (315-ФЗ)</a:t>
            </a:r>
            <a:endParaRPr lang="en-US" sz="1250" dirty="0"/>
          </a:p>
        </p:txBody>
      </p:sp>
      <p:sp>
        <p:nvSpPr>
          <p:cNvPr id="31" name="Карточка"/>
          <p:cNvSpPr/>
          <p:nvPr/>
        </p:nvSpPr>
        <p:spPr>
          <a:xfrm>
            <a:off x="7818120" y="1572768"/>
            <a:ext cx="3824935" cy="1402080"/>
          </a:xfrm>
          <a:prstGeom prst="roundRect">
            <a:avLst>
              <a:gd name="adj" fmla="val 782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8074152" y="1682496"/>
            <a:ext cx="33128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chemeClr val="accent1"/>
                </a:solidFill>
              </a:rPr>
              <a:t>×3</a:t>
            </a:r>
            <a:endParaRPr lang="en-US" sz="3400" dirty="0"/>
          </a:p>
        </p:txBody>
      </p:sp>
      <p:sp>
        <p:nvSpPr>
          <p:cNvPr id="33" name="Text 31"/>
          <p:cNvSpPr txBox="1"/>
          <p:nvPr/>
        </p:nvSpPr>
        <p:spPr>
          <a:xfrm>
            <a:off x="8074152" y="2267712"/>
            <a:ext cx="3312871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2557A"/>
                </a:solidFill>
              </a:rPr>
              <a:t>МЧД в реестре ФНС за два года: ≈1,6 млн (10.2024) → более 5 млн (07.2026)</a:t>
            </a:r>
            <a:endParaRPr lang="en-US" sz="1150" dirty="0"/>
          </a:p>
        </p:txBody>
      </p:sp>
      <p:sp>
        <p:nvSpPr>
          <p:cNvPr id="34" name="Карточка"/>
          <p:cNvSpPr/>
          <p:nvPr/>
        </p:nvSpPr>
        <p:spPr>
          <a:xfrm>
            <a:off x="7818120" y="3157728"/>
            <a:ext cx="3824935" cy="1402080"/>
          </a:xfrm>
          <a:prstGeom prst="roundRect">
            <a:avLst>
              <a:gd name="adj" fmla="val 782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8074152" y="3267456"/>
            <a:ext cx="33128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chemeClr val="accent1"/>
                </a:solidFill>
              </a:rPr>
              <a:t>1,8 млн</a:t>
            </a:r>
            <a:endParaRPr lang="en-US" sz="3400" dirty="0"/>
          </a:p>
        </p:txBody>
      </p:sp>
      <p:sp>
        <p:nvSpPr>
          <p:cNvPr id="36" name="Text 34"/>
          <p:cNvSpPr txBox="1"/>
          <p:nvPr/>
        </p:nvSpPr>
        <p:spPr>
          <a:xfrm>
            <a:off x="8074152" y="3852672"/>
            <a:ext cx="3312871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2557A"/>
                </a:solidFill>
              </a:rPr>
              <a:t>предприятий и предпринимателей у ВТБ — у каждого есть подписанты, которые меняются</a:t>
            </a:r>
            <a:endParaRPr lang="en-US" sz="1150" dirty="0"/>
          </a:p>
        </p:txBody>
      </p:sp>
      <p:sp>
        <p:nvSpPr>
          <p:cNvPr id="37" name="Карточка"/>
          <p:cNvSpPr/>
          <p:nvPr/>
        </p:nvSpPr>
        <p:spPr>
          <a:xfrm>
            <a:off x="7818120" y="4742688"/>
            <a:ext cx="3824935" cy="1402080"/>
          </a:xfrm>
          <a:prstGeom prst="roundRect">
            <a:avLst>
              <a:gd name="adj" fmla="val 782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8074152" y="4852416"/>
            <a:ext cx="33128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 МЧД + КЭП</a:t>
            </a:r>
            <a:endParaRPr lang="en-US" sz="2600" dirty="0"/>
          </a:p>
        </p:txBody>
      </p:sp>
      <p:sp>
        <p:nvSpPr>
          <p:cNvPr id="39" name="Text 37"/>
          <p:cNvSpPr txBox="1"/>
          <p:nvPr/>
        </p:nvSpPr>
        <p:spPr>
          <a:xfrm>
            <a:off x="8074152" y="5437632"/>
            <a:ext cx="3312871" cy="65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2557A"/>
                </a:solidFill>
              </a:rPr>
              <a:t>комплект для представителя в «ВТБ Бизнес» с февраля 2026: поток доверенностей в банк растёт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МИРОВАЯ ПРАКТИКА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2"/>
                </a:solidFill>
              </a:rPr>
              <a:t>Мир движется к той же модели: полномочие представителя проверяют на дату и с доказательством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2718F"/>
                </a:solidFill>
              </a:rPr>
              <a:t>FATF, Рекомендация 10, п. 4 пояснительной записки (cfatf-gafic.org); Регламент (ЕС) 2024/1624, ст. 22 и 90; AMLA, финальный отчёт по RTS к ст. 28(1) AMLR, 30.09.2026; Директива (ЕС) 2025/25 (EUR-Lex); W3C, 15.05.2025; RFC 9162; CNCF; gleif.org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7276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42557A"/>
                </a:solidFill>
              </a:rPr>
              <a:t>Требования к банкам</a:t>
            </a:r>
            <a:endParaRPr lang="en-US" sz="1300" dirty="0"/>
          </a:p>
        </p:txBody>
      </p:sp>
      <p:sp>
        <p:nvSpPr>
          <p:cNvPr id="6" name="Карточка"/>
          <p:cNvSpPr/>
          <p:nvPr/>
        </p:nvSpPr>
        <p:spPr>
          <a:xfrm>
            <a:off x="548640" y="1956816"/>
            <a:ext cx="5394960" cy="1115568"/>
          </a:xfrm>
          <a:prstGeom prst="roundRect">
            <a:avLst>
              <a:gd name="adj" fmla="val 983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7" name="Плитка значка"/>
          <p:cNvSpPr/>
          <p:nvPr/>
        </p:nvSpPr>
        <p:spPr>
          <a:xfrm>
            <a:off x="749808" y="2157984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8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345" y="2250521"/>
            <a:ext cx="235549" cy="23554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98448" y="212140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chemeClr val="tx2"/>
                </a:solidFill>
              </a:rPr>
              <a:t>FATF · Рекомендация 10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298448" y="239572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chemeClr val="tx1"/>
                </a:solidFill>
              </a:rPr>
              <a:t>проверить, что лицо, действующее от имени клиента, уполномочено, и установить его личность</a:t>
            </a:r>
            <a:endParaRPr lang="en-US" sz="1150" dirty="0"/>
          </a:p>
        </p:txBody>
      </p:sp>
      <p:sp>
        <p:nvSpPr>
          <p:cNvPr id="11" name="Карточка"/>
          <p:cNvSpPr/>
          <p:nvPr/>
        </p:nvSpPr>
        <p:spPr>
          <a:xfrm>
            <a:off x="548640" y="3163824"/>
            <a:ext cx="5394960" cy="1115568"/>
          </a:xfrm>
          <a:prstGeom prst="roundRect">
            <a:avLst>
              <a:gd name="adj" fmla="val 983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2" name="Плитка значка"/>
          <p:cNvSpPr/>
          <p:nvPr/>
        </p:nvSpPr>
        <p:spPr>
          <a:xfrm>
            <a:off x="749808" y="3364992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3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345" y="3457529"/>
            <a:ext cx="235549" cy="23554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98448" y="332841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chemeClr val="tx2"/>
                </a:solidFill>
              </a:rPr>
              <a:t>ЕС · Регламент 2024/1624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1298448" y="3602736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chemeClr val="tx1"/>
                </a:solidFill>
              </a:rPr>
              <a:t>с 10.07.2027 — сведения о любом лице, действующем от имени клиента; финальный проект RTS AMLA по CDD передан Еврокомиссии 01.10.2026</a:t>
            </a:r>
            <a:endParaRPr lang="en-US" sz="1150" dirty="0"/>
          </a:p>
        </p:txBody>
      </p:sp>
      <p:sp>
        <p:nvSpPr>
          <p:cNvPr id="16" name="Карточка"/>
          <p:cNvSpPr/>
          <p:nvPr/>
        </p:nvSpPr>
        <p:spPr>
          <a:xfrm>
            <a:off x="548640" y="4370832"/>
            <a:ext cx="5394960" cy="1115568"/>
          </a:xfrm>
          <a:prstGeom prst="roundRect">
            <a:avLst>
              <a:gd name="adj" fmla="val 983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7" name="Плитка значка"/>
          <p:cNvSpPr/>
          <p:nvPr/>
        </p:nvSpPr>
        <p:spPr>
          <a:xfrm>
            <a:off x="749808" y="4572000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8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345" y="4664537"/>
            <a:ext cx="235549" cy="23554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298448" y="453542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chemeClr val="tx2"/>
                </a:solidFill>
              </a:rPr>
              <a:t>ЕС · Директива 2025/25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1298448" y="480974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chemeClr val="tx1"/>
                </a:solidFill>
              </a:rPr>
              <a:t>выписка о компании ЕС: кто представляет компанию и действуют ли по одному или совместно; цифровая доверенность ЕС — с 31.07.2028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6172200" y="1572768"/>
            <a:ext cx="5470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42557A"/>
                </a:solidFill>
              </a:rPr>
              <a:t>Открытые стандарты в основе «Мандата»</a:t>
            </a:r>
            <a:endParaRPr lang="en-US" sz="1300" dirty="0"/>
          </a:p>
        </p:txBody>
      </p:sp>
      <p:sp>
        <p:nvSpPr>
          <p:cNvPr id="22" name="Карточка"/>
          <p:cNvSpPr/>
          <p:nvPr/>
        </p:nvSpPr>
        <p:spPr>
          <a:xfrm>
            <a:off x="6172200" y="1956816"/>
            <a:ext cx="2666848" cy="1115568"/>
          </a:xfrm>
          <a:prstGeom prst="roundRect">
            <a:avLst>
              <a:gd name="adj" fmla="val 983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3" name="Плитка значка"/>
          <p:cNvSpPr/>
          <p:nvPr/>
        </p:nvSpPr>
        <p:spPr>
          <a:xfrm>
            <a:off x="6355080" y="2139696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24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9571" y="2224187"/>
            <a:ext cx="215067" cy="21506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830568" y="2139696"/>
            <a:ext cx="1889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chemeClr val="tx2"/>
                </a:solidFill>
              </a:rPr>
              <a:t>W3C VC 2.0</a:t>
            </a:r>
            <a:endParaRPr lang="en-US" sz="1250" dirty="0"/>
          </a:p>
        </p:txBody>
      </p:sp>
      <p:sp>
        <p:nvSpPr>
          <p:cNvPr id="26" name="Text 20"/>
          <p:cNvSpPr txBox="1"/>
          <p:nvPr/>
        </p:nvSpPr>
        <p:spPr>
          <a:xfrm>
            <a:off x="6355080" y="2578608"/>
            <a:ext cx="231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удостоверение проверки со списком статусов W3C</a:t>
            </a:r>
            <a:endParaRPr lang="en-US" sz="1100" dirty="0"/>
          </a:p>
        </p:txBody>
      </p:sp>
      <p:sp>
        <p:nvSpPr>
          <p:cNvPr id="27" name="Карточка"/>
          <p:cNvSpPr/>
          <p:nvPr/>
        </p:nvSpPr>
        <p:spPr>
          <a:xfrm>
            <a:off x="8976208" y="1956816"/>
            <a:ext cx="2666848" cy="1115568"/>
          </a:xfrm>
          <a:prstGeom prst="roundRect">
            <a:avLst>
              <a:gd name="adj" fmla="val 983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8" name="Плитка значка"/>
          <p:cNvSpPr/>
          <p:nvPr/>
        </p:nvSpPr>
        <p:spPr>
          <a:xfrm>
            <a:off x="9159088" y="2139696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2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3578" y="2224187"/>
            <a:ext cx="215067" cy="215067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634576" y="2139696"/>
            <a:ext cx="1889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chemeClr val="tx2"/>
                </a:solidFill>
              </a:rPr>
              <a:t>RFC 9162</a:t>
            </a:r>
            <a:endParaRPr lang="en-US" sz="1250" dirty="0"/>
          </a:p>
        </p:txBody>
      </p:sp>
      <p:sp>
        <p:nvSpPr>
          <p:cNvPr id="31" name="Text 24"/>
          <p:cNvSpPr txBox="1"/>
          <p:nvPr/>
        </p:nvSpPr>
        <p:spPr>
          <a:xfrm>
            <a:off x="9159088" y="2578608"/>
            <a:ext cx="231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журнал: доказательство одной записи без выдачи журнала</a:t>
            </a:r>
            <a:endParaRPr lang="en-US" sz="1100" dirty="0"/>
          </a:p>
        </p:txBody>
      </p:sp>
      <p:sp>
        <p:nvSpPr>
          <p:cNvPr id="32" name="Карточка"/>
          <p:cNvSpPr/>
          <p:nvPr/>
        </p:nvSpPr>
        <p:spPr>
          <a:xfrm>
            <a:off x="6172200" y="3163824"/>
            <a:ext cx="2666848" cy="1115568"/>
          </a:xfrm>
          <a:prstGeom prst="roundRect">
            <a:avLst>
              <a:gd name="adj" fmla="val 983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3" name="Плитка значка"/>
          <p:cNvSpPr/>
          <p:nvPr/>
        </p:nvSpPr>
        <p:spPr>
          <a:xfrm>
            <a:off x="6355080" y="3346704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34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9571" y="3431195"/>
            <a:ext cx="215067" cy="215067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6830568" y="3346704"/>
            <a:ext cx="1889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chemeClr val="tx2"/>
                </a:solidFill>
              </a:rPr>
              <a:t>Cedar · CNCF</a:t>
            </a:r>
            <a:endParaRPr lang="en-US" sz="1250" dirty="0"/>
          </a:p>
        </p:txBody>
      </p:sp>
      <p:sp>
        <p:nvSpPr>
          <p:cNvPr id="36" name="Text 28"/>
          <p:cNvSpPr txBox="1"/>
          <p:nvPr/>
        </p:nvSpPr>
        <p:spPr>
          <a:xfrm>
            <a:off x="6355080" y="3785616"/>
            <a:ext cx="231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вторая независимая реализация правил передоверия</a:t>
            </a:r>
            <a:endParaRPr lang="en-US" sz="1100" dirty="0"/>
          </a:p>
        </p:txBody>
      </p:sp>
      <p:sp>
        <p:nvSpPr>
          <p:cNvPr id="37" name="Карточка"/>
          <p:cNvSpPr/>
          <p:nvPr/>
        </p:nvSpPr>
        <p:spPr>
          <a:xfrm>
            <a:off x="8976208" y="3163824"/>
            <a:ext cx="2666848" cy="1115568"/>
          </a:xfrm>
          <a:prstGeom prst="roundRect">
            <a:avLst>
              <a:gd name="adj" fmla="val 983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8" name="Плитка значка"/>
          <p:cNvSpPr/>
          <p:nvPr/>
        </p:nvSpPr>
        <p:spPr>
          <a:xfrm>
            <a:off x="9159088" y="3346704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3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43578" y="3431195"/>
            <a:ext cx="215067" cy="215067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9634576" y="3346704"/>
            <a:ext cx="1889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chemeClr val="tx2"/>
                </a:solidFill>
              </a:rPr>
              <a:t>Standard Webhooks</a:t>
            </a:r>
            <a:endParaRPr lang="en-US" sz="1250" dirty="0"/>
          </a:p>
        </p:txBody>
      </p:sp>
      <p:sp>
        <p:nvSpPr>
          <p:cNvPr id="41" name="Text 32"/>
          <p:cNvSpPr txBox="1"/>
          <p:nvPr/>
        </p:nvSpPr>
        <p:spPr>
          <a:xfrm>
            <a:off x="9159088" y="3785616"/>
            <a:ext cx="231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подписанные события для антифрода банка</a:t>
            </a:r>
            <a:endParaRPr lang="en-US" sz="1100" dirty="0"/>
          </a:p>
        </p:txBody>
      </p:sp>
      <p:sp>
        <p:nvSpPr>
          <p:cNvPr id="42" name="Карточка"/>
          <p:cNvSpPr/>
          <p:nvPr/>
        </p:nvSpPr>
        <p:spPr>
          <a:xfrm>
            <a:off x="6172200" y="4370832"/>
            <a:ext cx="2666848" cy="1115568"/>
          </a:xfrm>
          <a:prstGeom prst="roundRect">
            <a:avLst>
              <a:gd name="adj" fmla="val 983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43" name="Плитка значка"/>
          <p:cNvSpPr/>
          <p:nvPr/>
        </p:nvSpPr>
        <p:spPr>
          <a:xfrm>
            <a:off x="6355080" y="4553712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44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9571" y="4638203"/>
            <a:ext cx="215067" cy="215067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6830568" y="4553712"/>
            <a:ext cx="1889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chemeClr val="tx2"/>
                </a:solidFill>
              </a:rPr>
              <a:t>GLEIF vLEI</a:t>
            </a:r>
            <a:endParaRPr lang="en-US" sz="1250" dirty="0"/>
          </a:p>
        </p:txBody>
      </p:sp>
      <p:sp>
        <p:nvSpPr>
          <p:cNvPr id="46" name="Text 36"/>
          <p:cNvSpPr txBox="1"/>
          <p:nvPr/>
        </p:nvSpPr>
        <p:spPr>
          <a:xfrm>
            <a:off x="6355080" y="4992624"/>
            <a:ext cx="231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ориентир: роль представителя как удостоверение (ISO 17442-3)</a:t>
            </a:r>
            <a:endParaRPr lang="en-US" sz="1100" dirty="0"/>
          </a:p>
        </p:txBody>
      </p:sp>
      <p:sp>
        <p:nvSpPr>
          <p:cNvPr id="47" name="Карточка"/>
          <p:cNvSpPr/>
          <p:nvPr/>
        </p:nvSpPr>
        <p:spPr>
          <a:xfrm>
            <a:off x="8976208" y="4370832"/>
            <a:ext cx="2666848" cy="1115568"/>
          </a:xfrm>
          <a:prstGeom prst="roundRect">
            <a:avLst>
              <a:gd name="adj" fmla="val 983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48" name="Плитка значка"/>
          <p:cNvSpPr/>
          <p:nvPr/>
        </p:nvSpPr>
        <p:spPr>
          <a:xfrm>
            <a:off x="9159088" y="4553712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4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43578" y="4638203"/>
            <a:ext cx="215067" cy="215067"/>
          </a:xfrm>
          <a:prstGeom prst="rect">
            <a:avLst/>
          </a:prstGeom>
        </p:spPr>
      </p:pic>
      <p:sp>
        <p:nvSpPr>
          <p:cNvPr id="50" name="Text 39"/>
          <p:cNvSpPr txBox="1"/>
          <p:nvPr/>
        </p:nvSpPr>
        <p:spPr>
          <a:xfrm>
            <a:off x="9634576" y="4553712"/>
            <a:ext cx="1889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chemeClr val="tx2"/>
                </a:solidFill>
              </a:rPr>
              <a:t>OWASP LLM Top 10</a:t>
            </a:r>
            <a:endParaRPr lang="en-US" sz="1250" dirty="0"/>
          </a:p>
        </p:txBody>
      </p:sp>
      <p:sp>
        <p:nvSpPr>
          <p:cNvPr id="51" name="Text 40"/>
          <p:cNvSpPr txBox="1"/>
          <p:nvPr/>
        </p:nvSpPr>
        <p:spPr>
          <a:xfrm>
            <a:off x="9159088" y="4992624"/>
            <a:ext cx="231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риски советника-ИИ разобраны по списку 2025 года</a:t>
            </a:r>
            <a:endParaRPr lang="en-US" sz="1100" dirty="0"/>
          </a:p>
        </p:txBody>
      </p:sp>
      <p:sp>
        <p:nvSpPr>
          <p:cNvPr id="52" name="Плашка вывода"/>
          <p:cNvSpPr/>
          <p:nvPr/>
        </p:nvSpPr>
        <p:spPr>
          <a:xfrm>
            <a:off x="548640" y="5623560"/>
            <a:ext cx="11094415" cy="521208"/>
          </a:xfrm>
          <a:prstGeom prst="roundRect">
            <a:avLst>
              <a:gd name="adj" fmla="val 21053"/>
            </a:avLst>
          </a:prstGeom>
          <a:solidFill>
            <a:srgbClr val="E6F0FF"/>
          </a:solidFill>
          <a:ln/>
        </p:spPr>
      </p:sp>
      <p:sp>
        <p:nvSpPr>
          <p:cNvPr id="53" name="Плитка значка"/>
          <p:cNvSpPr/>
          <p:nvPr/>
        </p:nvSpPr>
        <p:spPr>
          <a:xfrm>
            <a:off x="749808" y="5655564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54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0392" y="5756148"/>
            <a:ext cx="256032" cy="256032"/>
          </a:xfrm>
          <a:prstGeom prst="rect">
            <a:avLst/>
          </a:prstGeom>
        </p:spPr>
      </p:pic>
      <p:sp>
        <p:nvSpPr>
          <p:cNvPr id="55" name="Text 43"/>
          <p:cNvSpPr txBox="1"/>
          <p:nvPr/>
        </p:nvSpPr>
        <p:spPr>
          <a:xfrm>
            <a:off x="1389888" y="5623560"/>
            <a:ext cx="99788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chemeClr val="tx2"/>
                </a:solidFill>
              </a:rPr>
              <a:t>Ось «по одному или совместно» из Директивы 2025/25 — правило R-JNT-001; «объём полномочия» из проекта RTS AMLA — правила покрытия, устава и совместных полномочий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ВСТРОЙКА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2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2718F"/>
                </a:solidFill>
              </a:rPr>
              <a:t>vtb.ru — «Комплект МЧД и КЭП» в «ВТБ Бизнес»; репозиторий «Мандата» v0.3.0, evidence.json от 27.10.2026; docs/ARCHITECTURE.md, docs/PILOT.md</a:t>
            </a:r>
            <a:endParaRPr lang="en-US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3423818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Плитка значка"/>
          <p:cNvSpPr/>
          <p:nvPr/>
        </p:nvSpPr>
        <p:spPr>
          <a:xfrm>
            <a:off x="777240" y="177393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7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874520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1773936"/>
            <a:ext cx="2417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Источники</a:t>
            </a:r>
            <a:endParaRPr lang="en-US" sz="1500" dirty="0"/>
          </a:p>
        </p:txBody>
      </p:sp>
      <p:sp>
        <p:nvSpPr>
          <p:cNvPr id="9" name="Список"/>
          <p:cNvSpPr txBox="1"/>
          <p:nvPr/>
        </p:nvSpPr>
        <p:spPr>
          <a:xfrm>
            <a:off x="822960" y="2395728"/>
            <a:ext cx="29208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МЧД в XML и бумажная доверенность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ЕГРЮЛ на дату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реестр МЧД ФНС: номер + ИНН доверителя и представителя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ЕФРСБ и устав</a:t>
            </a:r>
            <a:endParaRPr lang="en-US" sz="1250" dirty="0"/>
          </a:p>
        </p:txBody>
      </p:sp>
      <p:sp>
        <p:nvSpPr>
          <p:cNvPr id="10" name="Стрелка"/>
          <p:cNvSpPr/>
          <p:nvPr/>
        </p:nvSpPr>
        <p:spPr>
          <a:xfrm>
            <a:off x="4027322" y="2692908"/>
            <a:ext cx="301752" cy="0"/>
          </a:xfrm>
          <a:prstGeom prst="line">
            <a:avLst/>
          </a:prstGeom>
          <a:noFill/>
          <a:ln w="25400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11" name="Карточка"/>
          <p:cNvSpPr/>
          <p:nvPr/>
        </p:nvSpPr>
        <p:spPr>
          <a:xfrm>
            <a:off x="4383938" y="1572768"/>
            <a:ext cx="3423818" cy="2240280"/>
          </a:xfrm>
          <a:prstGeom prst="roundRect">
            <a:avLst>
              <a:gd name="adj" fmla="val 489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2" name="Плитка значка"/>
          <p:cNvSpPr/>
          <p:nvPr/>
        </p:nvSpPr>
        <p:spPr>
          <a:xfrm>
            <a:off x="4612538" y="177393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13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122" y="1874520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206898" y="1773936"/>
            <a:ext cx="2417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chemeClr val="bg1"/>
                </a:solidFill>
              </a:rPr>
              <a:t>Движок «Мандата»</a:t>
            </a:r>
            <a:endParaRPr lang="en-US" sz="1500" dirty="0"/>
          </a:p>
        </p:txBody>
      </p:sp>
      <p:sp>
        <p:nvSpPr>
          <p:cNvPr id="15" name="Список"/>
          <p:cNvSpPr txBox="1"/>
          <p:nvPr/>
        </p:nvSpPr>
        <p:spPr>
          <a:xfrm>
            <a:off x="4658258" y="2395728"/>
            <a:ext cx="29208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</a:rPr>
              <a:t>граф полномочий на дату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</a:rPr>
              <a:t>39 правил с нормой и тестом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</a:rPr>
              <a:t>журнал с деревом Меркла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</a:rPr>
              <a:t>без внешней сети</a:t>
            </a:r>
            <a:endParaRPr lang="en-US" sz="1250" dirty="0"/>
          </a:p>
        </p:txBody>
      </p:sp>
      <p:sp>
        <p:nvSpPr>
          <p:cNvPr id="16" name="Стрелка"/>
          <p:cNvSpPr/>
          <p:nvPr/>
        </p:nvSpPr>
        <p:spPr>
          <a:xfrm>
            <a:off x="7862621" y="2692908"/>
            <a:ext cx="301752" cy="0"/>
          </a:xfrm>
          <a:prstGeom prst="line">
            <a:avLst/>
          </a:prstGeom>
          <a:noFill/>
          <a:ln w="25400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17" name="Карточка"/>
          <p:cNvSpPr/>
          <p:nvPr/>
        </p:nvSpPr>
        <p:spPr>
          <a:xfrm>
            <a:off x="8219237" y="1572768"/>
            <a:ext cx="3423818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8" name="Плитка значка"/>
          <p:cNvSpPr/>
          <p:nvPr/>
        </p:nvSpPr>
        <p:spPr>
          <a:xfrm>
            <a:off x="8447837" y="1773936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8421" y="1874520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042197" y="1773936"/>
            <a:ext cx="2417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Результат</a:t>
            </a:r>
            <a:endParaRPr lang="en-US" sz="1500" dirty="0"/>
          </a:p>
        </p:txBody>
      </p:sp>
      <p:sp>
        <p:nvSpPr>
          <p:cNvPr id="21" name="Список"/>
          <p:cNvSpPr txBox="1"/>
          <p:nvPr/>
        </p:nvSpPr>
        <p:spPr>
          <a:xfrm>
            <a:off x="8493557" y="2395728"/>
            <a:ext cx="292089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вердикт и доказательства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рекомендация роли в «ВТБ Бизнес»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удостоверение со статусом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событие для антифрода</a:t>
            </a:r>
            <a:endParaRPr lang="en-US" sz="1250" dirty="0"/>
          </a:p>
        </p:txBody>
      </p:sp>
      <p:sp>
        <p:nvSpPr>
          <p:cNvPr id="22" name="Карточка"/>
          <p:cNvSpPr/>
          <p:nvPr/>
        </p:nvSpPr>
        <p:spPr>
          <a:xfrm>
            <a:off x="548640" y="4041648"/>
            <a:ext cx="5432908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3" name="Круг значка"/>
          <p:cNvSpPr/>
          <p:nvPr/>
        </p:nvSpPr>
        <p:spPr>
          <a:xfrm>
            <a:off x="777240" y="4242816"/>
            <a:ext cx="384048" cy="384048"/>
          </a:xfrm>
          <a:prstGeom prst="ellipse">
            <a:avLst/>
          </a:prstGeom>
          <a:solidFill>
            <a:srgbClr val="1A9F68"/>
          </a:solidFill>
          <a:ln/>
        </p:spPr>
      </p:sp>
      <p:pic>
        <p:nvPicPr>
          <p:cNvPr id="24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731" y="4327307"/>
            <a:ext cx="215067" cy="21506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298448" y="4242816"/>
            <a:ext cx="45185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Работает сегодня</a:t>
            </a:r>
            <a:endParaRPr lang="en-US" sz="1500" dirty="0"/>
          </a:p>
        </p:txBody>
      </p:sp>
      <p:sp>
        <p:nvSpPr>
          <p:cNvPr id="26" name="Список"/>
          <p:cNvSpPr txBox="1"/>
          <p:nvPr/>
        </p:nvSpPr>
        <p:spPr>
          <a:xfrm>
            <a:off x="822960" y="4773168"/>
            <a:ext cx="492998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39 правил, 14 демо-кейсов, CLI и HTTP API с ролями</a:t>
            </a:r>
            <a:endParaRPr lang="en-US" sz="120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разбор человеком: очередь P1–P3 и сроки</a:t>
            </a:r>
            <a:endParaRPr lang="en-US" sz="120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мониторинг событий, статусы удостоверений, журнал</a:t>
            </a:r>
            <a:endParaRPr lang="en-US" sz="120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1600 автотестов проходят; SBOM и подписанное происхождение сборки</a:t>
            </a:r>
            <a:endParaRPr lang="en-US" sz="1200" dirty="0"/>
          </a:p>
        </p:txBody>
      </p:sp>
      <p:sp>
        <p:nvSpPr>
          <p:cNvPr id="27" name="Карточка"/>
          <p:cNvSpPr/>
          <p:nvPr/>
        </p:nvSpPr>
        <p:spPr>
          <a:xfrm>
            <a:off x="6210148" y="4041648"/>
            <a:ext cx="5432908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8" name="Круг значка"/>
          <p:cNvSpPr/>
          <p:nvPr/>
        </p:nvSpPr>
        <p:spPr>
          <a:xfrm>
            <a:off x="6438748" y="4242816"/>
            <a:ext cx="384048" cy="384048"/>
          </a:xfrm>
          <a:prstGeom prst="ellipse">
            <a:avLst/>
          </a:prstGeom>
          <a:solidFill>
            <a:srgbClr val="004CBC"/>
          </a:solidFill>
          <a:ln/>
        </p:spPr>
      </p:sp>
      <p:pic>
        <p:nvPicPr>
          <p:cNvPr id="2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3238" y="4327307"/>
            <a:ext cx="215067" cy="215067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959956" y="4242816"/>
            <a:ext cx="45185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Подключаем к пилоту</a:t>
            </a:r>
            <a:endParaRPr lang="en-US" sz="1500" dirty="0"/>
          </a:p>
        </p:txBody>
      </p:sp>
      <p:sp>
        <p:nvSpPr>
          <p:cNvPr id="31" name="Список"/>
          <p:cNvSpPr txBox="1"/>
          <p:nvPr/>
        </p:nvSpPr>
        <p:spPr>
          <a:xfrm>
            <a:off x="6484468" y="4773168"/>
            <a:ext cx="492998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реестр МЧД, ЕГРЮЛ, ЕФРСБ — адаптеры банка вместо заглушек</a:t>
            </a:r>
            <a:endParaRPr lang="en-US" sz="120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проверка КЭП и ГОСТ-подпись — сертифицированные СКЗИ банка</a:t>
            </a:r>
            <a:endParaRPr lang="en-US" sz="120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ключи — HSM по PKCS#11; вход — OIDC банка</a:t>
            </a:r>
            <a:endParaRPr lang="en-US" sz="1200" dirty="0"/>
          </a:p>
          <a:p>
            <a:pPr marL="152400" indent="-1524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коды полномочий — выгрузка классификатора ЕСНСИ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ПРЕДЛОЖЕНИЕ ВТБ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2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2718F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ВТБ. docs/PILOT.md</a:t>
            </a:r>
            <a:endParaRPr lang="en-US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3484778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19072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Неделя 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48256"/>
            <a:ext cx="3027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протокол, регламент операции, коды полномочий, пороги приёмки, куратор от владельца процесса</a:t>
            </a:r>
            <a:endParaRPr lang="en-US" sz="1250" dirty="0"/>
          </a:p>
        </p:txBody>
      </p:sp>
      <p:sp>
        <p:nvSpPr>
          <p:cNvPr id="8" name="Стрелка"/>
          <p:cNvSpPr/>
          <p:nvPr/>
        </p:nvSpPr>
        <p:spPr>
          <a:xfrm>
            <a:off x="4079138" y="2167128"/>
            <a:ext cx="228600" cy="0"/>
          </a:xfrm>
          <a:prstGeom prst="line">
            <a:avLst/>
          </a:prstGeom>
          <a:noFill/>
          <a:ln w="25400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9" name="Карточка"/>
          <p:cNvSpPr/>
          <p:nvPr/>
        </p:nvSpPr>
        <p:spPr>
          <a:xfrm>
            <a:off x="4353458" y="1572768"/>
            <a:ext cx="3484778" cy="1188720"/>
          </a:xfrm>
          <a:prstGeom prst="roundRect">
            <a:avLst>
              <a:gd name="adj" fmla="val 9231"/>
            </a:avLst>
          </a:prstGeom>
          <a:solidFill>
            <a:srgbClr val="E6F0FF"/>
          </a:solidFill>
          <a:ln w="9525">
            <a:solidFill>
              <a:srgbClr val="C9DCFA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582058" y="1719072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Недели 2–5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82058" y="2048256"/>
            <a:ext cx="3027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параллельная проверка тех же пакетов, журнал расхождений с решениями сотрудников</a:t>
            </a:r>
            <a:endParaRPr lang="en-US" sz="1250" dirty="0"/>
          </a:p>
        </p:txBody>
      </p:sp>
      <p:sp>
        <p:nvSpPr>
          <p:cNvPr id="12" name="Стрелка"/>
          <p:cNvSpPr/>
          <p:nvPr/>
        </p:nvSpPr>
        <p:spPr>
          <a:xfrm>
            <a:off x="7883957" y="2167128"/>
            <a:ext cx="228600" cy="0"/>
          </a:xfrm>
          <a:prstGeom prst="line">
            <a:avLst/>
          </a:prstGeom>
          <a:noFill/>
          <a:ln w="25400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13" name="Карточка"/>
          <p:cNvSpPr/>
          <p:nvPr/>
        </p:nvSpPr>
        <p:spPr>
          <a:xfrm>
            <a:off x="8158277" y="1572768"/>
            <a:ext cx="3484778" cy="1188720"/>
          </a:xfrm>
          <a:prstGeom prst="roundRect">
            <a:avLst>
              <a:gd name="adj" fmla="val 9231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386877" y="1719072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Неделя 6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386877" y="2048256"/>
            <a:ext cx="3027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chemeClr val="tx1"/>
                </a:solidFill>
              </a:rPr>
              <a:t>независимая разметка расхождений, замер, решение: продолжать или остановить</a:t>
            </a:r>
            <a:endParaRPr lang="en-US" sz="1250" dirty="0"/>
          </a:p>
        </p:txBody>
      </p:sp>
      <p:sp>
        <p:nvSpPr>
          <p:cNvPr id="16" name="Карточка"/>
          <p:cNvSpPr/>
          <p:nvPr/>
        </p:nvSpPr>
        <p:spPr>
          <a:xfrm>
            <a:off x="548640" y="2990088"/>
            <a:ext cx="5432908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7" name="Плитка значка"/>
          <p:cNvSpPr/>
          <p:nvPr/>
        </p:nvSpPr>
        <p:spPr>
          <a:xfrm>
            <a:off x="777240" y="319125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8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9777" y="3283793"/>
            <a:ext cx="235549" cy="235549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325880" y="3191256"/>
            <a:ext cx="44727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Критерии: продолжать или остановить</a:t>
            </a:r>
            <a:endParaRPr lang="en-US" sz="1500" dirty="0"/>
          </a:p>
        </p:txBody>
      </p:sp>
      <p:sp>
        <p:nvSpPr>
          <p:cNvPr id="20" name="Список"/>
          <p:cNvSpPr txBox="1"/>
          <p:nvPr/>
        </p:nvSpPr>
        <p:spPr>
          <a:xfrm>
            <a:off x="822960" y="3767328"/>
            <a:ext cx="49299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0 ложных «подтверждено» на всех кейсах — стоп-критерий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доля «на разбор» не выше согласованного порога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согласие с экспертами (κ Коэна) не ниже межэкспертного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все расхождения разобраны; проверка быстрее ручной</a:t>
            </a:r>
            <a:endParaRPr lang="en-US" sz="1300" dirty="0"/>
          </a:p>
        </p:txBody>
      </p:sp>
      <p:sp>
        <p:nvSpPr>
          <p:cNvPr id="21" name="Карточка"/>
          <p:cNvSpPr/>
          <p:nvPr/>
        </p:nvSpPr>
        <p:spPr>
          <a:xfrm>
            <a:off x="6210148" y="2990088"/>
            <a:ext cx="5432908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2" name="Плитка значка"/>
          <p:cNvSpPr/>
          <p:nvPr/>
        </p:nvSpPr>
        <p:spPr>
          <a:xfrm>
            <a:off x="6438748" y="319125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23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1285" y="3283793"/>
            <a:ext cx="235549" cy="23554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6987388" y="3191256"/>
            <a:ext cx="44727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Что нужно от ВТБ</a:t>
            </a:r>
            <a:endParaRPr lang="en-US" sz="1500" dirty="0"/>
          </a:p>
        </p:txBody>
      </p:sp>
      <p:sp>
        <p:nvSpPr>
          <p:cNvPr id="25" name="Список"/>
          <p:cNvSpPr txBox="1"/>
          <p:nvPr/>
        </p:nvSpPr>
        <p:spPr>
          <a:xfrm>
            <a:off x="6484468" y="3767328"/>
            <a:ext cx="49299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владелец процесса и куратор пилота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регламент одной операции и типовые отказы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50–100 обезличенных пакетов или тестовый контур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юрист для правил; базовые цифры для расчёта эффекта</a:t>
            </a:r>
            <a:endParaRPr lang="en-US" sz="1300" dirty="0"/>
          </a:p>
        </p:txBody>
      </p:sp>
      <p:pic>
        <p:nvPicPr>
          <p:cNvPr id="26" name="Плашка запроса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550408"/>
            <a:ext cx="11094415" cy="594360"/>
          </a:xfrm>
          <a:prstGeom prst="rect">
            <a:avLst/>
          </a:prstGeom>
        </p:spPr>
      </p:pic>
      <p:sp>
        <p:nvSpPr>
          <p:cNvPr id="27" name="Плитка значка"/>
          <p:cNvSpPr/>
          <p:nvPr/>
        </p:nvSpPr>
        <p:spPr>
          <a:xfrm>
            <a:off x="777240" y="561898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28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5719572"/>
            <a:ext cx="256032" cy="25603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417320" y="5550408"/>
            <a:ext cx="9997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chemeClr val="bg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КОМАНДА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2"/>
                </a:solidFill>
              </a:rPr>
              <a:t>Команда: архитектура правил и измерение качества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2718F"/>
                </a:solidFill>
              </a:rPr>
              <a:t>github.com/KonkovDV/Mandat · собственный код под лицензией MIT</a:t>
            </a:r>
            <a:endParaRPr lang="en-US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5432908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Рамка фото"/>
          <p:cNvSpPr/>
          <p:nvPr/>
        </p:nvSpPr>
        <p:spPr>
          <a:xfrm>
            <a:off x="822960" y="1920240"/>
            <a:ext cx="1810512" cy="1810512"/>
          </a:xfrm>
          <a:prstGeom prst="ellipse">
            <a:avLst/>
          </a:prstGeom>
          <a:solidFill>
            <a:srgbClr val="E6F0FF"/>
          </a:solidFill>
          <a:ln w="31750">
            <a:solidFill>
              <a:srgbClr val="00AAFF"/>
            </a:solidFill>
            <a:prstDash val="solid"/>
          </a:ln>
        </p:spPr>
      </p:sp>
      <p:pic>
        <p:nvPicPr>
          <p:cNvPr id="7" name="Image 0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2002536"/>
            <a:ext cx="1645920" cy="1645920"/>
          </a:xfrm>
          <a:prstGeom prst="ellipse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926080" y="1984248"/>
            <a:ext cx="28268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chemeClr val="tx2"/>
                </a:solidFill>
              </a:rPr>
              <a:t>Коньков Дмитрий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2926080" y="2395728"/>
            <a:ext cx="28268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2926080" y="2871216"/>
            <a:ext cx="28268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300" dirty="0"/>
          </a:p>
        </p:txBody>
      </p:sp>
      <p:sp>
        <p:nvSpPr>
          <p:cNvPr id="11" name="Карточка"/>
          <p:cNvSpPr/>
          <p:nvPr/>
        </p:nvSpPr>
        <p:spPr>
          <a:xfrm>
            <a:off x="6210148" y="1572768"/>
            <a:ext cx="5432908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2" name="Рамка фото"/>
          <p:cNvSpPr/>
          <p:nvPr/>
        </p:nvSpPr>
        <p:spPr>
          <a:xfrm>
            <a:off x="6484468" y="1920240"/>
            <a:ext cx="1810512" cy="1810512"/>
          </a:xfrm>
          <a:prstGeom prst="ellipse">
            <a:avLst/>
          </a:prstGeom>
          <a:solidFill>
            <a:srgbClr val="E6F0FF"/>
          </a:solidFill>
          <a:ln w="31750">
            <a:solidFill>
              <a:srgbClr val="00AAFF"/>
            </a:solidFill>
            <a:prstDash val="solid"/>
          </a:ln>
        </p:spPr>
      </p:sp>
      <p:pic>
        <p:nvPicPr>
          <p:cNvPr id="13" name="Image 1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764" y="2002536"/>
            <a:ext cx="1645920" cy="1645920"/>
          </a:xfrm>
          <a:prstGeom prst="ellipse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587588" y="1984248"/>
            <a:ext cx="28268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chemeClr val="tx2"/>
                </a:solidFill>
              </a:rPr>
              <a:t>Конькова Елена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8587588" y="2395728"/>
            <a:ext cx="28268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8587588" y="2871216"/>
            <a:ext cx="28268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300" dirty="0"/>
          </a:p>
        </p:txBody>
      </p:sp>
      <p:sp>
        <p:nvSpPr>
          <p:cNvPr id="17" name="Карточка"/>
          <p:cNvSpPr/>
          <p:nvPr/>
        </p:nvSpPr>
        <p:spPr>
          <a:xfrm>
            <a:off x="548640" y="4315968"/>
            <a:ext cx="5432908" cy="1828800"/>
          </a:xfrm>
          <a:prstGeom prst="roundRect">
            <a:avLst>
              <a:gd name="adj" fmla="val 6000"/>
            </a:avLst>
          </a:prstGeom>
          <a:solidFill>
            <a:srgbClr val="E6F0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18" name="Плитка значка"/>
          <p:cNvSpPr/>
          <p:nvPr/>
        </p:nvSpPr>
        <p:spPr>
          <a:xfrm>
            <a:off x="777240" y="454456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1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645152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371600" y="4544568"/>
            <a:ext cx="44270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Что получает банк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822960" y="5138928"/>
            <a:ext cx="48842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проверенный набор правил, протокол измерений, итоги пилота и эталонную реализацию под MIT для передачи команде банка</a:t>
            </a:r>
            <a:endParaRPr lang="en-US" sz="1300" dirty="0"/>
          </a:p>
        </p:txBody>
      </p:sp>
      <p:sp>
        <p:nvSpPr>
          <p:cNvPr id="22" name="Карточка"/>
          <p:cNvSpPr/>
          <p:nvPr/>
        </p:nvSpPr>
        <p:spPr>
          <a:xfrm>
            <a:off x="6210148" y="4315968"/>
            <a:ext cx="5432908" cy="1828800"/>
          </a:xfrm>
          <a:prstGeom prst="roundRect">
            <a:avLst>
              <a:gd name="adj" fmla="val 6000"/>
            </a:avLst>
          </a:prstGeom>
          <a:solidFill>
            <a:srgbClr val="E6F0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23" name="Плитка значка"/>
          <p:cNvSpPr/>
          <p:nvPr/>
        </p:nvSpPr>
        <p:spPr>
          <a:xfrm>
            <a:off x="6438748" y="454456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24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9332" y="4645152"/>
            <a:ext cx="256032" cy="25603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033108" y="4544568"/>
            <a:ext cx="44270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Кого ищем в ВТБ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6484468" y="5138928"/>
            <a:ext cx="48842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владельца процесса добавления представителей юрлиц и юриста, который утвердит правила и окно «свежей» смены руководителя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Знак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566928" cy="51206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54864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chemeClr val="bg1"/>
                </a:solidFill>
              </a:rPr>
              <a:t>Команда «Мандат»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141732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Спасибо! Проверим гипотезы на данных ВТБ</a:t>
            </a:r>
            <a:endParaRPr lang="en-US" sz="3600" dirty="0"/>
          </a:p>
        </p:txBody>
      </p:sp>
      <p:sp>
        <p:nvSpPr>
          <p:cNvPr id="5" name="Плитка значка"/>
          <p:cNvSpPr/>
          <p:nvPr/>
        </p:nvSpPr>
        <p:spPr>
          <a:xfrm>
            <a:off x="548640" y="2798064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6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177" y="2890601"/>
            <a:ext cx="235549" cy="235549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43000" y="27432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Коньков Дмитрий, капитан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1143000" y="30175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FE3FF"/>
                </a:solidFill>
              </a:rPr>
              <a:t>+7 915 452-88-64 · konkov-dmitrij@yandex.ru</a:t>
            </a:r>
            <a:endParaRPr lang="en-US" sz="1300" dirty="0"/>
          </a:p>
        </p:txBody>
      </p:sp>
      <p:sp>
        <p:nvSpPr>
          <p:cNvPr id="9" name="Плитка значка"/>
          <p:cNvSpPr/>
          <p:nvPr/>
        </p:nvSpPr>
        <p:spPr>
          <a:xfrm>
            <a:off x="548640" y="3456432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10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77" y="3548969"/>
            <a:ext cx="235549" cy="23554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40156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Конькова Елена, измерение и качество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367588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FE3FF"/>
                </a:solidFill>
              </a:rPr>
              <a:t>konkovaelena@yandex.ru</a:t>
            </a:r>
            <a:endParaRPr lang="en-US" sz="1300" dirty="0"/>
          </a:p>
        </p:txBody>
      </p:sp>
      <p:sp>
        <p:nvSpPr>
          <p:cNvPr id="13" name="Плитка значка"/>
          <p:cNvSpPr/>
          <p:nvPr/>
        </p:nvSpPr>
        <p:spPr>
          <a:xfrm>
            <a:off x="548640" y="4114800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14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177" y="4207337"/>
            <a:ext cx="235549" cy="235549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43000" y="405993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Код и документация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1143000" y="433425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FE3FF"/>
                </a:solidFill>
              </a:rPr>
              <a:t>github.com/KonkovDV/Mandat · собственный код под MIT</a:t>
            </a:r>
            <a:endParaRPr lang="en-US" sz="1300" dirty="0"/>
          </a:p>
        </p:txBody>
      </p:sp>
      <p:sp>
        <p:nvSpPr>
          <p:cNvPr id="17" name="Плашка просьбы"/>
          <p:cNvSpPr/>
          <p:nvPr/>
        </p:nvSpPr>
        <p:spPr>
          <a:xfrm>
            <a:off x="548640" y="4892040"/>
            <a:ext cx="612648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9050">
            <a:solidFill>
              <a:srgbClr val="00AAF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22960" y="489204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400" dirty="0"/>
          </a:p>
        </p:txBody>
      </p:sp>
      <p:pic>
        <p:nvPicPr>
          <p:cNvPr id="19" name="Image 4" descr="Схема: источники сходятся в один вердикт на дату операции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960120"/>
            <a:ext cx="4480560" cy="396849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Знак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31520" cy="65836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2402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42900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3FF"/>
                </a:solidFill>
              </a:rPr>
              <a:t>Семь взглядов · критерии жюри · рынок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ВРАЖДЕБНЫЙ РАЗБОР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2"/>
                </a:solidFill>
              </a:rPr>
              <a:t>Семь взглядов на «Мандат»: главное возражение каждой роли и наш ответ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2718F"/>
                </a:solidFill>
              </a:rPr>
              <a:t>docs/audit/MURDER_BOARD-2026-10-20.md (банкир, юрист, правовед, безопасник, ИБ, пользователь, Red Team); docs/audit/AUDIT-2026-10-27-DIFFERENTIAL.md; docs/JURY.md</a:t>
            </a:r>
            <a:endParaRPr lang="en-US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2636444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Плитка значка"/>
          <p:cNvSpPr/>
          <p:nvPr/>
        </p:nvSpPr>
        <p:spPr>
          <a:xfrm>
            <a:off x="731520" y="173736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7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011" y="1821851"/>
            <a:ext cx="215067" cy="21506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07008" y="1737360"/>
            <a:ext cx="18134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chemeClr val="tx2"/>
                </a:solidFill>
              </a:rPr>
              <a:t>Банкир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212848"/>
            <a:ext cx="22706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i="1" dirty="0">
                <a:solidFill>
                  <a:schemeClr val="accent1"/>
                </a:solidFill>
              </a:rPr>
              <a:t>«Сколько экономит и не вырастет ли очередь?»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706624"/>
            <a:ext cx="22706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Эффект — сценарии на допущениях, пилот заменит их фактами. Очередь P1–P3 со сроками; порог доли «на разбор» — критерий пилота</a:t>
            </a:r>
            <a:endParaRPr lang="en-US" sz="1100" dirty="0"/>
          </a:p>
        </p:txBody>
      </p:sp>
      <p:sp>
        <p:nvSpPr>
          <p:cNvPr id="11" name="Карточка"/>
          <p:cNvSpPr/>
          <p:nvPr/>
        </p:nvSpPr>
        <p:spPr>
          <a:xfrm>
            <a:off x="3367964" y="1572768"/>
            <a:ext cx="2636444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2" name="Плитка значка"/>
          <p:cNvSpPr/>
          <p:nvPr/>
        </p:nvSpPr>
        <p:spPr>
          <a:xfrm>
            <a:off x="3550844" y="173736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3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334" y="1821851"/>
            <a:ext cx="215067" cy="21506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026332" y="1737360"/>
            <a:ext cx="18134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chemeClr val="tx2"/>
                </a:solidFill>
              </a:rPr>
              <a:t>Юрист банка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3550844" y="2212848"/>
            <a:ext cx="22706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i="1" dirty="0">
                <a:solidFill>
                  <a:schemeClr val="accent1"/>
                </a:solidFill>
              </a:rPr>
              <a:t>«Все правила — черновики»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3550844" y="2706624"/>
            <a:ext cx="22706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В строгом профиле черновик не даёт ни «да», ни «нет». Утверждение правил юристом — первая неделя пилота</a:t>
            </a:r>
            <a:endParaRPr lang="en-US" sz="1100" dirty="0"/>
          </a:p>
        </p:txBody>
      </p:sp>
      <p:sp>
        <p:nvSpPr>
          <p:cNvPr id="17" name="Карточка"/>
          <p:cNvSpPr/>
          <p:nvPr/>
        </p:nvSpPr>
        <p:spPr>
          <a:xfrm>
            <a:off x="6187288" y="1572768"/>
            <a:ext cx="2636444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8" name="Плитка значка"/>
          <p:cNvSpPr/>
          <p:nvPr/>
        </p:nvSpPr>
        <p:spPr>
          <a:xfrm>
            <a:off x="6370168" y="173736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4658" y="1821851"/>
            <a:ext cx="215067" cy="215067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845656" y="1737360"/>
            <a:ext cx="18134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chemeClr val="tx2"/>
                </a:solidFill>
              </a:rPr>
              <a:t>Правовед</a:t>
            </a:r>
            <a:endParaRPr lang="en-US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6370168" y="2212848"/>
            <a:ext cx="22706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i="1" dirty="0">
                <a:solidFill>
                  <a:schemeClr val="accent1"/>
                </a:solidFill>
              </a:rPr>
              <a:t>«Полномочие — правоотношение на дату»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6370168" y="2706624"/>
            <a:ext cx="22706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Так и смоделировано: граф на дату операции (ст. 185–189 ГК РФ). Полномочие из обстановки (ст. 182) вне модели: без документа «да» нет</a:t>
            </a:r>
            <a:endParaRPr lang="en-US" sz="1100" dirty="0"/>
          </a:p>
        </p:txBody>
      </p:sp>
      <p:sp>
        <p:nvSpPr>
          <p:cNvPr id="23" name="Карточка"/>
          <p:cNvSpPr/>
          <p:nvPr/>
        </p:nvSpPr>
        <p:spPr>
          <a:xfrm>
            <a:off x="9006611" y="1572768"/>
            <a:ext cx="2636444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4" name="Плитка значка"/>
          <p:cNvSpPr/>
          <p:nvPr/>
        </p:nvSpPr>
        <p:spPr>
          <a:xfrm>
            <a:off x="9189491" y="173736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25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3982" y="1821851"/>
            <a:ext cx="215067" cy="215067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664979" y="1737360"/>
            <a:ext cx="18134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chemeClr val="tx2"/>
                </a:solidFill>
              </a:rPr>
              <a:t>ИБ банка</a:t>
            </a:r>
            <a:endParaRPr lang="en-US" sz="1350" dirty="0"/>
          </a:p>
        </p:txBody>
      </p:sp>
      <p:sp>
        <p:nvSpPr>
          <p:cNvPr id="27" name="Text 21"/>
          <p:cNvSpPr txBox="1"/>
          <p:nvPr/>
        </p:nvSpPr>
        <p:spPr>
          <a:xfrm>
            <a:off x="9189491" y="2212848"/>
            <a:ext cx="22706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i="1" dirty="0">
                <a:solidFill>
                  <a:schemeClr val="accent1"/>
                </a:solidFill>
              </a:rPr>
              <a:t>«Ed25519, а не ГОСТ; root перепишет журнал»</a:t>
            </a:r>
            <a:endParaRPr lang="en-US" sz="1150" dirty="0"/>
          </a:p>
        </p:txBody>
      </p:sp>
      <p:sp>
        <p:nvSpPr>
          <p:cNvPr id="28" name="Text 22"/>
          <p:cNvSpPr txBox="1"/>
          <p:nvPr/>
        </p:nvSpPr>
        <p:spPr>
          <a:xfrm>
            <a:off x="9189491" y="2706624"/>
            <a:ext cx="22706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Ключ — в HSM, Vault или KMS; ГОСТ — через СКЗИ банка. Без внешнего якоря журнала pilot и prod не стартуют</a:t>
            </a:r>
            <a:endParaRPr lang="en-US" sz="1100" dirty="0"/>
          </a:p>
        </p:txBody>
      </p:sp>
      <p:sp>
        <p:nvSpPr>
          <p:cNvPr id="29" name="Карточка"/>
          <p:cNvSpPr/>
          <p:nvPr/>
        </p:nvSpPr>
        <p:spPr>
          <a:xfrm>
            <a:off x="548640" y="3950208"/>
            <a:ext cx="2636444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0" name="Плитка значка"/>
          <p:cNvSpPr/>
          <p:nvPr/>
        </p:nvSpPr>
        <p:spPr>
          <a:xfrm>
            <a:off x="731520" y="411480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31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011" y="4199291"/>
            <a:ext cx="215067" cy="215067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207008" y="4114800"/>
            <a:ext cx="18134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chemeClr val="tx2"/>
                </a:solidFill>
              </a:rPr>
              <a:t>Антифрод</a:t>
            </a:r>
            <a:endParaRPr lang="en-US" sz="1350" dirty="0"/>
          </a:p>
        </p:txBody>
      </p:sp>
      <p:sp>
        <p:nvSpPr>
          <p:cNvPr id="33" name="Text 26"/>
          <p:cNvSpPr txBox="1"/>
          <p:nvPr/>
        </p:nvSpPr>
        <p:spPr>
          <a:xfrm>
            <a:off x="731520" y="4590288"/>
            <a:ext cx="22706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i="1" dirty="0">
                <a:solidFill>
                  <a:schemeClr val="accent1"/>
                </a:solidFill>
              </a:rPr>
              <a:t>«Подставной представитель с действующей МЧД»</a:t>
            </a:r>
            <a:endParaRPr lang="en-US" sz="1150" dirty="0"/>
          </a:p>
        </p:txBody>
      </p:sp>
      <p:sp>
        <p:nvSpPr>
          <p:cNvPr id="34" name="Text 27"/>
          <p:cNvSpPr txBox="1"/>
          <p:nvPr/>
        </p:nvSpPr>
        <p:spPr>
          <a:xfrm>
            <a:off x="731520" y="5084064"/>
            <a:ext cx="22706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Проверяем полномочие, а не намерение. Признаки ОД-2506 — в антифроде банка; ему уходят подписанные события</a:t>
            </a:r>
            <a:endParaRPr lang="en-US" sz="1100" dirty="0"/>
          </a:p>
        </p:txBody>
      </p:sp>
      <p:sp>
        <p:nvSpPr>
          <p:cNvPr id="35" name="Карточка"/>
          <p:cNvSpPr/>
          <p:nvPr/>
        </p:nvSpPr>
        <p:spPr>
          <a:xfrm>
            <a:off x="3367964" y="3950208"/>
            <a:ext cx="2636444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6" name="Плитка значка"/>
          <p:cNvSpPr/>
          <p:nvPr/>
        </p:nvSpPr>
        <p:spPr>
          <a:xfrm>
            <a:off x="3550844" y="411480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37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5334" y="4199291"/>
            <a:ext cx="215067" cy="215067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4026332" y="4114800"/>
            <a:ext cx="18134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chemeClr val="tx2"/>
                </a:solidFill>
              </a:rPr>
              <a:t>Сотрудник и клиент</a:t>
            </a:r>
            <a:endParaRPr lang="en-US" sz="1350" dirty="0"/>
          </a:p>
        </p:txBody>
      </p:sp>
      <p:sp>
        <p:nvSpPr>
          <p:cNvPr id="39" name="Text 31"/>
          <p:cNvSpPr txBox="1"/>
          <p:nvPr/>
        </p:nvSpPr>
        <p:spPr>
          <a:xfrm>
            <a:off x="3550844" y="4590288"/>
            <a:ext cx="22706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i="1" dirty="0">
                <a:solidFill>
                  <a:schemeClr val="accent1"/>
                </a:solidFill>
              </a:rPr>
              <a:t>«Всё сходится — почему „на разбор“?»</a:t>
            </a:r>
            <a:endParaRPr lang="en-US" sz="1150" dirty="0"/>
          </a:p>
        </p:txBody>
      </p:sp>
      <p:sp>
        <p:nvSpPr>
          <p:cNvPr id="40" name="Text 32"/>
          <p:cNvSpPr txBox="1"/>
          <p:nvPr/>
        </p:nvSpPr>
        <p:spPr>
          <a:xfrm>
            <a:off x="3550844" y="5084064"/>
            <a:ext cx="22706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Карточка показывает сильнейшее возражение и следующий шаг; клиент получает список недостающего и может оспорить ответ</a:t>
            </a:r>
            <a:endParaRPr lang="en-US" sz="1100" dirty="0"/>
          </a:p>
        </p:txBody>
      </p:sp>
      <p:sp>
        <p:nvSpPr>
          <p:cNvPr id="41" name="Карточка"/>
          <p:cNvSpPr/>
          <p:nvPr/>
        </p:nvSpPr>
        <p:spPr>
          <a:xfrm>
            <a:off x="6187288" y="3950208"/>
            <a:ext cx="2636444" cy="219456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42" name="Плитка значка"/>
          <p:cNvSpPr/>
          <p:nvPr/>
        </p:nvSpPr>
        <p:spPr>
          <a:xfrm>
            <a:off x="6370168" y="411480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43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4658" y="4199291"/>
            <a:ext cx="215067" cy="215067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6845656" y="4114800"/>
            <a:ext cx="18134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chemeClr val="tx2"/>
                </a:solidFill>
              </a:rPr>
              <a:t>Жюри</a:t>
            </a:r>
            <a:endParaRPr lang="en-US" sz="1350" dirty="0"/>
          </a:p>
        </p:txBody>
      </p:sp>
      <p:sp>
        <p:nvSpPr>
          <p:cNvPr id="45" name="Text 36"/>
          <p:cNvSpPr txBox="1"/>
          <p:nvPr/>
        </p:nvSpPr>
        <p:spPr>
          <a:xfrm>
            <a:off x="6370168" y="4590288"/>
            <a:ext cx="22706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i="1" dirty="0">
                <a:solidFill>
                  <a:schemeClr val="accent1"/>
                </a:solidFill>
              </a:rPr>
              <a:t>«0 ложных „да“ — это точность 100%?»</a:t>
            </a:r>
            <a:endParaRPr lang="en-US" sz="1150" dirty="0"/>
          </a:p>
        </p:txBody>
      </p:sp>
      <p:sp>
        <p:nvSpPr>
          <p:cNvPr id="46" name="Text 37"/>
          <p:cNvSpPr txBox="1"/>
          <p:nvPr/>
        </p:nvSpPr>
        <p:spPr>
          <a:xfrm>
            <a:off x="6370168" y="5084064"/>
            <a:ext cx="22706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chemeClr val="tx1"/>
                </a:solidFill>
              </a:rPr>
              <a:t>Нет: корпус синтетический, это проверка логики, граница 1,3%. Реальная доля — стоп-критерий пилота</a:t>
            </a:r>
            <a:endParaRPr lang="en-US" sz="1100" dirty="0"/>
          </a:p>
        </p:txBody>
      </p:sp>
      <p:sp>
        <p:nvSpPr>
          <p:cNvPr id="47" name="Карточка"/>
          <p:cNvSpPr/>
          <p:nvPr/>
        </p:nvSpPr>
        <p:spPr>
          <a:xfrm>
            <a:off x="9006611" y="3950208"/>
            <a:ext cx="2636444" cy="21945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48" name="Плитка значка"/>
          <p:cNvSpPr/>
          <p:nvPr/>
        </p:nvSpPr>
        <p:spPr>
          <a:xfrm>
            <a:off x="9189491" y="4133088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49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73982" y="4217579"/>
            <a:ext cx="215067" cy="215067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9664979" y="4133088"/>
            <a:ext cx="18134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chemeClr val="bg1"/>
                </a:solidFill>
              </a:rPr>
              <a:t>Полный разбор</a:t>
            </a:r>
            <a:endParaRPr lang="en-US" sz="1350" dirty="0"/>
          </a:p>
        </p:txBody>
      </p:sp>
      <p:sp>
        <p:nvSpPr>
          <p:cNvPr id="51" name="Text 41"/>
          <p:cNvSpPr txBox="1"/>
          <p:nvPr/>
        </p:nvSpPr>
        <p:spPr>
          <a:xfrm>
            <a:off x="9189491" y="4636008"/>
            <a:ext cx="22706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CFE3FF"/>
                </a:solidFill>
              </a:rPr>
              <a:t>Позиции, находки, статусы и тесты, которые их держат, — в docs/audit. Числа — только из реестра утверждений с командой воспроизведения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КРИТЕРИИ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2"/>
                </a:solidFill>
              </a:rPr>
              <a:t>Пять критериев жюри — где в проекте ответ на каждый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2718F"/>
                </a:solidFill>
              </a:rPr>
              <a:t>Критерии трека MVP по Положению «Академии Финтеха» (шкала 0–2); редакцию мы видели только в выдаче поиска и уточняем у организаторов. docs/research/REQUIREMENTS_MATRIX.md</a:t>
            </a:r>
            <a:endParaRPr lang="en-US" sz="1000" dirty="0"/>
          </a:p>
        </p:txBody>
      </p:sp>
      <p:graphicFrame>
        <p:nvGraphicFramePr>
          <p:cNvPr id="19" name="Таблица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120640"/>
                <a:gridCol w="3596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Критерий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Что показываем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Чем проверить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2973"/>
                          </a:solidFill>
                        </a:rPr>
                        <a:t>Готовность MVP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F44"/>
                          </a:solidFill>
                        </a:rPr>
                        <a:t>демо одной командой, 14 демо-кейсов, CLI, HTTP API, Docker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F44"/>
                          </a:solidFill>
                        </a:rPr>
                        <a:t>./run-demo.sh; docker compose в CI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2973"/>
                          </a:solidFill>
                        </a:rPr>
                        <a:t>Техническая реализация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F44"/>
                          </a:solidFill>
                        </a:rPr>
                        <a:t>39 правил с нормой и тестом, журнал Меркла, удостоверения со статусом, Cedar, сверка с внешними эталонами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F44"/>
                          </a:solidFill>
                        </a:rPr>
                        <a:t>1600 автотестов; evidence.json; AUDIT-2026-10-27-DIFFERENTIAL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2973"/>
                          </a:solidFill>
                        </a:rPr>
                        <a:t>Потенциал пилота в ВТБ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F44"/>
                          </a:solidFill>
                        </a:rPr>
                        <a:t>ВТБ сам продаёт комплект МЧД и КЭП; порты под реестр, ЕГРЮЛ, ЕФРСБ и СКЗИ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F44"/>
                          </a:solidFill>
                        </a:rPr>
                        <a:t>docs/PILOT.md: теневой режим 6 недель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2973"/>
                          </a:solidFill>
                        </a:rPr>
                        <a:t>Бизнес-модель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F44"/>
                          </a:solidFill>
                        </a:rPr>
                        <a:t>лицензия в контуре банка и годовое обновление правил при смене норм и формата МЧД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F44"/>
                          </a:solidFill>
                        </a:rPr>
                        <a:t>docs/ECONOMICS.md; сценарии C-15, C-16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A2973"/>
                          </a:solidFill>
                        </a:rPr>
                        <a:t>Презентация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F44"/>
                          </a:solidFill>
                        </a:rPr>
                        <a:t>питч 5 минут, демо в 4 шага, трудные вопросы с честными ответами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F44"/>
                          </a:solidFill>
                        </a:rPr>
                        <a:t>docs/JURY.md; числа из evidence.json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РЫНОК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2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2718F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developer.kontur.ru; docs/COMPETITORS.md</a:t>
            </a:r>
            <a:endParaRPr lang="en-US" sz="1000" dirty="0"/>
          </a:p>
        </p:txBody>
      </p:sp>
      <p:graphicFrame>
        <p:nvGraphicFramePr>
          <p:cNvPr id="20" name="Таблица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9441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103120"/>
                <a:gridCol w="2514600"/>
                <a:gridCol w="1828800"/>
                <a:gridCol w="259049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Что сравниваем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Сервис МЧД «ВТБ Бизнес»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Контур.Диадок, 1С-ЭДО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Реестр МЧД ФНС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«Мандат»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CB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2973"/>
                          </a:solidFill>
                        </a:rPr>
                        <a:t>Объект проверки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выпуск исходящих МЧД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даты МЧД и сертификат под документом ЭДО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действует ли МЧД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4CBC"/>
                          </a:solidFill>
                        </a:rPr>
                        <a:t>операция банка и права в ДБО на дату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2973"/>
                          </a:solidFill>
                        </a:rPr>
                        <a:t>Полномочие подписанта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не заявлено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«Диадок не может» (Контур, по выдаче поиска)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нет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4CBC"/>
                          </a:solidFill>
                        </a:rPr>
                        <a:t>39 правил с нормой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2973"/>
                          </a:solidFill>
                        </a:rPr>
                        <a:t>Передоверие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только признак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не проверяли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хранит сведения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4CBC"/>
                          </a:solidFill>
                        </a:rPr>
                        <a:t>сроки, сужение, каскад отмены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2973"/>
                          </a:solidFill>
                        </a:rPr>
                        <a:t>ЕГРЮЛ на дату и устав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не заявлено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не заявлено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нет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4CBC"/>
                          </a:solidFill>
                        </a:rPr>
                        <a:t>в одной проверке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2973"/>
                          </a:solidFill>
                        </a:rPr>
                        <a:t>Смена директора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не заявлено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не проверяли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нет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4CBC"/>
                          </a:solidFill>
                        </a:rPr>
                        <a:t>сигнал или разбор по окну свежести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2973"/>
                          </a:solidFill>
                        </a:rPr>
                        <a:t>Доказательства и аудит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не заявлено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не заявлено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статус в реестре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4CBC"/>
                          </a:solidFill>
                        </a:rPr>
                        <a:t>XPath, ГРН, норма; журнал; удостоверение со статусом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FF"/>
                    </a:solidFill>
                  </a:tcPr>
                </a:tc>
              </a:tr>
            </a:tbl>
          </a:graphicData>
        </a:graphic>
      </p:graphicFrame>
      <p:sp>
        <p:nvSpPr>
          <p:cNvPr id="6" name="Плашка вывода"/>
          <p:cNvSpPr/>
          <p:nvPr/>
        </p:nvSpPr>
        <p:spPr>
          <a:xfrm>
            <a:off x="548640" y="544068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E6F0FF"/>
          </a:solidFill>
          <a:ln/>
        </p:spPr>
      </p:sp>
      <p:sp>
        <p:nvSpPr>
          <p:cNvPr id="7" name="Плитка значка"/>
          <p:cNvSpPr/>
          <p:nvPr/>
        </p:nvSpPr>
        <p:spPr>
          <a:xfrm>
            <a:off x="749808" y="555498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pic>
        <p:nvPicPr>
          <p:cNvPr id="8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565556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89888" y="5440680"/>
            <a:ext cx="997884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chemeClr val="tx2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ПРАВИЛА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2"/>
                </a:solidFill>
              </a:rPr>
              <a:t>39 правил со ссылкой на норму: что они ловят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2718F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21" name="Таблица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63240"/>
                <a:gridCol w="629381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Группа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Правила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Что ловят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2973"/>
                          </a:solidFill>
                        </a:rPr>
                        <a:t>Формат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R-FMT-001…005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2973"/>
                          </a:solidFill>
                        </a:rPr>
                        <a:t>Стороны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R-ID-001…005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2973"/>
                          </a:solidFill>
                        </a:rPr>
                        <a:t>Реестр и срок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R-REG-001, R-TERM-001…002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2973"/>
                          </a:solidFill>
                        </a:rPr>
                        <a:t>Руководитель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R-EIO-001…006, R-BNK-001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подписант не директор на дату, смена директора (сигнал или разбор), недостоверность, ликвидация и банкротство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2973"/>
                          </a:solidFill>
                        </a:rPr>
                        <a:t>Покрытие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R-COV-001…002, R-JNT-001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2973"/>
                          </a:solidFill>
                        </a:rPr>
                        <a:t>Передоверие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R-SUB-001…010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запрет, однократность, расширение, срок, пропущенное звено, каскад отмены, утрата полномочий, длинная цепочка, нотариальная форма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2973"/>
                          </a:solidFill>
                        </a:rPr>
                        <a:t>Устав и подпись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R-CHR-001…002, R-TXT-001, R-PAP-001, R-SIG-001…002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порог одобрения, неразобранный устав, текстовые полномочия, бумажная доверенность, КЭП и подпись распоряжения руководителя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ПРАВО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2"/>
                </a:solidFill>
              </a:rPr>
              <a:t>Пять норм, на которых ошибается ручная сверка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2718F"/>
                </a:solidFill>
              </a:rPr>
              <a:t>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2072579" cy="3611880"/>
          </a:xfrm>
          <a:prstGeom prst="roundRect">
            <a:avLst>
              <a:gd name="adj" fmla="val 5294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" y="1755648"/>
            <a:ext cx="17068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Смена директора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50008"/>
            <a:ext cx="17068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chemeClr val="accent1"/>
                </a:solidFill>
              </a:rPr>
              <a:t>п. 1 ст. 188 ГК РФ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834640"/>
            <a:ext cx="170681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МЧД прежнего директора действует, пока её не отменили</a:t>
            </a:r>
            <a:endParaRPr lang="en-US" sz="1200" dirty="0"/>
          </a:p>
        </p:txBody>
      </p:sp>
      <p:sp>
        <p:nvSpPr>
          <p:cNvPr id="9" name="Вердикт: ПОДТВЕРЖДЕНО"/>
          <p:cNvSpPr/>
          <p:nvPr/>
        </p:nvSpPr>
        <p:spPr>
          <a:xfrm>
            <a:off x="731520" y="3968496"/>
            <a:ext cx="1706819" cy="292608"/>
          </a:xfrm>
          <a:prstGeom prst="roundRect">
            <a:avLst>
              <a:gd name="adj" fmla="val 50000"/>
            </a:avLst>
          </a:prstGeom>
          <a:solidFill>
            <a:srgbClr val="E2F4EB"/>
          </a:solidFill>
          <a:ln/>
        </p:spPr>
      </p:sp>
      <p:sp>
        <p:nvSpPr>
          <p:cNvPr id="10" name="Метка статуса"/>
          <p:cNvSpPr/>
          <p:nvPr/>
        </p:nvSpPr>
        <p:spPr>
          <a:xfrm>
            <a:off x="868680" y="4069080"/>
            <a:ext cx="91440" cy="91440"/>
          </a:xfrm>
          <a:prstGeom prst="ellipse">
            <a:avLst/>
          </a:prstGeom>
          <a:solidFill>
            <a:srgbClr val="1A9F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33272" y="3968496"/>
            <a:ext cx="13410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B6B44"/>
                </a:solidFill>
              </a:rPr>
              <a:t>ПОДТВЕРЖДЕНО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361688"/>
            <a:ext cx="17068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2557A"/>
                </a:solidFill>
              </a:rPr>
              <a:t>давняя смена — сигнал; свежая — на разбор</a:t>
            </a:r>
            <a:endParaRPr lang="en-US" sz="1150" dirty="0"/>
          </a:p>
        </p:txBody>
      </p:sp>
      <p:sp>
        <p:nvSpPr>
          <p:cNvPr id="13" name="Карточка"/>
          <p:cNvSpPr/>
          <p:nvPr/>
        </p:nvSpPr>
        <p:spPr>
          <a:xfrm>
            <a:off x="2804099" y="1572768"/>
            <a:ext cx="2072579" cy="3611880"/>
          </a:xfrm>
          <a:prstGeom prst="roundRect">
            <a:avLst>
              <a:gd name="adj" fmla="val 5294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2986979" y="1755648"/>
            <a:ext cx="17068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Отмена основной МЧД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6979" y="2350008"/>
            <a:ext cx="17068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chemeClr val="accent1"/>
                </a:solidFill>
              </a:rPr>
              <a:t>п. 3 ст. 188 ГК РФ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986979" y="2834640"/>
            <a:ext cx="170681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вместе с ней теряет силу передоверие</a:t>
            </a:r>
            <a:endParaRPr lang="en-US" sz="1200" dirty="0"/>
          </a:p>
        </p:txBody>
      </p:sp>
      <p:sp>
        <p:nvSpPr>
          <p:cNvPr id="17" name="Вердикт: ОПРОВЕРГНУТО"/>
          <p:cNvSpPr/>
          <p:nvPr/>
        </p:nvSpPr>
        <p:spPr>
          <a:xfrm>
            <a:off x="2986979" y="3968496"/>
            <a:ext cx="1706819" cy="292608"/>
          </a:xfrm>
          <a:prstGeom prst="roundRect">
            <a:avLst>
              <a:gd name="adj" fmla="val 50000"/>
            </a:avLst>
          </a:prstGeom>
          <a:solidFill>
            <a:srgbClr val="FDE6E7"/>
          </a:solidFill>
          <a:ln/>
        </p:spPr>
      </p:sp>
      <p:sp>
        <p:nvSpPr>
          <p:cNvPr id="18" name="Метка статуса"/>
          <p:cNvSpPr/>
          <p:nvPr/>
        </p:nvSpPr>
        <p:spPr>
          <a:xfrm>
            <a:off x="3124139" y="4069080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288731" y="3968496"/>
            <a:ext cx="13410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A3161B"/>
                </a:solidFill>
              </a:rPr>
              <a:t>ОПРОВЕРГНУТО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2986979" y="4361688"/>
            <a:ext cx="17068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2557A"/>
                </a:solidFill>
              </a:rPr>
              <a:t>каскад по всей цепочке</a:t>
            </a:r>
            <a:endParaRPr lang="en-US" sz="1150" dirty="0"/>
          </a:p>
        </p:txBody>
      </p:sp>
      <p:sp>
        <p:nvSpPr>
          <p:cNvPr id="21" name="Карточка"/>
          <p:cNvSpPr/>
          <p:nvPr/>
        </p:nvSpPr>
        <p:spPr>
          <a:xfrm>
            <a:off x="5059558" y="1572768"/>
            <a:ext cx="2072579" cy="3611880"/>
          </a:xfrm>
          <a:prstGeom prst="roundRect">
            <a:avLst>
              <a:gd name="adj" fmla="val 5294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5242438" y="1755648"/>
            <a:ext cx="17068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Срок не указан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242438" y="2350008"/>
            <a:ext cx="17068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chemeClr val="accent1"/>
                </a:solidFill>
              </a:rPr>
              <a:t>п. 1 ст. 186 ГК РФ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42438" y="2834640"/>
            <a:ext cx="170681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МЧД действует год со дня совершения</a:t>
            </a:r>
            <a:endParaRPr lang="en-US" sz="1200" dirty="0"/>
          </a:p>
        </p:txBody>
      </p:sp>
      <p:sp>
        <p:nvSpPr>
          <p:cNvPr id="25" name="Вердикт: НА РАЗБОР"/>
          <p:cNvSpPr/>
          <p:nvPr/>
        </p:nvSpPr>
        <p:spPr>
          <a:xfrm>
            <a:off x="5242438" y="3968496"/>
            <a:ext cx="1706819" cy="292608"/>
          </a:xfrm>
          <a:prstGeom prst="roundRect">
            <a:avLst>
              <a:gd name="adj" fmla="val 50000"/>
            </a:avLst>
          </a:prstGeom>
          <a:solidFill>
            <a:srgbClr val="FFF1D4"/>
          </a:solidFill>
          <a:ln/>
        </p:spPr>
      </p:sp>
      <p:sp>
        <p:nvSpPr>
          <p:cNvPr id="26" name="Метка статуса"/>
          <p:cNvSpPr/>
          <p:nvPr/>
        </p:nvSpPr>
        <p:spPr>
          <a:xfrm>
            <a:off x="5379598" y="4069080"/>
            <a:ext cx="91440" cy="91440"/>
          </a:xfrm>
          <a:prstGeom prst="ellipse">
            <a:avLst/>
          </a:prstGeom>
          <a:solidFill>
            <a:srgbClr val="F5A3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544190" y="3968496"/>
            <a:ext cx="13410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7A4E00"/>
                </a:solidFill>
              </a:rPr>
              <a:t>НА РАЗБОР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242438" y="4361688"/>
            <a:ext cx="17068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2557A"/>
                </a:solidFill>
              </a:rPr>
              <a:t>истёк год — опровергнуто</a:t>
            </a:r>
            <a:endParaRPr lang="en-US" sz="1150" dirty="0"/>
          </a:p>
        </p:txBody>
      </p:sp>
      <p:sp>
        <p:nvSpPr>
          <p:cNvPr id="29" name="Карточка"/>
          <p:cNvSpPr/>
          <p:nvPr/>
        </p:nvSpPr>
        <p:spPr>
          <a:xfrm>
            <a:off x="7315017" y="1572768"/>
            <a:ext cx="2072579" cy="3611880"/>
          </a:xfrm>
          <a:prstGeom prst="roundRect">
            <a:avLst>
              <a:gd name="adj" fmla="val 5294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7497897" y="1755648"/>
            <a:ext cx="17068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Передоверие с утратой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497897" y="2350008"/>
            <a:ext cx="17068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chemeClr val="accent1"/>
                </a:solidFill>
              </a:rPr>
              <a:t>признак ПрУтрПолн = 2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497897" y="2834640"/>
            <a:ext cx="170681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передоверитель больше не вправе действовать</a:t>
            </a:r>
            <a:endParaRPr lang="en-US" sz="1200" dirty="0"/>
          </a:p>
        </p:txBody>
      </p:sp>
      <p:sp>
        <p:nvSpPr>
          <p:cNvPr id="33" name="Вердикт: ОПРОВЕРГНУТО"/>
          <p:cNvSpPr/>
          <p:nvPr/>
        </p:nvSpPr>
        <p:spPr>
          <a:xfrm>
            <a:off x="7497897" y="3968496"/>
            <a:ext cx="1706819" cy="292608"/>
          </a:xfrm>
          <a:prstGeom prst="roundRect">
            <a:avLst>
              <a:gd name="adj" fmla="val 50000"/>
            </a:avLst>
          </a:prstGeom>
          <a:solidFill>
            <a:srgbClr val="FDE6E7"/>
          </a:solidFill>
          <a:ln/>
        </p:spPr>
      </p:sp>
      <p:sp>
        <p:nvSpPr>
          <p:cNvPr id="34" name="Метка статуса"/>
          <p:cNvSpPr/>
          <p:nvPr/>
        </p:nvSpPr>
        <p:spPr>
          <a:xfrm>
            <a:off x="7635057" y="4069080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799649" y="3968496"/>
            <a:ext cx="13410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A3161B"/>
                </a:solidFill>
              </a:rPr>
              <a:t>ОПРОВЕРГНУТО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7497897" y="4361688"/>
            <a:ext cx="17068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2557A"/>
                </a:solidFill>
              </a:rPr>
              <a:t>действует только новый представитель</a:t>
            </a:r>
            <a:endParaRPr lang="en-US" sz="1150" dirty="0"/>
          </a:p>
        </p:txBody>
      </p:sp>
      <p:sp>
        <p:nvSpPr>
          <p:cNvPr id="37" name="Карточка"/>
          <p:cNvSpPr/>
          <p:nvPr/>
        </p:nvSpPr>
        <p:spPr>
          <a:xfrm>
            <a:off x="9570476" y="1572768"/>
            <a:ext cx="2072579" cy="3611880"/>
          </a:xfrm>
          <a:prstGeom prst="roundRect">
            <a:avLst>
              <a:gd name="adj" fmla="val 5294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9753356" y="1755648"/>
            <a:ext cx="17068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chemeClr val="tx2"/>
                </a:solidFill>
              </a:rPr>
              <a:t>Банкротство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9753356" y="2350008"/>
            <a:ext cx="17068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753356" y="2834640"/>
            <a:ext cx="170681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chemeClr val="tx1"/>
                </a:solidFill>
              </a:rPr>
              <a:t>конкурсное производство и внешнее управление прекращают МЧД</a:t>
            </a:r>
            <a:endParaRPr lang="en-US" sz="1200" dirty="0"/>
          </a:p>
        </p:txBody>
      </p:sp>
      <p:sp>
        <p:nvSpPr>
          <p:cNvPr id="41" name="Вердикт: ОПРОВЕРГНУТО"/>
          <p:cNvSpPr/>
          <p:nvPr/>
        </p:nvSpPr>
        <p:spPr>
          <a:xfrm>
            <a:off x="9753356" y="3968496"/>
            <a:ext cx="1706819" cy="292608"/>
          </a:xfrm>
          <a:prstGeom prst="roundRect">
            <a:avLst>
              <a:gd name="adj" fmla="val 50000"/>
            </a:avLst>
          </a:prstGeom>
          <a:solidFill>
            <a:srgbClr val="FDE6E7"/>
          </a:solidFill>
          <a:ln/>
        </p:spPr>
      </p:sp>
      <p:sp>
        <p:nvSpPr>
          <p:cNvPr id="42" name="Метка статуса"/>
          <p:cNvSpPr/>
          <p:nvPr/>
        </p:nvSpPr>
        <p:spPr>
          <a:xfrm>
            <a:off x="9890516" y="4069080"/>
            <a:ext cx="91440" cy="91440"/>
          </a:xfrm>
          <a:prstGeom prst="ellipse">
            <a:avLst/>
          </a:prstGeom>
          <a:solidFill>
            <a:srgbClr val="E5484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0055108" y="3968496"/>
            <a:ext cx="13410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A3161B"/>
                </a:solidFill>
              </a:rPr>
              <a:t>ОПРОВЕРГНУТО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9753356" y="4361688"/>
            <a:ext cx="170681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2557A"/>
                </a:solidFill>
              </a:rPr>
              <a:t>наблюдение — на разбор</a:t>
            </a:r>
            <a:endParaRPr lang="en-US" sz="1150" dirty="0"/>
          </a:p>
        </p:txBody>
      </p:sp>
      <p:sp>
        <p:nvSpPr>
          <p:cNvPr id="45" name="Плашка вывода"/>
          <p:cNvSpPr/>
          <p:nvPr/>
        </p:nvSpPr>
        <p:spPr>
          <a:xfrm>
            <a:off x="548640" y="5413248"/>
            <a:ext cx="11094415" cy="731520"/>
          </a:xfrm>
          <a:prstGeom prst="roundRect">
            <a:avLst>
              <a:gd name="adj" fmla="val 15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46" name="Плитка значка"/>
          <p:cNvSpPr/>
          <p:nvPr/>
        </p:nvSpPr>
        <p:spPr>
          <a:xfrm>
            <a:off x="749808" y="555040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47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5650992"/>
            <a:ext cx="256032" cy="256032"/>
          </a:xfrm>
          <a:prstGeom prst="rect">
            <a:avLst/>
          </a:prstGeom>
        </p:spPr>
      </p:pic>
      <p:sp>
        <p:nvSpPr>
          <p:cNvPr id="48" name="Text 45"/>
          <p:cNvSpPr txBox="1"/>
          <p:nvPr/>
        </p:nvSpPr>
        <p:spPr>
          <a:xfrm>
            <a:off x="1389888" y="5413248"/>
            <a:ext cx="997884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ДОВЕРИЕ БЕЗ БАЗЫ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2"/>
                </a:solidFill>
              </a:rPr>
              <a:t>Доверие без доступа к базе: подписанное удостоверение, статус и журнал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2718F"/>
                </a:solidFill>
              </a:rPr>
              <a:t>Стандарты: W3C Verifiable Credentials 2.0 и Bitstring Status List v1.0 (Рекомендации W3C, 15.05.2025); RFC 6962 / RFC 9162. На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3545738" cy="3108960"/>
          </a:xfrm>
          <a:prstGeom prst="roundRect">
            <a:avLst>
              <a:gd name="adj" fmla="val 3529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Плитка значка"/>
          <p:cNvSpPr/>
          <p:nvPr/>
        </p:nvSpPr>
        <p:spPr>
          <a:xfrm>
            <a:off x="777240" y="177393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7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847" y="1878543"/>
            <a:ext cx="266273" cy="26627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89888" y="1773936"/>
            <a:ext cx="25398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Удостоверение</a:t>
            </a:r>
            <a:endParaRPr lang="en-US" sz="1600" dirty="0"/>
          </a:p>
        </p:txBody>
      </p:sp>
      <p:sp>
        <p:nvSpPr>
          <p:cNvPr id="9" name="Список"/>
          <p:cNvSpPr txBox="1"/>
          <p:nvPr/>
        </p:nvSpPr>
        <p:spPr>
          <a:xfrm>
            <a:off x="822960" y="2441448"/>
            <a:ext cx="304281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вердикт, операция, хеш набора правил и входов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номера МЧД цепочки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без ФИО, только хеш ИНН представителя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привязка к сумме, получателю и одноразовому nonce</a:t>
            </a:r>
            <a:endParaRPr lang="en-US" sz="1300" dirty="0"/>
          </a:p>
        </p:txBody>
      </p:sp>
      <p:sp>
        <p:nvSpPr>
          <p:cNvPr id="10" name="Карточка"/>
          <p:cNvSpPr/>
          <p:nvPr/>
        </p:nvSpPr>
        <p:spPr>
          <a:xfrm>
            <a:off x="4322978" y="1572768"/>
            <a:ext cx="3545738" cy="3108960"/>
          </a:xfrm>
          <a:prstGeom prst="roundRect">
            <a:avLst>
              <a:gd name="adj" fmla="val 3529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1" name="Плитка значка"/>
          <p:cNvSpPr/>
          <p:nvPr/>
        </p:nvSpPr>
        <p:spPr>
          <a:xfrm>
            <a:off x="4551578" y="177393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2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186" y="1878543"/>
            <a:ext cx="266273" cy="26627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164226" y="1773936"/>
            <a:ext cx="25398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Статус</a:t>
            </a:r>
            <a:endParaRPr lang="en-US" sz="1600" dirty="0"/>
          </a:p>
        </p:txBody>
      </p:sp>
      <p:sp>
        <p:nvSpPr>
          <p:cNvPr id="14" name="Список"/>
          <p:cNvSpPr txBox="1"/>
          <p:nvPr/>
        </p:nvSpPr>
        <p:spPr>
          <a:xfrm>
            <a:off x="4597298" y="2441448"/>
            <a:ext cx="304281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списки «отозвано» и «приостановлено»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мониторинг меняет статус по событию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проверяющий видит статус сам и отвергает подложенный старый список</a:t>
            </a:r>
            <a:endParaRPr lang="en-US" sz="1300" dirty="0"/>
          </a:p>
        </p:txBody>
      </p:sp>
      <p:sp>
        <p:nvSpPr>
          <p:cNvPr id="15" name="Карточка"/>
          <p:cNvSpPr/>
          <p:nvPr/>
        </p:nvSpPr>
        <p:spPr>
          <a:xfrm>
            <a:off x="8097317" y="1572768"/>
            <a:ext cx="3545738" cy="3108960"/>
          </a:xfrm>
          <a:prstGeom prst="roundRect">
            <a:avLst>
              <a:gd name="adj" fmla="val 3529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6" name="Плитка значка"/>
          <p:cNvSpPr/>
          <p:nvPr/>
        </p:nvSpPr>
        <p:spPr>
          <a:xfrm>
            <a:off x="8325917" y="177393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7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0524" y="1878543"/>
            <a:ext cx="266273" cy="26627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938565" y="1773936"/>
            <a:ext cx="25398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chemeClr val="tx2"/>
                </a:solidFill>
              </a:rPr>
              <a:t>Журнал решений</a:t>
            </a:r>
            <a:endParaRPr lang="en-US" sz="1600" dirty="0"/>
          </a:p>
        </p:txBody>
      </p:sp>
      <p:sp>
        <p:nvSpPr>
          <p:cNvPr id="19" name="Список"/>
          <p:cNvSpPr txBox="1"/>
          <p:nvPr/>
        </p:nvSpPr>
        <p:spPr>
          <a:xfrm>
            <a:off x="8371637" y="2441448"/>
            <a:ext cx="304281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хеш-цепочка и HMAC: правка записи видна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дерево Меркла: доказательство одной записи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аудитор не получает весь журнал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внешний якорь сегментов в контуре банка</a:t>
            </a:r>
            <a:endParaRPr lang="en-US" sz="1300" dirty="0"/>
          </a:p>
        </p:txBody>
      </p:sp>
      <p:sp>
        <p:nvSpPr>
          <p:cNvPr id="20" name="Карточка"/>
          <p:cNvSpPr/>
          <p:nvPr/>
        </p:nvSpPr>
        <p:spPr>
          <a:xfrm>
            <a:off x="548640" y="4910328"/>
            <a:ext cx="11094415" cy="1234440"/>
          </a:xfrm>
          <a:prstGeom prst="roundRect">
            <a:avLst>
              <a:gd name="adj" fmla="val 8889"/>
            </a:avLst>
          </a:prstGeom>
          <a:solidFill>
            <a:srgbClr val="E6F0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2960" y="50932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spc="50" kern="0" dirty="0">
                <a:solidFill>
                  <a:schemeClr val="accent1"/>
                </a:solidFill>
              </a:rPr>
              <a:t>Сценарий</a:t>
            </a:r>
            <a:endParaRPr lang="en-US" sz="1200" dirty="0"/>
          </a:p>
        </p:txBody>
      </p:sp>
      <p:sp>
        <p:nvSpPr>
          <p:cNvPr id="22" name="Карточка"/>
          <p:cNvSpPr/>
          <p:nvPr/>
        </p:nvSpPr>
        <p:spPr>
          <a:xfrm>
            <a:off x="822960" y="5477256"/>
            <a:ext cx="1889699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932688" y="5477256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chemeClr val="tx2"/>
                </a:solidFill>
              </a:rPr>
              <a:t>проверка</a:t>
            </a:r>
            <a:endParaRPr lang="en-US" sz="1250" dirty="0"/>
          </a:p>
        </p:txBody>
      </p:sp>
      <p:sp>
        <p:nvSpPr>
          <p:cNvPr id="24" name="Стрелка"/>
          <p:cNvSpPr/>
          <p:nvPr/>
        </p:nvSpPr>
        <p:spPr>
          <a:xfrm>
            <a:off x="2740091" y="5705856"/>
            <a:ext cx="219456" cy="0"/>
          </a:xfrm>
          <a:prstGeom prst="line">
            <a:avLst/>
          </a:prstGeom>
          <a:noFill/>
          <a:ln w="19050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25" name="Карточка"/>
          <p:cNvSpPr/>
          <p:nvPr/>
        </p:nvSpPr>
        <p:spPr>
          <a:xfrm>
            <a:off x="2986979" y="5477256"/>
            <a:ext cx="1889699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3096707" y="5477256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chemeClr val="tx2"/>
                </a:solidFill>
              </a:rPr>
              <a:t>удостоверение уходит в «ВТБ Бизнес»</a:t>
            </a:r>
            <a:endParaRPr lang="en-US" sz="1250" dirty="0"/>
          </a:p>
        </p:txBody>
      </p:sp>
      <p:sp>
        <p:nvSpPr>
          <p:cNvPr id="27" name="Стрелка"/>
          <p:cNvSpPr/>
          <p:nvPr/>
        </p:nvSpPr>
        <p:spPr>
          <a:xfrm>
            <a:off x="4904110" y="5705856"/>
            <a:ext cx="219456" cy="0"/>
          </a:xfrm>
          <a:prstGeom prst="line">
            <a:avLst/>
          </a:prstGeom>
          <a:noFill/>
          <a:ln w="19050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28" name="Карточка"/>
          <p:cNvSpPr/>
          <p:nvPr/>
        </p:nvSpPr>
        <p:spPr>
          <a:xfrm>
            <a:off x="5150998" y="5477256"/>
            <a:ext cx="1889699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5260726" y="5477256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chemeClr val="tx2"/>
                </a:solidFill>
              </a:rPr>
              <a:t>основную МЧД отменили</a:t>
            </a:r>
            <a:endParaRPr lang="en-US" sz="1250" dirty="0"/>
          </a:p>
        </p:txBody>
      </p:sp>
      <p:sp>
        <p:nvSpPr>
          <p:cNvPr id="30" name="Стрелка"/>
          <p:cNvSpPr/>
          <p:nvPr/>
        </p:nvSpPr>
        <p:spPr>
          <a:xfrm>
            <a:off x="7068129" y="5705856"/>
            <a:ext cx="219456" cy="0"/>
          </a:xfrm>
          <a:prstGeom prst="line">
            <a:avLst/>
          </a:prstGeom>
          <a:noFill/>
          <a:ln w="19050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31" name="Карточка"/>
          <p:cNvSpPr/>
          <p:nvPr/>
        </p:nvSpPr>
        <p:spPr>
          <a:xfrm>
            <a:off x="7315017" y="5477256"/>
            <a:ext cx="1889699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7424745" y="5477256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chemeClr val="tx2"/>
                </a:solidFill>
              </a:rPr>
              <a:t>мониторинг ставит «отозвано»</a:t>
            </a:r>
            <a:endParaRPr lang="en-US" sz="1250" dirty="0"/>
          </a:p>
        </p:txBody>
      </p:sp>
      <p:sp>
        <p:nvSpPr>
          <p:cNvPr id="33" name="Стрелка"/>
          <p:cNvSpPr/>
          <p:nvPr/>
        </p:nvSpPr>
        <p:spPr>
          <a:xfrm>
            <a:off x="9232148" y="5705856"/>
            <a:ext cx="219456" cy="0"/>
          </a:xfrm>
          <a:prstGeom prst="line">
            <a:avLst/>
          </a:prstGeom>
          <a:noFill/>
          <a:ln w="19050">
            <a:solidFill>
              <a:srgbClr val="004CBC"/>
            </a:solidFill>
            <a:prstDash val="solid"/>
            <a:tailEnd type="triangle"/>
          </a:ln>
        </p:spPr>
      </p:sp>
      <p:sp>
        <p:nvSpPr>
          <p:cNvPr id="34" name="Карточка"/>
          <p:cNvSpPr/>
          <p:nvPr/>
        </p:nvSpPr>
        <p:spPr>
          <a:xfrm>
            <a:off x="9479036" y="5477256"/>
            <a:ext cx="1889699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9DCFA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9588764" y="5477256"/>
            <a:ext cx="16702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chemeClr val="tx2"/>
                </a:solidFill>
              </a:rPr>
              <a:t>интернет-банк видит статус сам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ИЗМЕРЕНИЕ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2"/>
                </a:solidFill>
              </a:rPr>
              <a:t>Как мы измеряем качество — и что изменится на реальных данных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2718F"/>
                </a:solidFill>
              </a:rPr>
              <a:t>Источники: evidence.json, docs/EVALUATION.md, docs/audit/AUDIT-2026-10-27-DIFFERENTIAL.md;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4" name="Таблица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486400"/>
                <a:gridCol w="332201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Что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Сейчас: синтетика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На пилоте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2973"/>
                          </a:solidFill>
                        </a:rPr>
                        <a:t>Корпус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294 кейса, 49 видов: 1 зелёный, 18 опровергающих, 21 на разбор, 9 без данных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50–100 обезличенных пакетов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2973"/>
                          </a:solidFill>
                        </a:rPr>
                        <a:t>Ложные «подтверждено»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0 из 288, верхняя граница 95% — 1,3%; по видам дефектов 0 из 48, граница 7,4%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стоп-критерий: 0 на всех кейсах пилота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2973"/>
                          </a:solidFill>
                        </a:rPr>
                        <a:t>Полнота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все опровергающие найдены, нижняя граница 95% — 96,6%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не меньше 139 дефектных случаев для ±5%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2973"/>
                          </a:solidFill>
                        </a:rPr>
                        <a:t>Покрытие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38,8% автоматических вердиктов в профиле demo, риск среди них ≤ 3,2%; 0,0% в strict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порог согласуем с банком до старта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2973"/>
                          </a:solidFill>
                        </a:rPr>
                        <a:t>Устойчивость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8 814 мутаций сценариев без ложного «да»; отложенный seed без расхождений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отдельная попытка построить ложное «да»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2973"/>
                          </a:solidFill>
                        </a:rPr>
                        <a:t>Независимая проверка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384 цепочки: «Мандат» и Cedar совпали; JCS, Меркл и подпись сверены с внешними эталонами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символьное доказательство свойства на Cedar SymCC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2973"/>
                          </a:solidFill>
                        </a:rPr>
                        <a:t>Разметка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ожидаемый вердикт задан генератором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два независимых эксперта, κ Коэна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ИНФОРМАЦИОННАЯ БЕЗОПАСНОСТЬ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2"/>
                </a:solidFill>
              </a:rPr>
              <a:t>Всё в контуре банка: данные, модель и решения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2718F"/>
                </a:solidFill>
              </a:rPr>
              <a:t>Это описание проектных решений, а не оценка соответствия: её проводят ИБ и юристы банка. 821-П, 851-П и ГОСТ Р 57580.1 — меры стенда и пробелы перечислены в docs/REGULATORY.md. docs/DATA_PROTECTION.md, docs/THREAT_MODEL.md</a:t>
            </a:r>
            <a:endParaRPr lang="en-US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3545738" cy="2171700"/>
          </a:xfrm>
          <a:prstGeom prst="roundRect">
            <a:avLst>
              <a:gd name="adj" fmla="val 505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Плитка значка"/>
          <p:cNvSpPr/>
          <p:nvPr/>
        </p:nvSpPr>
        <p:spPr>
          <a:xfrm>
            <a:off x="777240" y="18013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7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847" y="1905975"/>
            <a:ext cx="266273" cy="26627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89888" y="1801368"/>
            <a:ext cx="25398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On-prem без сети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441448"/>
            <a:ext cx="3088538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300" dirty="0"/>
          </a:p>
        </p:txBody>
      </p:sp>
      <p:sp>
        <p:nvSpPr>
          <p:cNvPr id="10" name="Карточка"/>
          <p:cNvSpPr/>
          <p:nvPr/>
        </p:nvSpPr>
        <p:spPr>
          <a:xfrm>
            <a:off x="4322978" y="1572768"/>
            <a:ext cx="3545738" cy="2171700"/>
          </a:xfrm>
          <a:prstGeom prst="roundRect">
            <a:avLst>
              <a:gd name="adj" fmla="val 505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1" name="Плитка значка"/>
          <p:cNvSpPr/>
          <p:nvPr/>
        </p:nvSpPr>
        <p:spPr>
          <a:xfrm>
            <a:off x="4551578" y="18013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2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186" y="1905975"/>
            <a:ext cx="266273" cy="26627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164226" y="1801368"/>
            <a:ext cx="25398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Персональные данные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551578" y="2441448"/>
            <a:ext cx="3088538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псевдонимизация ИНН, СНИЛС, паспорта, телефона, почты; в модель — только строки о полномочиях</a:t>
            </a:r>
            <a:endParaRPr lang="en-US" sz="1300" dirty="0"/>
          </a:p>
        </p:txBody>
      </p:sp>
      <p:sp>
        <p:nvSpPr>
          <p:cNvPr id="15" name="Карточка"/>
          <p:cNvSpPr/>
          <p:nvPr/>
        </p:nvSpPr>
        <p:spPr>
          <a:xfrm>
            <a:off x="8097317" y="1572768"/>
            <a:ext cx="3545738" cy="2171700"/>
          </a:xfrm>
          <a:prstGeom prst="roundRect">
            <a:avLst>
              <a:gd name="adj" fmla="val 505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6" name="Плитка значка"/>
          <p:cNvSpPr/>
          <p:nvPr/>
        </p:nvSpPr>
        <p:spPr>
          <a:xfrm>
            <a:off x="8325917" y="18013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7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0524" y="1905975"/>
            <a:ext cx="266273" cy="26627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938565" y="1801368"/>
            <a:ext cx="25398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Вредоносные файлы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8325917" y="2441448"/>
            <a:ext cx="3088538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защита от XML-бомб и внешних сущностей, строгий JSON на всех внешних входах, лимиты размера и глубины</a:t>
            </a:r>
            <a:endParaRPr lang="en-US" sz="1300" dirty="0"/>
          </a:p>
        </p:txBody>
      </p:sp>
      <p:sp>
        <p:nvSpPr>
          <p:cNvPr id="20" name="Карточка"/>
          <p:cNvSpPr/>
          <p:nvPr/>
        </p:nvSpPr>
        <p:spPr>
          <a:xfrm>
            <a:off x="548640" y="3973068"/>
            <a:ext cx="3545738" cy="2171700"/>
          </a:xfrm>
          <a:prstGeom prst="roundRect">
            <a:avLst>
              <a:gd name="adj" fmla="val 505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1" name="Плитка значка"/>
          <p:cNvSpPr/>
          <p:nvPr/>
        </p:nvSpPr>
        <p:spPr>
          <a:xfrm>
            <a:off x="777240" y="42016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22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847" y="4306275"/>
            <a:ext cx="266273" cy="26627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389888" y="4201668"/>
            <a:ext cx="25398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API и роли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777240" y="4841748"/>
            <a:ext cx="3088538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оператор, рецензент, аудитор; чужой кейс не виден; токены — только хеши, лимит частоты и тела</a:t>
            </a:r>
            <a:endParaRPr lang="en-US" sz="1300" dirty="0"/>
          </a:p>
        </p:txBody>
      </p:sp>
      <p:sp>
        <p:nvSpPr>
          <p:cNvPr id="25" name="Карточка"/>
          <p:cNvSpPr/>
          <p:nvPr/>
        </p:nvSpPr>
        <p:spPr>
          <a:xfrm>
            <a:off x="4322978" y="3973068"/>
            <a:ext cx="3545738" cy="2171700"/>
          </a:xfrm>
          <a:prstGeom prst="roundRect">
            <a:avLst>
              <a:gd name="adj" fmla="val 505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6" name="Плитка значка"/>
          <p:cNvSpPr/>
          <p:nvPr/>
        </p:nvSpPr>
        <p:spPr>
          <a:xfrm>
            <a:off x="4551578" y="42016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27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6186" y="4306275"/>
            <a:ext cx="266273" cy="26627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164226" y="4201668"/>
            <a:ext cx="25398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152-ФЗ и 115-ФЗ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4551578" y="4841748"/>
            <a:ext cx="3088538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спроектировано с учётом 152-ФЗ; идентификацию по 115-ФЗ не подменяем — она за каналами банка</a:t>
            </a:r>
            <a:endParaRPr lang="en-US" sz="1300" dirty="0"/>
          </a:p>
        </p:txBody>
      </p:sp>
      <p:sp>
        <p:nvSpPr>
          <p:cNvPr id="30" name="Карточка"/>
          <p:cNvSpPr/>
          <p:nvPr/>
        </p:nvSpPr>
        <p:spPr>
          <a:xfrm>
            <a:off x="8097317" y="3973068"/>
            <a:ext cx="3545738" cy="2171700"/>
          </a:xfrm>
          <a:prstGeom prst="roundRect">
            <a:avLst>
              <a:gd name="adj" fmla="val 5053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31" name="Плитка значка"/>
          <p:cNvSpPr/>
          <p:nvPr/>
        </p:nvSpPr>
        <p:spPr>
          <a:xfrm>
            <a:off x="8325917" y="42016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32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0524" y="4306275"/>
            <a:ext cx="266273" cy="26627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938565" y="4201668"/>
            <a:ext cx="253989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Подпись и сборка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8325917" y="4841748"/>
            <a:ext cx="3088538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КЭП — через СКЗИ банка, ключ — HSM, Vault или KMS; в CI закреплённые версии, pip-audit, CodeQL, SBOM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РИСКИ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2"/>
                </a:solidFill>
              </a:rPr>
              <a:t>Риски, которые банк увидит первыми, — и как мы их снимаем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2718F"/>
                </a:solidFill>
              </a:rPr>
              <a:t>LIMITS.md — полный список границ; docs/AI_RISKS.md — матрица рисков ИИ; docs/audit — Red Team допуска операции</a:t>
            </a:r>
            <a:endParaRPr lang="en-US" sz="1000" dirty="0"/>
          </a:p>
        </p:txBody>
      </p:sp>
      <p:graphicFrame>
        <p:nvGraphicFramePr>
          <p:cNvPr id="26" name="Таблица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41345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Риск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Как снимаем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Чем контролируем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2973"/>
                          </a:solidFill>
                        </a:rPr>
                        <a:t>Ложное подтверждение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неизвестное не становится «да», обязательные группы проверок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0 ложных «подтверждено» — стоп-критерий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2973"/>
                          </a:solidFill>
                        </a:rPr>
                        <a:t>Удостоверение на чужую дату или компанию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сверка дня по Москве и ИНН организации; срок не длиннее 30 дней и сроков цепочки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тесты привязки к запросу; Red Team допуска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2973"/>
                          </a:solidFill>
                        </a:rPr>
                        <a:t>Ошибка в норме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норма у каждого правила, статус draft/approved, юрист банка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доля правил, утверждённых юристом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2973"/>
                          </a:solidFill>
                        </a:rPr>
                        <a:t>Ошибка модели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нет цитаты — нет факта; вердикт модель не меняет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тест «модель не меняет вердикт»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2973"/>
                          </a:solidFill>
                        </a:rPr>
                        <a:t>Формат МЧД изменится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теги — в файле соответствия, формы ЦБ по 315-ФЗ — через адаптер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пересборка примеров одной командой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2973"/>
                          </a:solidFill>
                        </a:rPr>
                        <a:t>Нагрузка «на разбор»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сигнал вместо разбора там, где закон позволяет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доля «на разбор» с порогом банка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A2973"/>
                          </a:solidFill>
                        </a:rPr>
                        <a:t>Интеграция с ДБО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на пилоте — только рекомендация, без изменений в ДБО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1F44"/>
                          </a:solidFill>
                        </a:rPr>
                        <a:t>сценарий пилота без доработок ДБО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ЭКОНОМИКА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2"/>
                </a:solidFill>
              </a:rPr>
              <a:t>Расчёт эффекта: формулы, допущения и мировой ориентир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2718F"/>
                </a:solidFill>
              </a:rPr>
              <a:t>Источники: Банк России, I–II кв. 2026; ВТБ, МСФО за 1П 2026 (вторичный источник); Fenergo — отраслевые опросы 2022 и 2025 гг. (данные поставщика ПО)</a:t>
            </a:r>
            <a:endParaRPr lang="en-US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5432908" cy="3246120"/>
          </a:xfrm>
          <a:prstGeom prst="roundRect">
            <a:avLst>
              <a:gd name="adj" fmla="val 338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Плитка значка"/>
          <p:cNvSpPr/>
          <p:nvPr/>
        </p:nvSpPr>
        <p:spPr>
          <a:xfrm>
            <a:off x="777240" y="177393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7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9777" y="1866473"/>
            <a:ext cx="235549" cy="23554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25880" y="1773936"/>
            <a:ext cx="44270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Формулы «Мандата»</a:t>
            </a:r>
            <a:endParaRPr lang="en-US" sz="1500" dirty="0"/>
          </a:p>
        </p:txBody>
      </p:sp>
      <p:sp>
        <p:nvSpPr>
          <p:cNvPr id="9" name="Список"/>
          <p:cNvSpPr txBox="1"/>
          <p:nvPr/>
        </p:nvSpPr>
        <p:spPr>
          <a:xfrm>
            <a:off x="822960" y="2395728"/>
            <a:ext cx="492998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Ставки = клиенты × доля с событием представительства × минуты на кейс (с разбором) ÷ 60 ÷ 1 800 ч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Ущерб = 818 × 4 × доля ВТБ × доля случаев с полномочиями × 0,7 млн ₽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Годовой объём — I кв. 2026 × 4; во II кв. потери юрлиц выше, поэтому база консервативна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250" dirty="0"/>
          </a:p>
        </p:txBody>
      </p:sp>
      <p:sp>
        <p:nvSpPr>
          <p:cNvPr id="10" name="Карточка"/>
          <p:cNvSpPr/>
          <p:nvPr/>
        </p:nvSpPr>
        <p:spPr>
          <a:xfrm>
            <a:off x="6210148" y="1572768"/>
            <a:ext cx="5432908" cy="3246120"/>
          </a:xfrm>
          <a:prstGeom prst="roundRect">
            <a:avLst>
              <a:gd name="adj" fmla="val 3380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1" name="Плитка значка"/>
          <p:cNvSpPr/>
          <p:nvPr/>
        </p:nvSpPr>
        <p:spPr>
          <a:xfrm>
            <a:off x="6438748" y="1773936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E6F0FF"/>
          </a:solidFill>
          <a:ln/>
        </p:spPr>
      </p:sp>
      <p:pic>
        <p:nvPicPr>
          <p:cNvPr id="12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1285" y="1866473"/>
            <a:ext cx="235549" cy="23554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987388" y="1773936"/>
            <a:ext cx="44270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Мировой ориентир — не наша экономия</a:t>
            </a:r>
            <a:endParaRPr lang="en-US" sz="1500" dirty="0"/>
          </a:p>
        </p:txBody>
      </p:sp>
      <p:sp>
        <p:nvSpPr>
          <p:cNvPr id="14" name="Список"/>
          <p:cNvSpPr txBox="1"/>
          <p:nvPr/>
        </p:nvSpPr>
        <p:spPr>
          <a:xfrm>
            <a:off x="6484468" y="2395728"/>
            <a:ext cx="4929988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2022)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70% финансовых организаций за год теряли клиентов из-за медленного подключения (опрос Fenergo, 2025)</a:t>
            </a:r>
            <a:endParaRPr lang="en-US" sz="125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KYC шире проверки полномочий, а масштаб западных корпоративных банков несопоставим со сменой подписанта в МСБ</a:t>
            </a:r>
            <a:endParaRPr lang="en-US" sz="1250" dirty="0"/>
          </a:p>
        </p:txBody>
      </p:sp>
      <p:sp>
        <p:nvSpPr>
          <p:cNvPr id="15" name="Плашка вывода"/>
          <p:cNvSpPr/>
          <p:nvPr/>
        </p:nvSpPr>
        <p:spPr>
          <a:xfrm>
            <a:off x="548640" y="5047488"/>
            <a:ext cx="11094415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6" name="Плитка значка"/>
          <p:cNvSpPr/>
          <p:nvPr/>
        </p:nvSpPr>
        <p:spPr>
          <a:xfrm>
            <a:off x="749808" y="536752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17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5468112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389888" y="5047488"/>
            <a:ext cx="997884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chemeClr val="bg1"/>
                </a:solidFill>
              </a:rPr>
              <a:t>Что заменит допущения фактами: число событий представительства в год, минуты на кейс по хронометражу 30–50 проверок, доля инцидентов, связанных с полномочиями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ТРУДНЫЕ ВОПРОСЫ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2"/>
                </a:solidFill>
              </a:rPr>
              <a:t>Трудные вопросы жюри (1/2)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2718F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8" name="Таблица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68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Вопрос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Ответ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973"/>
                          </a:solidFill>
                        </a:rPr>
                        <a:t>Чем вы лучше проверки статуса МЧД в реестре ФНС?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F44"/>
                          </a:solidFill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973"/>
                          </a:solidFill>
                        </a:rPr>
                        <a:t>Откуда «0 ложных», если данные синтетические?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F44"/>
                          </a:solidFill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973"/>
                          </a:solidFill>
                        </a:rPr>
                        <a:t>Кто отвечает, если «подтверждено», а это мошенник?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F44"/>
                          </a:solidFill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973"/>
                          </a:solidFill>
                        </a:rPr>
                        <a:t>Почему правила, а не машинное обучение?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F44"/>
                          </a:solidFill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973"/>
                          </a:solidFill>
                        </a:rPr>
                        <a:t>Зачем тогда ИИ?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F44"/>
                          </a:solidFill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973"/>
                          </a:solidFill>
                        </a:rPr>
                        <a:t>Откуда 34–229 млн ₽?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F44"/>
                          </a:solidFill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973"/>
                          </a:solidFill>
                        </a:rPr>
                        <a:t>Всё на заглушках — что реально работает?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F44"/>
                          </a:solidFill>
                        </a:rPr>
                        <a:t>Ядро, правила, журнал, мониторинг (Standard Webhooks), роли API, SBOM. Заглушки — реестр ФНС, ЕФРСБ, КЭП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973"/>
                          </a:solidFill>
                        </a:rPr>
                        <a:t>Почему почти нет «подтверждено»?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F44"/>
                          </a:solidFill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ТРУДНЫЕ ВОПРОСЫ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2"/>
                </a:solidFill>
              </a:rPr>
              <a:t>Трудные вопросы жюри (2/2)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2718F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9" name="Таблица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68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Вопрос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Ответ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973"/>
                          </a:solidFill>
                        </a:rPr>
                        <a:t>Почему смена директора не прекращает МЧД?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F44"/>
                          </a:solidFill>
                        </a:rPr>
                        <a:t>Перечень оснований в п. 1 ст. 188 ГК РФ закрытый, ФНС это подтверждает. Новый директор может отменить МЧД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973"/>
                          </a:solidFill>
                        </a:rPr>
                        <a:t>Что при конфликте ЕГРЮЛ и МЧД?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F44"/>
                          </a:solidFill>
                        </a:rPr>
                        <a:t>Корневую МЧД подписал не директор по ЕГРЮЛ на дату выдачи — «опровергнуто» (R-EIO-001). Сверить нельзя — «на разбор». Свежая смена директора — всегда разбор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973"/>
                          </a:solidFill>
                        </a:rPr>
                        <a:t>Как с ИБ и ПДн?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F44"/>
                          </a:solidFill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973"/>
                          </a:solidFill>
                        </a:rPr>
                        <a:t>Сколько стоит внедрение?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F44"/>
                          </a:solidFill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973"/>
                          </a:solidFill>
                        </a:rPr>
                        <a:t>Это требование только российское?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F44"/>
                          </a:solidFill>
                        </a:rPr>
                        <a:t>Нет. FATF требует проверять, что представитель уполномочен; в ЕС с 10.07.2027 — Регламент 2024/1624 и стандарты AMLA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973"/>
                          </a:solidFill>
                        </a:rPr>
                        <a:t>Если запрос придёт от ИИ-агента?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F44"/>
                          </a:solidFill>
                        </a:rPr>
                        <a:t>Представитель по ГК РФ — лицо, а не программа. «Мандат» проверяет полномочие человека, от чьего имени действует агент, на конкретную операцию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973"/>
                          </a:solidFill>
                        </a:rPr>
                        <a:t>Почему вам можно доверять код?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F44"/>
                          </a:solidFill>
                        </a:rPr>
                        <a:t>1600 автотестов проходят (v0.3.0, evidence.json), независимая проверка на Cedar, сверка с внешними эталонами, реестр утверждений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A2973"/>
                          </a:solidFill>
                        </a:rPr>
                        <a:t>Есть ли юрлицо для пилота?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F44"/>
                          </a:solidFill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НОРМАТИВНАЯ БАЗА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2"/>
                </a:solidFill>
              </a:rPr>
              <a:t>Нормативная база на октябрь 2026 и что она меняет в «Мандате»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2718F"/>
                </a:solidFill>
              </a:rPr>
              <a:t>Ревизия 27.10.2026 по открытым источникам; это не юридическое заключение — каждую строку проверяет юрист банка. 210-ФЗ — по обзорам pgplaw.ru и vc.ru, текст закона не открыт. docs/REGULATORY.md, docs/SOURCES.md</a:t>
            </a:r>
            <a:endParaRPr lang="en-US" sz="1000" dirty="0"/>
          </a:p>
        </p:txBody>
      </p:sp>
      <p:graphicFrame>
        <p:nvGraphicFramePr>
          <p:cNvPr id="30" name="Таблица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11094415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286000"/>
                <a:gridCol w="5928055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Акт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С какой даты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Что меняет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973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973"/>
                          </a:solidFill>
                        </a:rPr>
                        <a:t>63-ФЗ в ред. 476-ФЗ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1F44"/>
                          </a:solidFill>
                        </a:rPr>
                        <a:t>01.09.2024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1F44"/>
                          </a:solidFill>
                        </a:rPr>
                        <a:t>представитель юрлица подписывает своей КЭП вместе с МЧД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973"/>
                          </a:solidFill>
                        </a:rPr>
                        <a:t>ГК РФ, ст. 185–189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1F44"/>
                          </a:solidFill>
                        </a:rPr>
                        <a:t>действует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1F44"/>
                          </a:solidFill>
                        </a:rPr>
                        <a:t>срок по умолчанию — год; передоверие; закрытый перечень прекращения; каскад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973"/>
                          </a:solidFill>
                        </a:rPr>
                        <a:t>127-ФЗ; подп. 7 п. 1 ст. 188 ГК РФ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1F44"/>
                          </a:solidFill>
                        </a:rPr>
                        <a:t>действует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1F44"/>
                          </a:solidFill>
                        </a:rPr>
                        <a:t>конкурсное производство и внешнее управление прекращают МЧД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973"/>
                          </a:solidFill>
                        </a:rPr>
                        <a:t>115-ФЗ, ст. 7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1F44"/>
                          </a:solidFill>
                        </a:rPr>
                        <a:t>действует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1F44"/>
                          </a:solidFill>
                        </a:rPr>
                        <a:t>идентификация представителя и документ-основание: номер, дата, срок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973"/>
                          </a:solidFill>
                        </a:rPr>
                        <a:t>Приказ Банка России № ОД-2506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1F44"/>
                          </a:solidFill>
                        </a:rPr>
                        <a:t>01.01.2026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1F44"/>
                          </a:solidFill>
                        </a:rPr>
                        <a:t>12 признаков операций без согласия вместо 6; признак из ГИС — с 01.03.2026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973"/>
                          </a:solidFill>
                        </a:rPr>
                        <a:t>Приказ Минцифры № 1001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1F44"/>
                          </a:solidFill>
                        </a:rPr>
                        <a:t>01.02.2026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1F44"/>
                          </a:solidFill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973"/>
                          </a:solidFill>
                        </a:rPr>
                        <a:t>Реестр МЧД ФНС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1F44"/>
                          </a:solidFill>
                        </a:rPr>
                        <a:t>01.03.2026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1F44"/>
                          </a:solidFill>
                        </a:rPr>
                        <a:t>поиск МЧД по номеру, ИНН доверителя и ИНН представителя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973"/>
                          </a:solidFill>
                        </a:rPr>
                        <a:t>243-ФЗ о технологиях ИИ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1F44"/>
                          </a:solidFill>
                        </a:rPr>
                        <a:t>01.09.2026; ст. 5 — 01.03.2027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1F44"/>
                          </a:solidFill>
                        </a:rPr>
                        <a:t>национальные модели — по решению Правительства, для банков — с Банком России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973"/>
                          </a:solidFill>
                        </a:rPr>
                        <a:t>210-ФЗ, антифрод-пакет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1F44"/>
                          </a:solidFill>
                        </a:rPr>
                        <a:t>поэтапно с 01.09.2026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1F44"/>
                          </a:solidFill>
                        </a:rPr>
                        <a:t>обязанности банков по защите и возмещению; применимость к юрлицам — юристу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973"/>
                          </a:solidFill>
                        </a:rPr>
                        <a:t>821-П в ред. № 7220-У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1F44"/>
                          </a:solidFill>
                        </a:rPr>
                        <a:t>01.10.2026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1F44"/>
                          </a:solidFill>
                        </a:rPr>
                        <a:t>защита информации при переводах; соответствие не заявляем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973"/>
                          </a:solidFill>
                        </a:rPr>
                        <a:t>Кодекс этики ИИ; 3-МР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1F44"/>
                          </a:solidFill>
                        </a:rPr>
                        <a:t>2025; 16.06.2026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1F44"/>
                          </a:solidFill>
                        </a:rPr>
                        <a:t>прозрачность, человек в контуре, подтверждение человеком при высоком риске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2973"/>
                          </a:solidFill>
                        </a:rPr>
                        <a:t>315-ФЗ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1F44"/>
                          </a:solidFill>
                        </a:rPr>
                        <a:t>01.09.2027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1F44"/>
                          </a:solidFill>
                        </a:rPr>
                        <a:t>единая форма МЧД основная; формы Банка России — дополнительные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ДОРОЖНАЯ КАРТА</a:t>
            </a:r>
            <a:endParaRPr lang="en-US" sz="11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585216"/>
            <a:ext cx="1109441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chemeClr val="tx2"/>
                </a:solidFill>
              </a:rPr>
              <a:t>Дорожная карта: от онлайн-питча до решения о пилоте</a:t>
            </a:r>
            <a:endParaRPr lang="en-US" sz="26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548640" y="6272784"/>
            <a:ext cx="10287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2718F"/>
                </a:solidFill>
              </a:rPr>
              <a:t>docs/ROADMAP.md, docs/MVP.md, docs/HANDOFF_NEXT_QUOTA.md</a:t>
            </a:r>
            <a:endParaRPr lang="en-US" sz="1000" dirty="0"/>
          </a:p>
        </p:txBody>
      </p:sp>
      <p:sp>
        <p:nvSpPr>
          <p:cNvPr id="5" name="Карточка"/>
          <p:cNvSpPr/>
          <p:nvPr/>
        </p:nvSpPr>
        <p:spPr>
          <a:xfrm>
            <a:off x="548640" y="1572768"/>
            <a:ext cx="2602154" cy="3474720"/>
          </a:xfrm>
          <a:prstGeom prst="roundRect">
            <a:avLst>
              <a:gd name="adj" fmla="val 4217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55648"/>
            <a:ext cx="21449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accent1"/>
                </a:solidFill>
              </a:rPr>
              <a:t>До 10.11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48256"/>
            <a:ext cx="21449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chemeClr val="tx2"/>
                </a:solidFill>
              </a:rPr>
              <a:t>Онлайн-питч</a:t>
            </a:r>
            <a:endParaRPr lang="en-US" sz="1800" dirty="0"/>
          </a:p>
        </p:txBody>
      </p:sp>
      <p:sp>
        <p:nvSpPr>
          <p:cNvPr id="8" name="Список"/>
          <p:cNvSpPr txBox="1"/>
          <p:nvPr/>
        </p:nvSpPr>
        <p:spPr>
          <a:xfrm>
            <a:off x="822960" y="2578608"/>
            <a:ext cx="209923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сверка формата с официальной XSD ФНС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8–12 интервью и опрос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видео-демо, критерии трека</a:t>
            </a:r>
            <a:endParaRPr lang="en-US" sz="1300" dirty="0"/>
          </a:p>
        </p:txBody>
      </p:sp>
      <p:sp>
        <p:nvSpPr>
          <p:cNvPr id="9" name="Карточка"/>
          <p:cNvSpPr/>
          <p:nvPr/>
        </p:nvSpPr>
        <p:spPr>
          <a:xfrm>
            <a:off x="3379394" y="1572768"/>
            <a:ext cx="2602154" cy="3474720"/>
          </a:xfrm>
          <a:prstGeom prst="roundRect">
            <a:avLst>
              <a:gd name="adj" fmla="val 4217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607994" y="1755648"/>
            <a:ext cx="21449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accent1"/>
                </a:solidFill>
              </a:rPr>
              <a:t>16–29.11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2048256"/>
            <a:ext cx="21449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chemeClr val="tx2"/>
                </a:solidFill>
              </a:rPr>
              <a:t>Спринт 2</a:t>
            </a:r>
            <a:endParaRPr lang="en-US" sz="1800" dirty="0"/>
          </a:p>
        </p:txBody>
      </p:sp>
      <p:sp>
        <p:nvSpPr>
          <p:cNvPr id="12" name="Список"/>
          <p:cNvSpPr txBox="1"/>
          <p:nvPr/>
        </p:nvSpPr>
        <p:spPr>
          <a:xfrm>
            <a:off x="3653714" y="2578608"/>
            <a:ext cx="209923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коды из выгрузки ЕСНСИ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корпус от 300 пакетов, κ Коэна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прототип проверки КЭП через СКЗИ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финансовая модель на фактах</a:t>
            </a:r>
            <a:endParaRPr lang="en-US" sz="1300" dirty="0"/>
          </a:p>
        </p:txBody>
      </p:sp>
      <p:sp>
        <p:nvSpPr>
          <p:cNvPr id="13" name="Карточка"/>
          <p:cNvSpPr/>
          <p:nvPr/>
        </p:nvSpPr>
        <p:spPr>
          <a:xfrm>
            <a:off x="6210148" y="1572768"/>
            <a:ext cx="2602154" cy="3474720"/>
          </a:xfrm>
          <a:prstGeom prst="roundRect">
            <a:avLst>
              <a:gd name="adj" fmla="val 4217"/>
            </a:avLst>
          </a:prstGeom>
          <a:solidFill>
            <a:schemeClr val="bg1"/>
          </a:solidFill>
          <a:ln w="9525">
            <a:solidFill>
              <a:srgbClr val="DCE4F0"/>
            </a:solidFill>
            <a:prstDash val="solid"/>
          </a:ln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38748" y="1755648"/>
            <a:ext cx="21449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chemeClr val="accent1"/>
                </a:solidFill>
              </a:rPr>
              <a:t>03–08.12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38748" y="2048256"/>
            <a:ext cx="21449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chemeClr val="tx2"/>
                </a:solidFill>
              </a:rPr>
              <a:t>Спринт 3</a:t>
            </a:r>
            <a:endParaRPr lang="en-US" sz="1800" dirty="0"/>
          </a:p>
        </p:txBody>
      </p:sp>
      <p:sp>
        <p:nvSpPr>
          <p:cNvPr id="16" name="Список"/>
          <p:cNvSpPr txBox="1"/>
          <p:nvPr/>
        </p:nvSpPr>
        <p:spPr>
          <a:xfrm>
            <a:off x="6484468" y="2578608"/>
            <a:ext cx="209923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символьная проверка на Cedar SymCC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ГОСТ-подпись удостоверений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контракт интеграции с ДБО (OpenAPI)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маршрут допуска операции</a:t>
            </a:r>
            <a:endParaRPr lang="en-US" sz="1300" dirty="0"/>
          </a:p>
        </p:txBody>
      </p:sp>
      <p:sp>
        <p:nvSpPr>
          <p:cNvPr id="17" name="Карточка"/>
          <p:cNvSpPr/>
          <p:nvPr/>
        </p:nvSpPr>
        <p:spPr>
          <a:xfrm>
            <a:off x="9040901" y="1572768"/>
            <a:ext cx="2602154" cy="3474720"/>
          </a:xfrm>
          <a:prstGeom prst="roundRect">
            <a:avLst>
              <a:gd name="adj" fmla="val 421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69501" y="1755648"/>
            <a:ext cx="21449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0AAFF"/>
                </a:solidFill>
              </a:rPr>
              <a:t>После 11.12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269501" y="2048256"/>
            <a:ext cx="21449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chemeClr val="bg1"/>
                </a:solidFill>
              </a:rPr>
              <a:t>Пилот</a:t>
            </a:r>
            <a:endParaRPr lang="en-US" sz="1800" dirty="0"/>
          </a:p>
        </p:txBody>
      </p:sp>
      <p:sp>
        <p:nvSpPr>
          <p:cNvPr id="20" name="Список"/>
          <p:cNvSpPr txBox="1"/>
          <p:nvPr/>
        </p:nvSpPr>
        <p:spPr>
          <a:xfrm>
            <a:off x="9315221" y="2578608"/>
            <a:ext cx="209923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6 недель в теневом режиме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одна операция</a:t>
            </a:r>
            <a:endParaRPr lang="en-US" sz="1300" dirty="0"/>
          </a:p>
          <a:p>
            <a:pPr marL="152400" indent="-1524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300" dirty="0"/>
          </a:p>
        </p:txBody>
      </p:sp>
      <p:sp>
        <p:nvSpPr>
          <p:cNvPr id="21" name="Плашка вывода"/>
          <p:cNvSpPr/>
          <p:nvPr/>
        </p:nvSpPr>
        <p:spPr>
          <a:xfrm>
            <a:off x="548640" y="5276088"/>
            <a:ext cx="11094415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A2973">
                <a:alpha val="10000"/>
              </a:srgbClr>
            </a:outerShdw>
          </a:effectLst>
        </p:spPr>
      </p:sp>
      <p:sp>
        <p:nvSpPr>
          <p:cNvPr id="22" name="Плитка значка"/>
          <p:cNvSpPr/>
          <p:nvPr/>
        </p:nvSpPr>
        <p:spPr>
          <a:xfrm>
            <a:off x="749808" y="548182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D46A8"/>
          </a:solidFill>
          <a:ln/>
        </p:spPr>
      </p:sp>
      <p:pic>
        <p:nvPicPr>
          <p:cNvPr id="23" name="Значок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5582412"/>
            <a:ext cx="256032" cy="256032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389888" y="5276088"/>
            <a:ext cx="997884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chemeClr val="bg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2718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 VTB">
  <a:themeElements>
    <a:clrScheme name="Mandat VTB">
      <a:dk1>
        <a:srgbClr val="0B1F44"/>
      </a:dk1>
      <a:lt1>
        <a:srgbClr val="FFFFFF"/>
      </a:lt1>
      <a:dk2>
        <a:srgbClr val="0A2973"/>
      </a:dk2>
      <a:lt2>
        <a:srgbClr val="F3F6FB"/>
      </a:lt2>
      <a:accent1>
        <a:srgbClr val="004CBC"/>
      </a:accent1>
      <a:accent2>
        <a:srgbClr val="00AAFF"/>
      </a:accent2>
      <a:accent3>
        <a:srgbClr val="1A9F68"/>
      </a:accent3>
      <a:accent4>
        <a:srgbClr val="F5A300"/>
      </a:accent4>
      <a:accent5>
        <a:srgbClr val="E5484D"/>
      </a:accent5>
      <a:accent6>
        <a:srgbClr val="6B7A99"/>
      </a:accent6>
      <a:hlink>
        <a:srgbClr val="004CBC"/>
      </a:hlink>
      <a:folHlink>
        <a:srgbClr val="0A2973"/>
      </a:folHlink>
    </a:clrScheme>
    <a:fontScheme name="Mandat VTB">
      <a:majorFont>
        <a:latin typeface="Golos Tex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olos Tex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Мандат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Команда «Мандат»</Company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2026-10-27T18:59:03Z</dcterms:created>
  <dcterms:modified xsi:type="dcterms:W3CDTF">2026-10-27T18:59:03Z</dcterms:modified>
</cp:coreProperties>
</file>