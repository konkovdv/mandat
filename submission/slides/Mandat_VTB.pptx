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итч" id="{69da76ad-fdc5-5993-1090-a879412e9e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Приложение" id="{cc34aede-9b31-a868-7081-27bdbf73768c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Похищено у юрлиц, млн ₽</c:v>
                </c:pt>
              </c:strCache>
            </c:strRef>
          </c:tx>
          <c:spPr>
            <a:solidFill>
              <a:srgbClr val="9DB8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A2973"/>
                    </a:solidFill>
                    <a:latin typeface="Golos Tex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8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4CB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 кв. 2026</c:v>
                  </c:pt>
                  <c:pt idx="1">
                    <c:v>II кв.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573</c:v>
                </c:pt>
                <c:pt idx="1">
                  <c:v>831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A2973"/>
                  </a:solidFill>
                  <a:latin typeface="Golos Tex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2557A"/>
                </a:solidFill>
                <a:latin typeface="Golos Tex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Golos Tex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Кейсов</c:v>
                </c:pt>
              </c:strCache>
            </c:strRef>
          </c:tx>
          <c:spPr>
            <a:solidFill>
              <a:srgbClr val="1A9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1F44"/>
                    </a:solidFill>
                    <a:latin typeface="Golos Tex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9F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3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A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ПОДТВЕРЖДЕНО</c:v>
                  </c:pt>
                  <c:pt idx="1">
                    <c:v>ОПРОВЕРГНУТО</c:v>
                  </c:pt>
                  <c:pt idx="2">
                    <c:v>НА РАЗБОР</c:v>
                  </c:pt>
                  <c:pt idx="3">
                    <c:v>НЕДОСТ. ДАННЫХ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108</c:v>
                </c:pt>
                <c:pt idx="2">
                  <c:v>126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1F44"/>
                  </a:solidFill>
                  <a:latin typeface="Golos Tex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2557A"/>
                </a:solidFill>
                <a:latin typeface="Golos Tex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Golos Tex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Высвобождение нагрузки, ставок в год</c:v>
                </c:pt>
              </c:strCache>
            </c:strRef>
          </c:tx>
          <c:spPr>
            <a:solidFill>
              <a:srgbClr val="004C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A2973"/>
                    </a:solidFill>
                    <a:latin typeface="Golos Tex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Консервативный</c:v>
                  </c:pt>
                  <c:pt idx="1">
                    <c:v>Базовый</c:v>
                  </c:pt>
                  <c:pt idx="2">
                    <c:v>Оптимистичный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75</c:v>
                </c:pt>
                <c:pt idx="2">
                  <c:v>167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A2973"/>
                  </a:solidFill>
                  <a:latin typeface="Golos Tex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2557A"/>
                </a:solidFill>
                <a:latin typeface="Golos Tex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Golos Tex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Предотвращённый ущерб, млн ₽ в год</c:v>
                </c:pt>
              </c:strCache>
            </c:strRef>
          </c:tx>
          <c:spPr>
            <a:solidFill>
              <a:srgbClr val="1A9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A2973"/>
                    </a:solidFill>
                    <a:latin typeface="Golos Tex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Консервативный</c:v>
                  </c:pt>
                  <c:pt idx="1">
                    <c:v>Базовый</c:v>
                  </c:pt>
                  <c:pt idx="2">
                    <c:v>Оптимистичный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140</c:v>
                </c:pt>
                <c:pt idx="2">
                  <c:v>281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A2973"/>
                  </a:solidFill>
                  <a:latin typeface="Golos Tex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2557A"/>
                </a:solidFill>
                <a:latin typeface="Golos Tex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Golos Tex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[0:00–0:10] Здравствуйте, мы — команда «Мандат». Мы отвечаем, вправе ли человек провести операцию от имени компании в конкретный день, и доказываем ответ. Суть — за двадцать секунд.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[0:10–0:28] Коротко. Одна операция без согласия против компании стоит в среднем больше миллиона рублей, а захват через смену директора занимает пять рабочих дней. Мы отвечаем на один вопрос четырьмя вердиктами и доказываем каждый. На 288 кейсах-ловушках — ноль ложных «да». Просим шесть недель теневого пилота. Почему это важно?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[0:28–0:46] По данным Банка России, во втором квартале у компаний 780 операций без согласия на 831 миллион рублей — больше миллиона на операцию, в 67 раз больше средней. Возвращают компаниям меньше пятой части. А право подписи сотрудник сводит вручную из трёх документов. Как этим пользуются мошенники?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[0:46–1:04] Захват выглядит так: заявление о смене директора, через пять рабочих дней новый директор в ЕГРЮЛ, новая доверенность, заявка в банк и платёж. Это не теория: в октябре у агентства «ЭОС» десять дней значился чужой гендиректор. И ловушка в обе стороны: откажете законному руководителю — суд обяжет банк провести платёж, и Верховный Суд такое решение оставил в силе; пропустите свежую смену — откроете дверь захвату.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[1:04–1:22] Ключевая идея: полномочие — это пересечение интервалов на дату операции. Реальный демо-кейс: директор сменился в мае, доверенность выдал прежний директор в марте, она действует до февраля. Сверка «на сегодня» видит другого директора и отказывает. Проверка на дату видит действующую доверенность от законного директора — подтверждено, с сигналом.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[1:22–1:36] Решение — один вопрос и четыре ответа. Подтверждено — с рекомендацией роли. Опровергнуто — с нормой и звеном цепочки. На разбор — человеку с досье и сроком. Недостаточно данных — список недостающего. Неизвестное никогда не становится «да».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[1:36–1:54] Каждая строка вердикта — с доказательством: ГРН записи ЕГРЮЛ, путь до поля МЧД, норма. Та же компания, но директор сменился 19 дней назад, — на разбор с приоритетом P1 и сроком четыре часа. А если отменили основную доверенность, передоверие теряет силу — опровергнуто. Это не макет — покажу живой вывод.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[1:54–2:20] Продукт работает сегодня, одной командой. Слева — настоящая карточка кейса: вердикт, сильнейшее возражение с нормой и сигнал мониторинга. Справа — терминал: все 14 демо-кейсов дают ожидаемый вердикт, журнал цел. Удостоверение действует; после событий захвата монитор поднимает тревогу, и то же удостоверение уже приостановлено. Если есть минута — покажу вживую.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[2:20–2:34] Это и есть постоянный контроль. За три часа смена директора, новая доверенность и смена телефона складываются в тревогу «возможный захват»: удостоверения компании приостановлены, кейс — в антифрод. Отмена основной доверенности отзывает удостоверения по цепочке. Права в интернет-банке меняет банк.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[2:34–2:52] Качество. Недопустимая ошибка — ложное «подтверждено». На 288 кейсах-ловушках их ноль, верхняя граница — 1,3 процента. 8814 мутаций тоже не дали ложного «да». Передоверие сверено с независимой реализацией на Cedar. Всё однозначное закрывается автоматически, спорное идёт к сотруднику с досье. Пилот переносит эти метрики на данные ВТБ.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[2:52–3:05] Про ИИ. Модель только предлагает факт из устава с дословной цитатой: нет цитаты — нет факта. Вердикт выносят правила, спорное решает человек, клиент может оспорить. Модель в контуре банка, по умолчанию выключена, провайдер сменный — с учётом закона об ИИ.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[3:05–3:24] Эффект в двух валютах. Время: при 1,8 миллиона бизнес-клиентов — от 33 до 167 ставок в год. Риск: от 42 до 281 миллиона рублей предотвращённого ущерба в год — на данных Банка России за полугодие. Для ВТБ в базовом сценарии затраты окупаются за 7,5 месяца. Модель — лицензия и подписка на правила: нормы меняются каждые полгода.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[3:24–3:36] Почему сейчас. Доверенностей за два года стало втрое больше — более пяти миллионов, ВТБ сам продаёт комплект МЧД и КЭП. А нормы меняются каждые полгода — нужен движок, где они меняются данными, а не релизом.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[3:36–3:50] Мир идёт туда же. FATF и регламент ЕС требуют проверить, что представитель уполномочен. В Нидерландах проверка полномочия — уже отдельный сервис, Британия с прошлого года проверяет личность каждого нового директора, а ЕС закладывает полномочия в бизнес-кошелёк. «Мандат» делает это для российской МЧД.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[3:50–4:00] Встройка. «Мандат» работает в контуре банка без внешней сети. Ядро, правила, журнал и мониторинг готовы; реестр, ЕГРЮЛ, ЕФРСБ и проверку подписи через СКЗИ банка подключаем к пилоту через порты.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[4:00–4:14] Куда это растёт. Сегодня «Мандат» помогает сотруднику. Следующий шаг — клиент в «ВТБ Бизнес» видит, кто вправе действовать за компанию, и получает тревогу при смене директора. Дальше — ИИ-агенты: агент платит по мандату с пределами, банк проверяет его без доступа к базе. Наше удостоверение это уже умеет.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[4:14–4:36] Наш запрос конкретный: шесть недель теневого пилота на одной операции — праве подписи платёжных поручений по МЧД. «Мандат» работает рядом с сотрудниками и ни на что не влияет. Стоп-критерий — первое ложное «подтверждено». От банка — владелец процесса, регламент, обезличенные пакеты и юрист.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[4:36–4:52] Команда: я отвечаю за архитектуру и правила, Елена — за методику измерения и качество. Юридическую проверку правил планируем с юристом банка на пилоте.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[4:52–5:00] Спасибо! QR-код ведёт на код, демо и документы. Готовы к вопросам.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/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&#1054;&#1073;&#1083;&#1086;&#1078;&#1082;&#1072;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&#1056;&#1072;&#1079;&#1076;&#1077;&#1083;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&#1060;&#1080;&#1085;&#1072;&#1083;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572768" y="137160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ru-RU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ru-RU" sz="5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Мандата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274320"/>
            <a:ext cx="329184" cy="2962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27664" y="25603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chemeClr val="tx2"/>
                </a:solidFill>
              </a:rPr>
              <a:t>Мандат</a:t>
            </a:r>
            <a:endParaRPr lang="ru-RU" sz="1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ru-RU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ru-RU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ru-RU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ru-RU" sz="26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ru-RU" sz="1000" dirty="0">
                <a:solidFill>
                  <a:srgbClr val="5E6D8C"/>
                </a:solidFill>
              </a:defRPr>
            </a:lvl1pPr>
          </a:lstStyle>
          <a:p>
            <a:pPr algn="l" indent="0" marL="0">
              <a:buNone/>
            </a:pPr>
            <a:endParaRPr lang="ru-RU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1003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ru-RU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ru-RU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инал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ru-RU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ru-RU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null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6" Type="http://schemas.openxmlformats.org/officeDocument/2006/relationships/slide" Target="slide6.xml"/><Relationship Id="rId9" Type="http://schemas.openxmlformats.org/officeDocument/2006/relationships/slide" Target="slide10.xml"/><Relationship Id="rId12" Type="http://schemas.openxmlformats.org/officeDocument/2006/relationships/slide" Target="slide17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7" Type="http://schemas.openxmlformats.org/officeDocument/2006/relationships/image" Target="../media/image-2-5.png"/><Relationship Id="rId8" Type="http://schemas.openxmlformats.org/officeDocument/2006/relationships/image" Target="../media/image-2-6.png"/><Relationship Id="rId10" Type="http://schemas.openxmlformats.org/officeDocument/2006/relationships/image" Target="../media/image-2-7.png"/><Relationship Id="rId11" Type="http://schemas.openxmlformats.org/officeDocument/2006/relationships/image" Target="../media/image-2-8.png"/><Relationship Id="rId13" Type="http://schemas.openxmlformats.org/officeDocument/2006/relationships/image" Target="../media/image-2-9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5" Type="http://schemas.openxmlformats.org/officeDocument/2006/relationships/image" Target="../media/image-12-3.png"/><Relationship Id="rId6" Type="http://schemas.openxmlformats.org/officeDocument/2006/relationships/image" Target="../media/image-12-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4" Type="http://schemas.openxmlformats.org/officeDocument/2006/relationships/slide" Target="slide22.xml"/><Relationship Id="rId6" Type="http://schemas.openxmlformats.org/officeDocument/2006/relationships/slide" Target="slide23.xml"/><Relationship Id="rId8" Type="http://schemas.openxmlformats.org/officeDocument/2006/relationships/slide" Target="slide24.xml"/><Relationship Id="rId10" Type="http://schemas.openxmlformats.org/officeDocument/2006/relationships/slide" Target="slide25.xml"/><Relationship Id="rId12" Type="http://schemas.openxmlformats.org/officeDocument/2006/relationships/slide" Target="slide26.xml"/><Relationship Id="rId14" Type="http://schemas.openxmlformats.org/officeDocument/2006/relationships/slide" Target="slide27.xml"/><Relationship Id="rId16" Type="http://schemas.openxmlformats.org/officeDocument/2006/relationships/slide" Target="slide28.xml"/><Relationship Id="rId18" Type="http://schemas.openxmlformats.org/officeDocument/2006/relationships/slide" Target="slide29.xml"/><Relationship Id="rId20" Type="http://schemas.openxmlformats.org/officeDocument/2006/relationships/slide" Target="slide30.xml"/><Relationship Id="rId22" Type="http://schemas.openxmlformats.org/officeDocument/2006/relationships/slide" Target="slide31.xml"/><Relationship Id="rId24" Type="http://schemas.openxmlformats.org/officeDocument/2006/relationships/slide" Target="slide32.xml"/><Relationship Id="rId26" Type="http://schemas.openxmlformats.org/officeDocument/2006/relationships/slide" Target="slide33.xml"/><Relationship Id="rId28" Type="http://schemas.openxmlformats.org/officeDocument/2006/relationships/slide" Target="slide34.xml"/><Relationship Id="rId30" Type="http://schemas.openxmlformats.org/officeDocument/2006/relationships/slide" Target="slide35.xml"/><Relationship Id="rId32" Type="http://schemas.openxmlformats.org/officeDocument/2006/relationships/slide" Target="slide36.xml"/><Relationship Id="rId34" Type="http://schemas.openxmlformats.org/officeDocument/2006/relationships/slide" Target="slide37.xml"/><Relationship Id="rId36" Type="http://schemas.openxmlformats.org/officeDocument/2006/relationships/slide" Target="slide38.xml"/><Relationship Id="rId1" Type="http://schemas.openxmlformats.org/officeDocument/2006/relationships/image" Target="../media/image-20-1.png"/><Relationship Id="rId3" Type="http://schemas.openxmlformats.org/officeDocument/2006/relationships/image" Target="../media/image-20-2.png"/><Relationship Id="rId5" Type="http://schemas.openxmlformats.org/officeDocument/2006/relationships/image" Target="../media/image-20-3.png"/><Relationship Id="rId7" Type="http://schemas.openxmlformats.org/officeDocument/2006/relationships/image" Target="../media/image-20-4.png"/><Relationship Id="rId9" Type="http://schemas.openxmlformats.org/officeDocument/2006/relationships/image" Target="../media/image-20-5.png"/><Relationship Id="rId11" Type="http://schemas.openxmlformats.org/officeDocument/2006/relationships/image" Target="../media/image-20-6.png"/><Relationship Id="rId13" Type="http://schemas.openxmlformats.org/officeDocument/2006/relationships/image" Target="../media/image-20-7.png"/><Relationship Id="rId15" Type="http://schemas.openxmlformats.org/officeDocument/2006/relationships/image" Target="../media/image-20-8.png"/><Relationship Id="rId17" Type="http://schemas.openxmlformats.org/officeDocument/2006/relationships/image" Target="../media/image-20-9.png"/><Relationship Id="rId19" Type="http://schemas.openxmlformats.org/officeDocument/2006/relationships/image" Target="../media/image-20-10.png"/><Relationship Id="rId21" Type="http://schemas.openxmlformats.org/officeDocument/2006/relationships/image" Target="../media/image-20-11.png"/><Relationship Id="rId23" Type="http://schemas.openxmlformats.org/officeDocument/2006/relationships/image" Target="../media/image-20-12.png"/><Relationship Id="rId25" Type="http://schemas.openxmlformats.org/officeDocument/2006/relationships/image" Target="../media/image-20-13.png"/><Relationship Id="rId27" Type="http://schemas.openxmlformats.org/officeDocument/2006/relationships/image" Target="../media/image-20-14.png"/><Relationship Id="rId29" Type="http://schemas.openxmlformats.org/officeDocument/2006/relationships/image" Target="../media/image-20-15.png"/><Relationship Id="rId31" Type="http://schemas.openxmlformats.org/officeDocument/2006/relationships/image" Target="../media/image-20-16.png"/><Relationship Id="rId33" Type="http://schemas.openxmlformats.org/officeDocument/2006/relationships/image" Target="../media/image-20-17.png"/><Relationship Id="rId35" Type="http://schemas.openxmlformats.org/officeDocument/2006/relationships/image" Target="../media/image-20-18.png"/><Relationship Id="rId37" Type="http://schemas.openxmlformats.org/officeDocument/2006/relationships/slideLayout" Target="../slideLayouts/slideLayout4.xml"/><Relationship Id="rId3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1-1.png"/><Relationship Id="rId3" Type="http://schemas.openxmlformats.org/officeDocument/2006/relationships/image" Target="../media/image-21-2.png"/><Relationship Id="rId4" Type="http://schemas.openxmlformats.org/officeDocument/2006/relationships/image" Target="../media/image-21-3.png"/><Relationship Id="rId5" Type="http://schemas.openxmlformats.org/officeDocument/2006/relationships/image" Target="../media/image-21-4.png"/><Relationship Id="rId6" Type="http://schemas.openxmlformats.org/officeDocument/2006/relationships/image" Target="../media/image-21-5.png"/><Relationship Id="rId7" Type="http://schemas.openxmlformats.org/officeDocument/2006/relationships/image" Target="../media/image-21-6.png"/><Relationship Id="rId8" Type="http://schemas.openxmlformats.org/officeDocument/2006/relationships/image" Target="../media/image-21-7.png"/><Relationship Id="rId9" Type="http://schemas.openxmlformats.org/officeDocument/2006/relationships/image" Target="../media/image-21-8.png"/><Relationship Id="rId10" Type="http://schemas.openxmlformats.org/officeDocument/2006/relationships/image" Target="../media/image-21-9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4-1.png"/><Relationship Id="rId3" Type="http://schemas.openxmlformats.org/officeDocument/2006/relationships/image" Target="../media/image-24-2.png"/><Relationship Id="rId4" Type="http://schemas.openxmlformats.org/officeDocument/2006/relationships/image" Target="../media/image-24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5-1.png"/><Relationship Id="rId3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7-1.png"/><Relationship Id="rId3" Type="http://schemas.openxmlformats.org/officeDocument/2006/relationships/image" Target="../media/image-2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8-1.png"/><Relationship Id="rId3" Type="http://schemas.openxmlformats.org/officeDocument/2006/relationships/image" Target="../media/image-28-2.png"/><Relationship Id="rId4" Type="http://schemas.openxmlformats.org/officeDocument/2006/relationships/image" Target="../media/image-28-3.png"/><Relationship Id="rId5" Type="http://schemas.openxmlformats.org/officeDocument/2006/relationships/image" Target="../media/image-28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0-1.png"/><Relationship Id="rId3" Type="http://schemas.openxmlformats.org/officeDocument/2006/relationships/image" Target="../media/image-30-2.png"/><Relationship Id="rId4" Type="http://schemas.openxmlformats.org/officeDocument/2006/relationships/image" Target="../media/image-30-3.png"/><Relationship Id="rId5" Type="http://schemas.openxmlformats.org/officeDocument/2006/relationships/image" Target="../media/image-30-4.png"/><Relationship Id="rId6" Type="http://schemas.openxmlformats.org/officeDocument/2006/relationships/image" Target="../media/image-30-5.png"/><Relationship Id="rId7" Type="http://schemas.openxmlformats.org/officeDocument/2006/relationships/image" Target="../media/image-30-6.png"/><Relationship Id="rId8" Type="http://schemas.openxmlformats.org/officeDocument/2006/relationships/image" Target="../media/image-30-7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2-1.png"/><Relationship Id="rId3" Type="http://schemas.openxmlformats.org/officeDocument/2006/relationships/image" Target="../media/image-32-2.png"/><Relationship Id="rId4" Type="http://schemas.openxmlformats.org/officeDocument/2006/relationships/image" Target="../media/image-32-3.png"/><Relationship Id="rId5" Type="http://schemas.openxmlformats.org/officeDocument/2006/relationships/image" Target="../media/image-32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4-1.png"/><Relationship Id="rId3" Type="http://schemas.openxmlformats.org/officeDocument/2006/relationships/image" Target="../media/image-34-2.png"/><Relationship Id="rId4" Type="http://schemas.openxmlformats.org/officeDocument/2006/relationships/image" Target="../media/image-34-3.png"/><Relationship Id="rId5" Type="http://schemas.openxmlformats.org/officeDocument/2006/relationships/image" Target="../media/image-34-4.png"/><Relationship Id="rId6" Type="http://schemas.openxmlformats.org/officeDocument/2006/relationships/image" Target="../media/image-34-5.png"/><Relationship Id="rId7" Type="http://schemas.openxmlformats.org/officeDocument/2006/relationships/image" Target="../media/image-34-6.png"/><Relationship Id="rId8" Type="http://schemas.openxmlformats.org/officeDocument/2006/relationships/image" Target="../media/image-34-7.png"/><Relationship Id="rId9" Type="http://schemas.openxmlformats.org/officeDocument/2006/relationships/image" Target="../media/image-34-8.png"/><Relationship Id="rId10" Type="http://schemas.openxmlformats.org/officeDocument/2006/relationships/image" Target="../media/image-34-9.png"/><Relationship Id="rId11" Type="http://schemas.openxmlformats.org/officeDocument/2006/relationships/image" Target="../media/image-34-10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8-1.png"/><Relationship Id="rId3" Type="http://schemas.openxmlformats.org/officeDocument/2006/relationships/image" Target="../media/image-38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CFE3FF"/>
                </a:solidFill>
              </a:rPr>
              <a:t>Академия Финтеха 2026 · трек ВТБ «Финтех без границ» · задача «Онбординг и проверка полномочий»</a:t>
            </a:r>
            <a:endParaRPr lang="ru-RU" sz="1200" dirty="0"/>
          </a:p>
        </p:txBody>
      </p:sp>
      <p:pic>
        <p:nvPicPr>
          <p:cNvPr id="3" name="Image 0" descr="Знак «Мандата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41248" cy="75895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572768" y="1371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5600" b="1" dirty="0">
                <a:solidFill>
                  <a:schemeClr val="bg1"/>
                </a:solidFill>
              </a:rPr>
              <a:t>Мандат</a:t>
            </a:r>
            <a:endParaRPr lang="ru-RU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400" b="1" dirty="0">
                <a:solidFill>
                  <a:schemeClr val="bg1"/>
                </a:solidFill>
              </a:rPr>
              <a:t>Единое окно полномочий</a:t>
            </a:r>
            <a:endParaRPr lang="ru-RU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ru-RU" sz="2400" b="1" dirty="0">
                <a:solidFill>
                  <a:schemeClr val="bg1"/>
                </a:solidFill>
              </a:rPr>
              <a:t>для бизнес‑клиентов банка</a:t>
            </a:r>
            <a:endParaRPr lang="ru-RU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74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ru-RU" sz="1500" dirty="0">
                <a:solidFill>
                  <a:srgbClr val="CFE3FF"/>
                </a:solidFill>
              </a:rPr>
              <a:t>Отвечает, вправе ли человек провести операцию от имени компании в этот день, — за миллисекунды и с доказательством до поля документа</a:t>
            </a:r>
            <a:endParaRPr lang="ru-RU" sz="1500" dirty="0"/>
          </a:p>
        </p:txBody>
      </p:sp>
      <p:sp>
        <p:nvSpPr>
          <p:cNvPr id="7" name="Вердикт: ПОДТВЕРЖДЕНО"/>
          <p:cNvSpPr/>
          <p:nvPr/>
        </p:nvSpPr>
        <p:spPr>
          <a:xfrm>
            <a:off x="548640" y="4572000"/>
            <a:ext cx="1632570" cy="310896"/>
          </a:xfrm>
          <a:prstGeom prst="roundRect">
            <a:avLst>
              <a:gd name="adj" fmla="val 50000"/>
            </a:avLst>
          </a:prstGeom>
          <a:solidFill>
            <a:srgbClr val="E2F4EB"/>
          </a:solidFill>
          <a:ln/>
        </p:spPr>
      </p:sp>
      <p:sp>
        <p:nvSpPr>
          <p:cNvPr id="8" name="Метка статуса"/>
          <p:cNvSpPr/>
          <p:nvPr/>
        </p:nvSpPr>
        <p:spPr>
          <a:xfrm>
            <a:off x="685800" y="4681728"/>
            <a:ext cx="91440" cy="91440"/>
          </a:xfrm>
          <a:prstGeom prst="ellipse">
            <a:avLst/>
          </a:prstGeom>
          <a:solidFill>
            <a:srgbClr val="1A9F6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4572000"/>
            <a:ext cx="12668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50" b="1" dirty="0">
                <a:solidFill>
                  <a:srgbClr val="0B6B44"/>
                </a:solidFill>
              </a:rPr>
              <a:t>ПОДТВЕРЖДЕНО</a:t>
            </a:r>
            <a:endParaRPr lang="ru-RU" sz="950" dirty="0"/>
          </a:p>
        </p:txBody>
      </p:sp>
      <p:sp>
        <p:nvSpPr>
          <p:cNvPr id="10" name="Вердикт: ОПРОВЕРГНУТО"/>
          <p:cNvSpPr/>
          <p:nvPr/>
        </p:nvSpPr>
        <p:spPr>
          <a:xfrm>
            <a:off x="2290938" y="4572000"/>
            <a:ext cx="1632570" cy="310896"/>
          </a:xfrm>
          <a:prstGeom prst="roundRect">
            <a:avLst>
              <a:gd name="adj" fmla="val 50000"/>
            </a:avLst>
          </a:prstGeom>
          <a:solidFill>
            <a:srgbClr val="FDE6E7"/>
          </a:solidFill>
          <a:ln/>
        </p:spPr>
      </p:sp>
      <p:sp>
        <p:nvSpPr>
          <p:cNvPr id="11" name="Метка статуса"/>
          <p:cNvSpPr/>
          <p:nvPr/>
        </p:nvSpPr>
        <p:spPr>
          <a:xfrm>
            <a:off x="2428098" y="4681728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592690" y="4572000"/>
            <a:ext cx="12668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50" b="1" dirty="0">
                <a:solidFill>
                  <a:srgbClr val="A3161B"/>
                </a:solidFill>
              </a:rPr>
              <a:t>ОПРОВЕРГНУТО</a:t>
            </a:r>
            <a:endParaRPr lang="ru-RU" sz="950" dirty="0"/>
          </a:p>
        </p:txBody>
      </p:sp>
      <p:sp>
        <p:nvSpPr>
          <p:cNvPr id="13" name="Вердикт: НА РАЗБОР"/>
          <p:cNvSpPr/>
          <p:nvPr/>
        </p:nvSpPr>
        <p:spPr>
          <a:xfrm>
            <a:off x="4033236" y="4572000"/>
            <a:ext cx="1283360" cy="310896"/>
          </a:xfrm>
          <a:prstGeom prst="roundRect">
            <a:avLst>
              <a:gd name="adj" fmla="val 50000"/>
            </a:avLst>
          </a:prstGeom>
          <a:solidFill>
            <a:srgbClr val="FFF1D4"/>
          </a:solidFill>
          <a:ln/>
        </p:spPr>
      </p:sp>
      <p:sp>
        <p:nvSpPr>
          <p:cNvPr id="14" name="Метка статуса"/>
          <p:cNvSpPr/>
          <p:nvPr/>
        </p:nvSpPr>
        <p:spPr>
          <a:xfrm>
            <a:off x="4170396" y="4681728"/>
            <a:ext cx="91440" cy="91440"/>
          </a:xfrm>
          <a:prstGeom prst="ellipse">
            <a:avLst/>
          </a:prstGeom>
          <a:solidFill>
            <a:srgbClr val="F5A3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34988" y="4572000"/>
            <a:ext cx="91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50" b="1" dirty="0">
                <a:solidFill>
                  <a:srgbClr val="7A4E00"/>
                </a:solidFill>
              </a:rPr>
              <a:t>НА РАЗБОР</a:t>
            </a:r>
            <a:endParaRPr lang="ru-RU" sz="950" dirty="0"/>
          </a:p>
        </p:txBody>
      </p:sp>
      <p:sp>
        <p:nvSpPr>
          <p:cNvPr id="16" name="Вердикт: НЕДОСТАТОЧНО ДАННЫХ"/>
          <p:cNvSpPr/>
          <p:nvPr/>
        </p:nvSpPr>
        <p:spPr>
          <a:xfrm>
            <a:off x="5426324" y="4572000"/>
            <a:ext cx="2247595" cy="310896"/>
          </a:xfrm>
          <a:prstGeom prst="roundRect">
            <a:avLst>
              <a:gd name="adj" fmla="val 50000"/>
            </a:avLst>
          </a:prstGeom>
          <a:solidFill>
            <a:srgbClr val="E8ECF3"/>
          </a:solidFill>
          <a:ln/>
        </p:spPr>
      </p:sp>
      <p:sp>
        <p:nvSpPr>
          <p:cNvPr id="17" name="Метка статуса"/>
          <p:cNvSpPr/>
          <p:nvPr/>
        </p:nvSpPr>
        <p:spPr>
          <a:xfrm>
            <a:off x="5563484" y="4681728"/>
            <a:ext cx="91440" cy="91440"/>
          </a:xfrm>
          <a:prstGeom prst="ellipse">
            <a:avLst/>
          </a:prstGeom>
          <a:solidFill>
            <a:srgbClr val="6B7A9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728076" y="4572000"/>
            <a:ext cx="1881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50" b="1" dirty="0">
                <a:solidFill>
                  <a:srgbClr val="3B4864"/>
                </a:solidFill>
              </a:rPr>
              <a:t>НЕДОСТАТОЧНО ДАННЫХ</a:t>
            </a:r>
            <a:endParaRPr lang="ru-RU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5961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bg1"/>
                </a:solidFill>
              </a:rPr>
              <a:t>Коньков Дмитрий</a:t>
            </a:r>
            <a:endParaRPr lang="ru-RU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907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CFE3FF"/>
                </a:solidFill>
              </a:rPr>
              <a:t>капитан команды «Мандат»</a:t>
            </a:r>
            <a:endParaRPr lang="ru-RU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590702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CFE3FF"/>
                </a:solidFill>
              </a:rPr>
              <a:t>Онлайн‑питч · 10–15 ноября 2026</a:t>
            </a:r>
            <a:endParaRPr lang="ru-RU" sz="1200" dirty="0"/>
          </a:p>
        </p:txBody>
      </p:sp>
      <p:pic>
        <p:nvPicPr>
          <p:cNvPr id="22" name="Image 1" descr="Схема: шесть источников — ЕГРЮЛ, МЧД, реестр ФНС, передоверие, устав и события — сходятся в один вердикт на дату операци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66928"/>
            <a:ext cx="5074920" cy="44949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КОРОТКО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Проверка полномочий на дату с доказательством — и шесть недель теневого пилота, чтобы измерить её на данных ВТБ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Банк России, II кв. 2026 (M‑15); evidence.json от 28.10.2026 (C‑03, C‑13, C‑17); финансовая модель пакета аналитики; docs/PILOT.md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2602154" cy="3520440"/>
          </a:xfrm>
          <a:prstGeom prst="roundRect">
            <a:avLst>
              <a:gd name="adj" fmla="val 42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1687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spc="120" kern="0" dirty="0">
                <a:solidFill>
                  <a:schemeClr val="accent1"/>
                </a:solidFill>
              </a:rPr>
              <a:t>ПРОБЛЕМА</a:t>
            </a:r>
            <a:endParaRPr lang="ru-RU" sz="1100" dirty="0"/>
          </a:p>
        </p:txBody>
      </p:sp>
      <p:sp>
        <p:nvSpPr>
          <p:cNvPr id="7" name="Плитка значка"/>
          <p:cNvSpPr/>
          <p:nvPr/>
        </p:nvSpPr>
        <p:spPr>
          <a:xfrm>
            <a:off x="2437562" y="17556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8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8146" y="185623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2441448"/>
            <a:ext cx="22729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600" b="1" dirty="0">
                <a:solidFill>
                  <a:schemeClr val="accent1"/>
                </a:solidFill>
              </a:rPr>
              <a:t>≈1,07 млн ₽</a:t>
            </a:r>
            <a:endParaRPr lang="ru-RU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264408"/>
            <a:ext cx="20900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средняя операция без согласия против юрлица — в 67 раз крупнее средней; захват компании — за пять рабочих дней</a:t>
            </a:r>
            <a:endParaRPr lang="ru-RU" sz="1300" dirty="0"/>
          </a:p>
        </p:txBody>
      </p:sp>
      <p:sp>
        <p:nvSpPr>
          <p:cNvPr id="11" name="Разделитель"/>
          <p:cNvSpPr/>
          <p:nvPr/>
        </p:nvSpPr>
        <p:spPr>
          <a:xfrm>
            <a:off x="804672" y="4617720"/>
            <a:ext cx="209009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" y="4672584"/>
            <a:ext cx="2090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chemeClr val="accent1"/>
                </a:solidFill>
              </a:rPr>
              <a:t>подробнее: слайды 3–5 →</a:t>
            </a:r>
            <a:endParaRPr lang="ru-RU" sz="1100" dirty="0"/>
          </a:p>
        </p:txBody>
      </p:sp>
      <p:pic>
        <p:nvPicPr>
          <p:cNvPr id="13" name="Ссылка на слайд 3" descr="Переход: подробнее: слайды 3–5">
            <a:hlinkClick r:id="rId3" tooltip="подробнее: слайды 3–5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36008"/>
            <a:ext cx="2602154" cy="384048"/>
          </a:xfrm>
          <a:prstGeom prst="rect">
            <a:avLst/>
          </a:prstGeom>
        </p:spPr>
      </p:pic>
      <p:sp>
        <p:nvSpPr>
          <p:cNvPr id="14" name="Карточка"/>
          <p:cNvSpPr/>
          <p:nvPr/>
        </p:nvSpPr>
        <p:spPr>
          <a:xfrm>
            <a:off x="3379394" y="1572768"/>
            <a:ext cx="2602154" cy="3520440"/>
          </a:xfrm>
          <a:prstGeom prst="roundRect">
            <a:avLst>
              <a:gd name="adj" fmla="val 42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3635426" y="1828800"/>
            <a:ext cx="1687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spc="120" kern="0" dirty="0">
                <a:solidFill>
                  <a:schemeClr val="accent1"/>
                </a:solidFill>
              </a:rPr>
              <a:t>РЕШЕНИЕ</a:t>
            </a:r>
            <a:endParaRPr lang="ru-RU" sz="1100" dirty="0"/>
          </a:p>
        </p:txBody>
      </p:sp>
      <p:sp>
        <p:nvSpPr>
          <p:cNvPr id="16" name="Плитка значка"/>
          <p:cNvSpPr/>
          <p:nvPr/>
        </p:nvSpPr>
        <p:spPr>
          <a:xfrm>
            <a:off x="5268316" y="17556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7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900" y="185623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35426" y="2441448"/>
            <a:ext cx="22729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3000" b="1" dirty="0">
                <a:solidFill>
                  <a:schemeClr val="accent1"/>
                </a:solidFill>
              </a:rPr>
              <a:t>4 ответа</a:t>
            </a:r>
            <a:endParaRPr lang="ru-RU" sz="3000" dirty="0"/>
          </a:p>
        </p:txBody>
      </p:sp>
      <p:sp>
        <p:nvSpPr>
          <p:cNvPr id="19" name="Text 14"/>
          <p:cNvSpPr txBox="1"/>
          <p:nvPr/>
        </p:nvSpPr>
        <p:spPr>
          <a:xfrm>
            <a:off x="3635426" y="3264408"/>
            <a:ext cx="20900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на вопрос «вправе ли X провести операцию O за компанию Y на дату t» — с нормой и полем документа</a:t>
            </a:r>
            <a:endParaRPr lang="ru-RU" sz="1300" dirty="0"/>
          </a:p>
        </p:txBody>
      </p:sp>
      <p:sp>
        <p:nvSpPr>
          <p:cNvPr id="20" name="Разделитель"/>
          <p:cNvSpPr/>
          <p:nvPr/>
        </p:nvSpPr>
        <p:spPr>
          <a:xfrm>
            <a:off x="3635426" y="4617720"/>
            <a:ext cx="209009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635426" y="4672584"/>
            <a:ext cx="2090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chemeClr val="accent1"/>
                </a:solidFill>
              </a:rPr>
              <a:t>подробнее: слайды 6–9 →</a:t>
            </a:r>
            <a:endParaRPr lang="ru-RU" sz="1100" dirty="0"/>
          </a:p>
        </p:txBody>
      </p:sp>
      <p:pic>
        <p:nvPicPr>
          <p:cNvPr id="22" name="Ссылка на слайд 6" descr="Переход: подробнее: слайды 6–9">
            <a:hlinkClick r:id="rId6" tooltip="подробнее: слайды 6–9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394" y="4636008"/>
            <a:ext cx="2602154" cy="384048"/>
          </a:xfrm>
          <a:prstGeom prst="rect">
            <a:avLst/>
          </a:prstGeom>
        </p:spPr>
      </p:pic>
      <p:sp>
        <p:nvSpPr>
          <p:cNvPr id="23" name="Карточка"/>
          <p:cNvSpPr/>
          <p:nvPr/>
        </p:nvSpPr>
        <p:spPr>
          <a:xfrm>
            <a:off x="6210148" y="1572768"/>
            <a:ext cx="2602154" cy="3520440"/>
          </a:xfrm>
          <a:prstGeom prst="roundRect">
            <a:avLst>
              <a:gd name="adj" fmla="val 42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6466180" y="1828800"/>
            <a:ext cx="1687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spc="120" kern="0" dirty="0">
                <a:solidFill>
                  <a:schemeClr val="accent1"/>
                </a:solidFill>
              </a:rPr>
              <a:t>ДОКАЗАТЕЛЬСТВА</a:t>
            </a:r>
            <a:endParaRPr lang="ru-RU" sz="1100" dirty="0"/>
          </a:p>
        </p:txBody>
      </p:sp>
      <p:sp>
        <p:nvSpPr>
          <p:cNvPr id="25" name="Плитка значка"/>
          <p:cNvSpPr/>
          <p:nvPr/>
        </p:nvSpPr>
        <p:spPr>
          <a:xfrm>
            <a:off x="8099069" y="17556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6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9653" y="185623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466180" y="2441448"/>
            <a:ext cx="22729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3000" b="1" dirty="0">
                <a:solidFill>
                  <a:schemeClr val="accent1"/>
                </a:solidFill>
              </a:rPr>
              <a:t>0 из 288</a:t>
            </a:r>
            <a:endParaRPr lang="ru-RU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6466180" y="3264408"/>
            <a:ext cx="20900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ложных «да» на кейсах‑ловушках 48 видов; 8 814 мутаций без сбоя; 1600 автотестов</a:t>
            </a:r>
            <a:endParaRPr lang="ru-RU" sz="1300" dirty="0"/>
          </a:p>
        </p:txBody>
      </p:sp>
      <p:sp>
        <p:nvSpPr>
          <p:cNvPr id="29" name="Разделитель"/>
          <p:cNvSpPr/>
          <p:nvPr/>
        </p:nvSpPr>
        <p:spPr>
          <a:xfrm>
            <a:off x="6466180" y="4617720"/>
            <a:ext cx="209009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466180" y="4672584"/>
            <a:ext cx="2090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chemeClr val="accent1"/>
                </a:solidFill>
              </a:rPr>
              <a:t>подробнее: слайд 10 и A3 →</a:t>
            </a:r>
            <a:endParaRPr lang="ru-RU" sz="1100" dirty="0"/>
          </a:p>
        </p:txBody>
      </p:sp>
      <p:pic>
        <p:nvPicPr>
          <p:cNvPr id="31" name="Ссылка на слайд 10" descr="Переход: подробнее: слайд 10 и A3">
            <a:hlinkClick r:id="rId9" tooltip="подробнее: слайд 10 и A3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148" y="4636008"/>
            <a:ext cx="2602154" cy="384048"/>
          </a:xfrm>
          <a:prstGeom prst="rect">
            <a:avLst/>
          </a:prstGeom>
        </p:spPr>
      </p:pic>
      <p:sp>
        <p:nvSpPr>
          <p:cNvPr id="32" name="Карточка"/>
          <p:cNvSpPr/>
          <p:nvPr/>
        </p:nvSpPr>
        <p:spPr>
          <a:xfrm>
            <a:off x="9040901" y="1572768"/>
            <a:ext cx="2602154" cy="352044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9296933" y="1828800"/>
            <a:ext cx="1687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spc="120" kern="0" dirty="0">
                <a:solidFill>
                  <a:srgbClr val="00AAFF"/>
                </a:solidFill>
              </a:rPr>
              <a:t>ЗАПРОС</a:t>
            </a:r>
            <a:endParaRPr lang="ru-RU" sz="1100" dirty="0"/>
          </a:p>
        </p:txBody>
      </p:sp>
      <p:sp>
        <p:nvSpPr>
          <p:cNvPr id="34" name="Плитка значка"/>
          <p:cNvSpPr/>
          <p:nvPr/>
        </p:nvSpPr>
        <p:spPr>
          <a:xfrm>
            <a:off x="10929823" y="17556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35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0407" y="1856232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296933" y="2441448"/>
            <a:ext cx="22729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3000" b="1" dirty="0">
                <a:solidFill>
                  <a:schemeClr val="bg1"/>
                </a:solidFill>
              </a:rPr>
              <a:t>6 недель</a:t>
            </a:r>
            <a:endParaRPr lang="ru-RU" sz="3000" dirty="0"/>
          </a:p>
        </p:txBody>
      </p:sp>
      <p:sp>
        <p:nvSpPr>
          <p:cNvPr id="37" name="Text 28"/>
          <p:cNvSpPr txBox="1"/>
          <p:nvPr/>
        </p:nvSpPr>
        <p:spPr>
          <a:xfrm>
            <a:off x="9296933" y="3264408"/>
            <a:ext cx="20900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rgbClr val="CFE3FF"/>
                </a:solidFill>
              </a:rPr>
              <a:t>теневой пилот на праве подписи платёжных поручений по МЧД; для ВТБ окупаемость — 7,5 месяца</a:t>
            </a:r>
            <a:endParaRPr lang="ru-RU" sz="1300" dirty="0"/>
          </a:p>
        </p:txBody>
      </p:sp>
      <p:sp>
        <p:nvSpPr>
          <p:cNvPr id="38" name="Разделитель"/>
          <p:cNvSpPr/>
          <p:nvPr/>
        </p:nvSpPr>
        <p:spPr>
          <a:xfrm>
            <a:off x="9296933" y="4617720"/>
            <a:ext cx="2090090" cy="0"/>
          </a:xfrm>
          <a:prstGeom prst="line">
            <a:avLst/>
          </a:prstGeom>
          <a:noFill/>
          <a:ln w="9525">
            <a:solidFill>
              <a:srgbClr val="2E4F9E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9296933" y="4672584"/>
            <a:ext cx="2090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rgbClr val="00AAFF"/>
                </a:solidFill>
              </a:rPr>
              <a:t>подробнее: слайд 17 →</a:t>
            </a:r>
            <a:endParaRPr lang="ru-RU" sz="1100" dirty="0"/>
          </a:p>
        </p:txBody>
      </p:sp>
      <p:pic>
        <p:nvPicPr>
          <p:cNvPr id="40" name="Ссылка на слайд 17" descr="Переход: подробнее: слайд 17">
            <a:hlinkClick r:id="rId12" tooltip="подробнее: слайд 17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0901" y="4636008"/>
            <a:ext cx="2602154" cy="384048"/>
          </a:xfrm>
          <a:prstGeom prst="rect">
            <a:avLst/>
          </a:prstGeom>
        </p:spPr>
      </p:pic>
      <p:sp>
        <p:nvSpPr>
          <p:cNvPr id="41" name="Плашка вывода"/>
          <p:cNvSpPr/>
          <p:nvPr/>
        </p:nvSpPr>
        <p:spPr>
          <a:xfrm>
            <a:off x="548640" y="5321808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42" name="Плитка значка"/>
          <p:cNvSpPr/>
          <p:nvPr/>
        </p:nvSpPr>
        <p:spPr>
          <a:xfrm>
            <a:off x="749808" y="55046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4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392" y="5605272"/>
            <a:ext cx="256032" cy="256032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389888" y="5321808"/>
            <a:ext cx="99788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bg1"/>
                </a:solidFill>
              </a:rPr>
              <a:t>Главное правило «Мандата»: неизвестное никогда не становится «да». Молчание реестра — это «недостаточно данных», а не «действует».</a:t>
            </a:r>
            <a:endParaRPr lang="ru-RU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ЦЕНА ОШИБКИ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Компании теряют редко, но крупно: ≈1,07 млн ₽ на одну операцию против юрлица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Банк России: обзоры отчётности об инцидентах ИБ при переводе денежных средств за I кв. (cbr.ru, 14.05.2026) и II кв. 2026 (04.08.2026), таблицы по юрлицам (M‑07, M‑15); fintechacademy.ru — задача трека ВТБ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4343400" cy="3456432"/>
          </a:xfrm>
          <a:prstGeom prst="roundRect">
            <a:avLst>
              <a:gd name="adj" fmla="val 3175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73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42557A"/>
                </a:solidFill>
              </a:rPr>
              <a:t>II квартал 2026 · операции без согласия клиента</a:t>
            </a:r>
            <a:endParaRPr lang="ru-RU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756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4600" b="1" dirty="0">
                <a:solidFill>
                  <a:schemeClr val="accent1"/>
                </a:solidFill>
              </a:rPr>
              <a:t>≈1,07 млн ₽</a:t>
            </a:r>
            <a:endParaRPr lang="ru-RU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712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42557A"/>
                </a:solidFill>
              </a:rPr>
              <a:t>средняя операция против юрлица: 780 операций на 831 млн ₽</a:t>
            </a:r>
            <a:endParaRPr lang="ru-RU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1985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chemeClr val="tx2"/>
                </a:solidFill>
              </a:rPr>
              <a:t>юрлица · ≈1,07 млн ₽</a:t>
            </a:r>
            <a:endParaRPr lang="ru-RU" sz="1100" dirty="0"/>
          </a:p>
        </p:txBody>
      </p:sp>
      <p:sp>
        <p:nvSpPr>
          <p:cNvPr id="10" name="Столбик: юрлица"/>
          <p:cNvSpPr/>
          <p:nvPr/>
        </p:nvSpPr>
        <p:spPr>
          <a:xfrm>
            <a:off x="822960" y="3675888"/>
            <a:ext cx="3794760" cy="219456"/>
          </a:xfrm>
          <a:prstGeom prst="roundRect">
            <a:avLst>
              <a:gd name="adj" fmla="val 50000"/>
            </a:avLst>
          </a:prstGeom>
          <a:solidFill>
            <a:srgbClr val="004CB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0050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chemeClr val="tx2"/>
                </a:solidFill>
              </a:rPr>
              <a:t>все клиенты · ≈16 тыс. ₽ — в 67 раз меньше</a:t>
            </a:r>
            <a:endParaRPr lang="ru-RU" sz="1100" dirty="0"/>
          </a:p>
        </p:txBody>
      </p:sp>
      <p:sp>
        <p:nvSpPr>
          <p:cNvPr id="12" name="Столбик: все клиенты"/>
          <p:cNvSpPr/>
          <p:nvPr/>
        </p:nvSpPr>
        <p:spPr>
          <a:xfrm>
            <a:off x="822960" y="4261104"/>
            <a:ext cx="91440" cy="219456"/>
          </a:xfrm>
          <a:prstGeom prst="roundRect">
            <a:avLst>
              <a:gd name="adj" fmla="val 50000"/>
            </a:avLst>
          </a:prstGeom>
          <a:solidFill>
            <a:srgbClr val="C9DC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902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5E6D8C"/>
                </a:solidFill>
              </a:rPr>
              <a:t>458,7 тыс. операций на 7,35 млрд ₽</a:t>
            </a:r>
            <a:endParaRPr lang="ru-RU" sz="1100" dirty="0"/>
          </a:p>
        </p:txBody>
      </p:sp>
      <p:sp>
        <p:nvSpPr>
          <p:cNvPr id="14" name="Карточка"/>
          <p:cNvSpPr/>
          <p:nvPr/>
        </p:nvSpPr>
        <p:spPr>
          <a:xfrm>
            <a:off x="5120640" y="1572768"/>
            <a:ext cx="3520440" cy="3456432"/>
          </a:xfrm>
          <a:prstGeom prst="roundRect">
            <a:avLst>
              <a:gd name="adj" fmla="val 3175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394960" y="17739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42557A"/>
                </a:solidFill>
              </a:rPr>
              <a:t>Потери юрлиц растут, млн ₽</a:t>
            </a:r>
            <a:endParaRPr lang="ru-RU" sz="1200" dirty="0"/>
          </a:p>
        </p:txBody>
      </p:sp>
      <p:graphicFrame>
        <p:nvGraphicFramePr>
          <p:cNvPr id="16" name="Диаграмма: похищено у юрлиц по кварталам" descr=""/>
          <p:cNvGraphicFramePr/>
          <p:nvPr/>
        </p:nvGraphicFramePr>
        <p:xfrm>
          <a:off x="5303520" y="2029968"/>
          <a:ext cx="31546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394960" y="38587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42557A"/>
                </a:solidFill>
              </a:rPr>
              <a:t>доля юрлиц в потерях</a:t>
            </a:r>
            <a:endParaRPr lang="ru-RU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40965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200" b="1" dirty="0">
                <a:solidFill>
                  <a:schemeClr val="tx2"/>
                </a:solidFill>
              </a:rPr>
              <a:t>7,8% → 11,3%</a:t>
            </a:r>
            <a:endParaRPr lang="ru-RU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4553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5E6D8C"/>
                </a:solidFill>
              </a:rPr>
              <a:t>+45% за квартал; 707 из 780 операций — со счетов</a:t>
            </a:r>
            <a:endParaRPr lang="ru-RU" sz="1100" dirty="0"/>
          </a:p>
        </p:txBody>
      </p:sp>
      <p:sp>
        <p:nvSpPr>
          <p:cNvPr id="20" name="Карточка"/>
          <p:cNvSpPr/>
          <p:nvPr/>
        </p:nvSpPr>
        <p:spPr>
          <a:xfrm>
            <a:off x="8869680" y="1572768"/>
            <a:ext cx="2773375" cy="1627632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144000" y="1755648"/>
            <a:ext cx="2224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600" b="1" dirty="0">
                <a:solidFill>
                  <a:srgbClr val="E5484D"/>
                </a:solidFill>
              </a:rPr>
              <a:t>19,5% и 0,5%</a:t>
            </a:r>
            <a:endParaRPr lang="ru-RU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0" y="2350008"/>
            <a:ext cx="2224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42557A"/>
                </a:solidFill>
              </a:rPr>
              <a:t>столько возмещено компаниям во II кв. по счетам и через СБП — остальное теряет бизнес</a:t>
            </a:r>
            <a:endParaRPr lang="ru-RU" sz="1200" dirty="0"/>
          </a:p>
        </p:txBody>
      </p:sp>
      <p:sp>
        <p:nvSpPr>
          <p:cNvPr id="23" name="Карточка"/>
          <p:cNvSpPr/>
          <p:nvPr/>
        </p:nvSpPr>
        <p:spPr>
          <a:xfrm>
            <a:off x="8869680" y="3401568"/>
            <a:ext cx="2773375" cy="1627632"/>
          </a:xfrm>
          <a:prstGeom prst="roundRect">
            <a:avLst>
              <a:gd name="adj" fmla="val 6742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24" name="Плитка значка"/>
          <p:cNvSpPr/>
          <p:nvPr/>
        </p:nvSpPr>
        <p:spPr>
          <a:xfrm>
            <a:off x="9144000" y="35844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pic>
        <p:nvPicPr>
          <p:cNvPr id="25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37" y="3676985"/>
            <a:ext cx="235549" cy="235549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674352" y="3584448"/>
            <a:ext cx="1767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b="1" dirty="0">
                <a:solidFill>
                  <a:schemeClr val="tx2"/>
                </a:solidFill>
              </a:rPr>
              <a:t>Задача трека ВТБ</a:t>
            </a:r>
            <a:endParaRPr lang="ru-RU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144000" y="4114800"/>
            <a:ext cx="2224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«Онбординг и проверка полномочий» — первое направление для бизнеса</a:t>
            </a:r>
            <a:endParaRPr lang="ru-RU" sz="1200" dirty="0"/>
          </a:p>
        </p:txBody>
      </p:sp>
      <p:sp>
        <p:nvSpPr>
          <p:cNvPr id="28" name="Плашка вывода"/>
          <p:cNvSpPr/>
          <p:nvPr/>
        </p:nvSpPr>
        <p:spPr>
          <a:xfrm>
            <a:off x="548640" y="5230368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9" name="Плитка значка"/>
          <p:cNvSpPr/>
          <p:nvPr/>
        </p:nvSpPr>
        <p:spPr>
          <a:xfrm>
            <a:off x="749808" y="54361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30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536692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89888" y="5230368"/>
            <a:ext cx="99788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dirty="0">
                <a:solidFill>
                  <a:schemeClr val="bg1"/>
                </a:solidFill>
              </a:rPr>
              <a:t>Право подписи складывается из трёх источников — МЧД, выписки ЕГРЮЛ и устава — и меняется со временем. Сегодня их сводит вручную сотрудник банка.</a:t>
            </a:r>
            <a:endParaRPr lang="ru-RU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СЦЕНАРИЙ ЗАХВАТА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Захвату хватает пяти рабочих дней, а сверка «на сегодня» не видит событий между обращениями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129‑ФЗ, ст. 8 (срок регистрации); ГК РФ, ст. 188; разъяснения ФНС; Forbes и АБН по данным РБК, 22.10.2026 — случай «ЭОС» по версии компании (M‑17); ВС РФ, Определение СКЭС от 02.05.2023 № 308‑ЭС22‑17199 (M‑35)</a:t>
            </a:r>
            <a:endParaRPr lang="ru-RU" sz="1000" dirty="0"/>
          </a:p>
        </p:txBody>
      </p:sp>
      <p:sp>
        <p:nvSpPr>
          <p:cNvPr id="5" name="Линия времени"/>
          <p:cNvSpPr/>
          <p:nvPr/>
        </p:nvSpPr>
        <p:spPr>
          <a:xfrm>
            <a:off x="731520" y="2281428"/>
            <a:ext cx="10728655" cy="0"/>
          </a:xfrm>
          <a:prstGeom prst="line">
            <a:avLst/>
          </a:prstGeom>
          <a:noFill/>
          <a:ln w="25400">
            <a:solidFill>
              <a:srgbClr val="C9DCFA"/>
            </a:solidFill>
            <a:prstDash val="solid"/>
          </a:ln>
        </p:spPr>
      </p:sp>
      <p:sp>
        <p:nvSpPr>
          <p:cNvPr id="6" name="Карточка"/>
          <p:cNvSpPr/>
          <p:nvPr/>
        </p:nvSpPr>
        <p:spPr>
          <a:xfrm>
            <a:off x="548640" y="1572768"/>
            <a:ext cx="2057949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719072"/>
            <a:ext cx="1692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День 0</a:t>
            </a:r>
            <a:endParaRPr lang="ru-RU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1692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Заявление в ФНС о смене директора — нередко по подделке</a:t>
            </a:r>
            <a:endParaRPr lang="ru-RU" sz="1250" dirty="0"/>
          </a:p>
        </p:txBody>
      </p:sp>
      <p:sp>
        <p:nvSpPr>
          <p:cNvPr id="9" name="Карточка"/>
          <p:cNvSpPr/>
          <p:nvPr/>
        </p:nvSpPr>
        <p:spPr>
          <a:xfrm>
            <a:off x="2807757" y="1572768"/>
            <a:ext cx="2057949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90637" y="1719072"/>
            <a:ext cx="1692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+5 рабочих дней</a:t>
            </a:r>
            <a:endParaRPr lang="ru-RU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90637" y="2011680"/>
            <a:ext cx="1692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В ЕГРЮЛ — новый директор</a:t>
            </a:r>
            <a:endParaRPr lang="ru-RU" sz="1250" dirty="0"/>
          </a:p>
        </p:txBody>
      </p:sp>
      <p:sp>
        <p:nvSpPr>
          <p:cNvPr id="12" name="Карточка"/>
          <p:cNvSpPr/>
          <p:nvPr/>
        </p:nvSpPr>
        <p:spPr>
          <a:xfrm>
            <a:off x="5066873" y="1572768"/>
            <a:ext cx="2057949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49753" y="1719072"/>
            <a:ext cx="1692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Затем</a:t>
            </a:r>
            <a:endParaRPr lang="ru-RU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49753" y="2011680"/>
            <a:ext cx="1692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Новая МЧД на «своего» представителя</a:t>
            </a:r>
            <a:endParaRPr lang="ru-RU" sz="1250" dirty="0"/>
          </a:p>
        </p:txBody>
      </p:sp>
      <p:sp>
        <p:nvSpPr>
          <p:cNvPr id="15" name="Карточка"/>
          <p:cNvSpPr/>
          <p:nvPr/>
        </p:nvSpPr>
        <p:spPr>
          <a:xfrm>
            <a:off x="7325990" y="1572768"/>
            <a:ext cx="2057949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508870" y="1719072"/>
            <a:ext cx="1692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Затем</a:t>
            </a:r>
            <a:endParaRPr lang="ru-RU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508870" y="2011680"/>
            <a:ext cx="1692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Заявка в банк: доступ к счёту, смена реквизитов</a:t>
            </a:r>
            <a:endParaRPr lang="ru-RU" sz="1250" dirty="0"/>
          </a:p>
        </p:txBody>
      </p:sp>
      <p:sp>
        <p:nvSpPr>
          <p:cNvPr id="18" name="Карточка"/>
          <p:cNvSpPr/>
          <p:nvPr/>
        </p:nvSpPr>
        <p:spPr>
          <a:xfrm>
            <a:off x="9585107" y="1572768"/>
            <a:ext cx="2057949" cy="1417320"/>
          </a:xfrm>
          <a:prstGeom prst="roundRect">
            <a:avLst>
              <a:gd name="adj" fmla="val 7742"/>
            </a:avLst>
          </a:prstGeom>
          <a:solidFill>
            <a:srgbClr val="FDE6E7"/>
          </a:solidFill>
          <a:ln w="9525">
            <a:solidFill>
              <a:srgbClr val="F6B9BC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767987" y="1719072"/>
            <a:ext cx="1692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A3161B"/>
                </a:solidFill>
              </a:rPr>
              <a:t>Финал</a:t>
            </a:r>
            <a:endParaRPr lang="ru-RU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767987" y="2011680"/>
            <a:ext cx="1692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rgbClr val="A3161B"/>
                </a:solidFill>
              </a:rPr>
              <a:t>Платёж, который редко удаётся вернуть</a:t>
            </a:r>
            <a:endParaRPr lang="ru-RU" sz="1250" dirty="0"/>
          </a:p>
        </p:txBody>
      </p:sp>
      <p:sp>
        <p:nvSpPr>
          <p:cNvPr id="21" name="Карточка"/>
          <p:cNvSpPr/>
          <p:nvPr/>
        </p:nvSpPr>
        <p:spPr>
          <a:xfrm>
            <a:off x="548640" y="3191256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2" name="Плитка значка"/>
          <p:cNvSpPr/>
          <p:nvPr/>
        </p:nvSpPr>
        <p:spPr>
          <a:xfrm>
            <a:off x="822960" y="341985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DE6E7"/>
          </a:solidFill>
          <a:ln/>
        </p:spPr>
      </p:sp>
      <p:pic>
        <p:nvPicPr>
          <p:cNvPr id="2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520440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417320" y="339242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rgbClr val="A3161B"/>
                </a:solidFill>
              </a:rPr>
              <a:t>Реальный случай · октябрь 2026</a:t>
            </a:r>
            <a:endParaRPr lang="ru-RU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36118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«ЭОС»: 10 дней с чужим гендиректором</a:t>
            </a:r>
            <a:endParaRPr lang="ru-RU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014216"/>
            <a:ext cx="4892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09.10 в ЕГРЮЛ внесли неизвестного компании гендиректора — по версии компании, по поддельным документам, в том числе доверенностям от имени участников. Прежних руководителей восстановили только 19.10: десять дней реестр показывал банкам чужого руководителя.</a:t>
            </a:r>
            <a:endParaRPr lang="ru-RU" sz="1200" dirty="0"/>
          </a:p>
        </p:txBody>
      </p:sp>
      <p:sp>
        <p:nvSpPr>
          <p:cNvPr id="27" name="Карточка"/>
          <p:cNvSpPr/>
          <p:nvPr/>
        </p:nvSpPr>
        <p:spPr>
          <a:xfrm>
            <a:off x="6199632" y="3191256"/>
            <a:ext cx="5443423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8" name="Плитка значка"/>
          <p:cNvSpPr/>
          <p:nvPr/>
        </p:nvSpPr>
        <p:spPr>
          <a:xfrm>
            <a:off x="6473952" y="341985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3520440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068312" y="3419856"/>
            <a:ext cx="43461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Ловушка в обе стороны</a:t>
            </a:r>
            <a:endParaRPr lang="ru-RU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7068312" y="3666744"/>
            <a:ext cx="4346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Смена директора не прекращает МЧД — п. 1 ст. 188 ГК РФ, позиция ФНС</a:t>
            </a:r>
            <a:endParaRPr lang="ru-RU" sz="1200" dirty="0"/>
          </a:p>
        </p:txBody>
      </p:sp>
      <p:sp>
        <p:nvSpPr>
          <p:cNvPr id="32" name="Круг значка"/>
          <p:cNvSpPr/>
          <p:nvPr/>
        </p:nvSpPr>
        <p:spPr>
          <a:xfrm>
            <a:off x="6528816" y="4233672"/>
            <a:ext cx="347472" cy="347472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3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260" y="4310116"/>
            <a:ext cx="194584" cy="194584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7068312" y="4105656"/>
            <a:ext cx="430042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Отказ законному руководителю — нарушение банка: суд обязал провести платёж на 6,5 млн ₽, ВС РФ оставил это в силе (№ 308‑ЭС22‑17199)</a:t>
            </a:r>
            <a:endParaRPr lang="ru-RU" sz="1200" dirty="0"/>
          </a:p>
        </p:txBody>
      </p:sp>
      <p:sp>
        <p:nvSpPr>
          <p:cNvPr id="35" name="Круг значка"/>
          <p:cNvSpPr/>
          <p:nvPr/>
        </p:nvSpPr>
        <p:spPr>
          <a:xfrm>
            <a:off x="6528816" y="4837176"/>
            <a:ext cx="347472" cy="347472"/>
          </a:xfrm>
          <a:prstGeom prst="ellipse">
            <a:avLst/>
          </a:prstGeom>
          <a:solidFill>
            <a:srgbClr val="F5A300"/>
          </a:solidFill>
          <a:ln/>
        </p:spPr>
      </p:sp>
      <p:pic>
        <p:nvPicPr>
          <p:cNvPr id="36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260" y="4913620"/>
            <a:ext cx="194584" cy="194584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068312" y="4764024"/>
            <a:ext cx="4300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Пропустите свежую смену — откроете дверь захвату</a:t>
            </a:r>
            <a:endParaRPr lang="ru-RU" sz="1200" dirty="0"/>
          </a:p>
        </p:txBody>
      </p:sp>
      <p:sp>
        <p:nvSpPr>
          <p:cNvPr id="38" name="Плашка вывода"/>
          <p:cNvSpPr/>
          <p:nvPr/>
        </p:nvSpPr>
        <p:spPr>
          <a:xfrm>
            <a:off x="548640" y="539496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9" name="Плитка значка"/>
          <p:cNvSpPr/>
          <p:nvPr/>
        </p:nvSpPr>
        <p:spPr>
          <a:xfrm>
            <a:off x="749808" y="55321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40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632704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389888" y="5394960"/>
            <a:ext cx="99788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bg1"/>
                </a:solidFill>
              </a:rPr>
              <a:t>Нужен ответ на дату операции — с историей событий ЕГРЮЛ и реестра МЧД, а не снимок «на сегодня»</a:t>
            </a:r>
            <a:endParaRPr lang="ru-RU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КЛЮЧЕВАЯ ИДЕЯ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Полномочие — это пересечение интервалов на дату операции, а не статус документа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Демо‑кейс 14 (examples/cases/14_old_director_charter_cleared): даты — из egrul.json и poa-root.xml; данные вымышлены, отметка юриста об уставе синтетическая; окно «свежей» смены — 30 дней (ADR-002)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11094415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Линия"/>
          <p:cNvSpPr/>
          <p:nvPr/>
        </p:nvSpPr>
        <p:spPr>
          <a:xfrm>
            <a:off x="2834640" y="2002536"/>
            <a:ext cx="0" cy="2889504"/>
          </a:xfrm>
          <a:prstGeom prst="line">
            <a:avLst/>
          </a:prstGeom>
          <a:noFill/>
          <a:ln w="9525">
            <a:solidFill>
              <a:srgbClr val="E3E9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7190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000" dirty="0">
                <a:solidFill>
                  <a:srgbClr val="5E6D8C"/>
                </a:solidFill>
              </a:rPr>
              <a:t>янв 2026</a:t>
            </a:r>
            <a:endParaRPr lang="ru-RU" sz="1000" dirty="0"/>
          </a:p>
        </p:txBody>
      </p:sp>
      <p:sp>
        <p:nvSpPr>
          <p:cNvPr id="8" name="Линия"/>
          <p:cNvSpPr/>
          <p:nvPr/>
        </p:nvSpPr>
        <p:spPr>
          <a:xfrm>
            <a:off x="4553611" y="2002536"/>
            <a:ext cx="0" cy="2889504"/>
          </a:xfrm>
          <a:prstGeom prst="line">
            <a:avLst/>
          </a:prstGeom>
          <a:noFill/>
          <a:ln w="9525">
            <a:solidFill>
              <a:srgbClr val="E3E9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04971" y="17190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000" dirty="0">
                <a:solidFill>
                  <a:srgbClr val="5E6D8C"/>
                </a:solidFill>
              </a:rPr>
              <a:t>апр</a:t>
            </a:r>
            <a:endParaRPr lang="ru-RU" sz="1000" dirty="0"/>
          </a:p>
        </p:txBody>
      </p:sp>
      <p:sp>
        <p:nvSpPr>
          <p:cNvPr id="10" name="Линия"/>
          <p:cNvSpPr/>
          <p:nvPr/>
        </p:nvSpPr>
        <p:spPr>
          <a:xfrm>
            <a:off x="6291682" y="2002536"/>
            <a:ext cx="0" cy="2889504"/>
          </a:xfrm>
          <a:prstGeom prst="line">
            <a:avLst/>
          </a:prstGeom>
          <a:noFill/>
          <a:ln w="9525">
            <a:solidFill>
              <a:srgbClr val="E3E9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3042" y="17190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000" dirty="0">
                <a:solidFill>
                  <a:srgbClr val="5E6D8C"/>
                </a:solidFill>
              </a:rPr>
              <a:t>июл</a:t>
            </a:r>
            <a:endParaRPr lang="ru-RU" sz="1000" dirty="0"/>
          </a:p>
        </p:txBody>
      </p:sp>
      <p:sp>
        <p:nvSpPr>
          <p:cNvPr id="12" name="Линия"/>
          <p:cNvSpPr/>
          <p:nvPr/>
        </p:nvSpPr>
        <p:spPr>
          <a:xfrm>
            <a:off x="8048853" y="2002536"/>
            <a:ext cx="0" cy="2889504"/>
          </a:xfrm>
          <a:prstGeom prst="line">
            <a:avLst/>
          </a:prstGeom>
          <a:noFill/>
          <a:ln w="9525">
            <a:solidFill>
              <a:srgbClr val="E3E9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00213" y="17190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000" dirty="0">
                <a:solidFill>
                  <a:srgbClr val="5E6D8C"/>
                </a:solidFill>
              </a:rPr>
              <a:t>окт</a:t>
            </a:r>
            <a:endParaRPr lang="ru-RU" sz="1000" dirty="0"/>
          </a:p>
        </p:txBody>
      </p:sp>
      <p:sp>
        <p:nvSpPr>
          <p:cNvPr id="14" name="Линия"/>
          <p:cNvSpPr/>
          <p:nvPr/>
        </p:nvSpPr>
        <p:spPr>
          <a:xfrm>
            <a:off x="9806024" y="2002536"/>
            <a:ext cx="0" cy="2889504"/>
          </a:xfrm>
          <a:prstGeom prst="line">
            <a:avLst/>
          </a:prstGeom>
          <a:noFill/>
          <a:ln w="9525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57384" y="17190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000" dirty="0">
                <a:solidFill>
                  <a:srgbClr val="5E6D8C"/>
                </a:solidFill>
              </a:rPr>
              <a:t>янв 2027</a:t>
            </a:r>
            <a:endParaRPr lang="ru-RU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0756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Директор по ЕГРЮЛ</a:t>
            </a:r>
            <a:endParaRPr lang="ru-RU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66090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МЧД 90ef631e…</a:t>
            </a:r>
            <a:endParaRPr lang="ru-RU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Реестр МЧД ФНС</a:t>
            </a:r>
            <a:endParaRPr lang="ru-RU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83133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Смена руководителя</a:t>
            </a:r>
            <a:endParaRPr lang="ru-RU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165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Устав</a:t>
            </a:r>
            <a:endParaRPr lang="ru-RU" sz="1200" dirty="0"/>
          </a:p>
        </p:txBody>
      </p:sp>
      <p:sp>
        <p:nvSpPr>
          <p:cNvPr id="21" name="Интервал: ← Петров П. П. · с 2024 до 30.04.2026"/>
          <p:cNvSpPr/>
          <p:nvPr/>
        </p:nvSpPr>
        <p:spPr>
          <a:xfrm>
            <a:off x="2834640" y="2130552"/>
            <a:ext cx="2272862" cy="347472"/>
          </a:xfrm>
          <a:prstGeom prst="roundRect">
            <a:avLst>
              <a:gd name="adj" fmla="val 21053"/>
            </a:avLst>
          </a:prstGeom>
          <a:solidFill>
            <a:srgbClr val="DCE7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26080" y="2130552"/>
            <a:ext cx="20899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rgbClr val="0A2973"/>
                </a:solidFill>
              </a:rPr>
              <a:t>← Петров П. П. · с 2024 до 30.04.2026</a:t>
            </a:r>
            <a:endParaRPr lang="ru-RU" sz="1050" dirty="0"/>
          </a:p>
        </p:txBody>
      </p:sp>
      <p:sp>
        <p:nvSpPr>
          <p:cNvPr id="23" name="Интервал: Петров А. И. · с 01.05.2026"/>
          <p:cNvSpPr/>
          <p:nvPr/>
        </p:nvSpPr>
        <p:spPr>
          <a:xfrm>
            <a:off x="5126602" y="2130552"/>
            <a:ext cx="6379293" cy="347472"/>
          </a:xfrm>
          <a:prstGeom prst="roundRect">
            <a:avLst>
              <a:gd name="adj" fmla="val 21053"/>
            </a:avLst>
          </a:prstGeom>
          <a:solidFill>
            <a:srgbClr val="BCD3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18042" y="2130552"/>
            <a:ext cx="61964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rgbClr val="0A2973"/>
                </a:solidFill>
              </a:rPr>
              <a:t>Петров А. И. · с 01.05.2026</a:t>
            </a:r>
            <a:endParaRPr lang="ru-RU" sz="1050" dirty="0"/>
          </a:p>
        </p:txBody>
      </p:sp>
      <p:sp>
        <p:nvSpPr>
          <p:cNvPr id="25" name="Интервал: выдана 01.03.2026 · до 28.02.2027"/>
          <p:cNvSpPr/>
          <p:nvPr/>
        </p:nvSpPr>
        <p:spPr>
          <a:xfrm>
            <a:off x="3961521" y="2715768"/>
            <a:ext cx="6952284" cy="347472"/>
          </a:xfrm>
          <a:prstGeom prst="roundRect">
            <a:avLst>
              <a:gd name="adj" fmla="val 21053"/>
            </a:avLst>
          </a:prstGeom>
          <a:solidFill>
            <a:srgbClr val="004CB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052961" y="2715768"/>
            <a:ext cx="6769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rgbClr val="FFFFFF"/>
                </a:solidFill>
              </a:rPr>
              <a:t>выдана 01.03.2026 · до 28.02.2027</a:t>
            </a:r>
            <a:endParaRPr lang="ru-RU" sz="1050" dirty="0"/>
          </a:p>
        </p:txBody>
      </p:sp>
      <p:sp>
        <p:nvSpPr>
          <p:cNvPr id="27" name="Интервал: статус: действует (на стенде — из пакета кейса)"/>
          <p:cNvSpPr/>
          <p:nvPr/>
        </p:nvSpPr>
        <p:spPr>
          <a:xfrm>
            <a:off x="3961521" y="3300984"/>
            <a:ext cx="7544374" cy="347472"/>
          </a:xfrm>
          <a:prstGeom prst="roundRect">
            <a:avLst>
              <a:gd name="adj" fmla="val 21053"/>
            </a:avLst>
          </a:prstGeom>
          <a:solidFill>
            <a:srgbClr val="E2F4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052961" y="3300984"/>
            <a:ext cx="73614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rgbClr val="0B6B44"/>
                </a:solidFill>
              </a:rPr>
              <a:t>статус: действует (на стенде — из пакета кейса)</a:t>
            </a:r>
            <a:endParaRPr lang="ru-RU" sz="1050" dirty="0"/>
          </a:p>
        </p:txBody>
      </p:sp>
      <p:sp>
        <p:nvSpPr>
          <p:cNvPr id="29" name="Окно свежей смены"/>
          <p:cNvSpPr/>
          <p:nvPr/>
        </p:nvSpPr>
        <p:spPr>
          <a:xfrm>
            <a:off x="7838756" y="3867912"/>
            <a:ext cx="572990" cy="384048"/>
          </a:xfrm>
          <a:prstGeom prst="rect">
            <a:avLst/>
          </a:prstGeom>
          <a:solidFill>
            <a:srgbClr val="FFF1D4"/>
          </a:solidFill>
          <a:ln w="12700">
            <a:solidFill>
              <a:srgbClr val="F5A300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521475" y="3831336"/>
            <a:ext cx="2956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>
                <a:solidFill>
                  <a:srgbClr val="7A4E00"/>
                </a:solidFill>
              </a:rPr>
              <a:t>← окно «свежей» смены: 30 дней до операции</a:t>
            </a:r>
            <a:endParaRPr lang="ru-RU" sz="1000" dirty="0"/>
          </a:p>
        </p:txBody>
      </p:sp>
      <p:sp>
        <p:nvSpPr>
          <p:cNvPr id="31" name="Событие: смена руководителя"/>
          <p:cNvSpPr/>
          <p:nvPr/>
        </p:nvSpPr>
        <p:spPr>
          <a:xfrm>
            <a:off x="4998586" y="3931920"/>
            <a:ext cx="256032" cy="256032"/>
          </a:xfrm>
          <a:prstGeom prst="diamond">
            <a:avLst/>
          </a:prstGeom>
          <a:solidFill>
            <a:srgbClr val="F5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27770" y="3831336"/>
            <a:ext cx="239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>
                <a:solidFill>
                  <a:srgbClr val="7A4E00"/>
                </a:solidFill>
              </a:rPr>
              <a:t>01.05.2026: МЧД не прекращается (п. 1 ст. 188 ГК РФ)</a:t>
            </a:r>
            <a:endParaRPr lang="ru-RU" sz="1000" dirty="0"/>
          </a:p>
        </p:txBody>
      </p:sp>
      <p:sp>
        <p:nvSpPr>
          <p:cNvPr id="33" name="Интервал: ограничений для операции нет — синтетическая отметка юриста"/>
          <p:cNvSpPr/>
          <p:nvPr/>
        </p:nvSpPr>
        <p:spPr>
          <a:xfrm>
            <a:off x="2834640" y="4471416"/>
            <a:ext cx="8671255" cy="347472"/>
          </a:xfrm>
          <a:prstGeom prst="roundRect">
            <a:avLst>
              <a:gd name="adj" fmla="val 21053"/>
            </a:avLst>
          </a:prstGeom>
          <a:solidFill>
            <a:srgbClr val="EEF1F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926080" y="4471416"/>
            <a:ext cx="8488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rgbClr val="42557A"/>
                </a:solidFill>
              </a:rPr>
              <a:t>ограничений для операции нет — синтетическая отметка юриста</a:t>
            </a:r>
            <a:endParaRPr lang="ru-RU" sz="1050" dirty="0"/>
          </a:p>
        </p:txBody>
      </p:sp>
      <p:sp>
        <p:nvSpPr>
          <p:cNvPr id="35" name="Линия"/>
          <p:cNvSpPr/>
          <p:nvPr/>
        </p:nvSpPr>
        <p:spPr>
          <a:xfrm>
            <a:off x="8411747" y="1965960"/>
            <a:ext cx="0" cy="2980944"/>
          </a:xfrm>
          <a:prstGeom prst="line">
            <a:avLst/>
          </a:prstGeom>
          <a:noFill/>
          <a:ln w="25400">
            <a:solidFill>
              <a:srgbClr val="0A2973"/>
            </a:solidFill>
            <a:prstDash val="dash"/>
          </a:ln>
        </p:spPr>
      </p:sp>
      <p:sp>
        <p:nvSpPr>
          <p:cNvPr id="36" name="Дата операции"/>
          <p:cNvSpPr/>
          <p:nvPr/>
        </p:nvSpPr>
        <p:spPr>
          <a:xfrm>
            <a:off x="7360187" y="49834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A297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60187" y="4983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rgbClr val="FFFFFF"/>
                </a:solidFill>
              </a:rPr>
              <a:t>t = 20.10.2026 · 480 000 ₽</a:t>
            </a:r>
            <a:endParaRPr lang="ru-RU" sz="1050" dirty="0"/>
          </a:p>
        </p:txBody>
      </p:sp>
      <p:sp>
        <p:nvSpPr>
          <p:cNvPr id="38" name="Карточка"/>
          <p:cNvSpPr/>
          <p:nvPr/>
        </p:nvSpPr>
        <p:spPr>
          <a:xfrm>
            <a:off x="548640" y="5550408"/>
            <a:ext cx="5432908" cy="594360"/>
          </a:xfrm>
          <a:prstGeom prst="roundRect">
            <a:avLst>
              <a:gd name="adj" fmla="val 18462"/>
            </a:avLst>
          </a:prstGeom>
          <a:solidFill>
            <a:srgbClr val="FDE6E7"/>
          </a:solidFill>
          <a:ln w="9525">
            <a:solidFill>
              <a:srgbClr val="F6B9BC"/>
            </a:solidFill>
            <a:prstDash val="solid"/>
          </a:ln>
        </p:spPr>
      </p:sp>
      <p:sp>
        <p:nvSpPr>
          <p:cNvPr id="39" name="Круг значка"/>
          <p:cNvSpPr/>
          <p:nvPr/>
        </p:nvSpPr>
        <p:spPr>
          <a:xfrm>
            <a:off x="749808" y="5664708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40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5745175"/>
            <a:ext cx="204826" cy="204826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261872" y="5550408"/>
            <a:ext cx="45185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A3161B"/>
                </a:solidFill>
              </a:rPr>
              <a:t>Сверка «на сегодня»: </a:t>
            </a:r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A3161B"/>
                </a:solidFill>
              </a:rPr>
              <a:t>директор сейчас другой, чем подписал МЧД, — соблазн отказать по действующей доверенности</a:t>
            </a:r>
            <a:endParaRPr lang="ru-RU" sz="1200" dirty="0"/>
          </a:p>
        </p:txBody>
      </p:sp>
      <p:sp>
        <p:nvSpPr>
          <p:cNvPr id="42" name="Карточка"/>
          <p:cNvSpPr/>
          <p:nvPr/>
        </p:nvSpPr>
        <p:spPr>
          <a:xfrm>
            <a:off x="6210148" y="5550408"/>
            <a:ext cx="5432908" cy="594360"/>
          </a:xfrm>
          <a:prstGeom prst="roundRect">
            <a:avLst>
              <a:gd name="adj" fmla="val 18462"/>
            </a:avLst>
          </a:prstGeom>
          <a:solidFill>
            <a:srgbClr val="E2F4EB"/>
          </a:solidFill>
          <a:ln w="9525">
            <a:solidFill>
              <a:srgbClr val="A9DDC3"/>
            </a:solidFill>
            <a:prstDash val="solid"/>
          </a:ln>
        </p:spPr>
      </p:sp>
      <p:sp>
        <p:nvSpPr>
          <p:cNvPr id="43" name="Круг значка"/>
          <p:cNvSpPr/>
          <p:nvPr/>
        </p:nvSpPr>
        <p:spPr>
          <a:xfrm>
            <a:off x="6411316" y="5664708"/>
            <a:ext cx="365760" cy="365760"/>
          </a:xfrm>
          <a:prstGeom prst="ellipse">
            <a:avLst/>
          </a:prstGeom>
          <a:solidFill>
            <a:srgbClr val="1A9F68"/>
          </a:solidFill>
          <a:ln/>
        </p:spPr>
      </p:sp>
      <p:pic>
        <p:nvPicPr>
          <p:cNvPr id="4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783" y="5745175"/>
            <a:ext cx="204826" cy="204826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6923380" y="5550408"/>
            <a:ext cx="45185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0B6B44"/>
                </a:solidFill>
              </a:rPr>
              <a:t>Проверка на дату t: </a:t>
            </a:r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0B6B44"/>
                </a:solidFill>
              </a:rPr>
              <a:t>МЧД подписал директор на дату выдачи, она в сроке и не отменена, смена давняя → ПОДТВЕРЖДЕНО с сигналом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РЕШЕНИЕ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Один вопрос — четыре ответа, и неизвестное никогда не становится «да»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«Мандат» проверяет полномочия, а не личность: идентификацию по 115‑ФЗ проводят существующие каналы банка (КЭП, ЕБС, офис)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11094415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Вопрос"/>
          <p:cNvSpPr txBox="1"/>
          <p:nvPr/>
        </p:nvSpPr>
        <p:spPr>
          <a:xfrm>
            <a:off x="548640" y="15727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100" b="1" dirty="0">
                <a:solidFill>
                  <a:schemeClr val="bg1"/>
                </a:solidFill>
              </a:rPr>
              <a:t>Вправе ли </a:t>
            </a:r>
            <a:pPr algn="ctr" indent="0" marL="0">
              <a:buNone/>
            </a:pPr>
            <a:r>
              <a:rPr lang="ru-RU" sz="2100" b="1" dirty="0">
                <a:solidFill>
                  <a:srgbClr val="00AAFF"/>
                </a:solidFill>
              </a:rPr>
              <a:t>X</a:t>
            </a:r>
            <a:pPr algn="ctr" indent="0" marL="0">
              <a:buNone/>
            </a:pPr>
            <a:r>
              <a:rPr lang="ru-RU" sz="2100" b="1" dirty="0">
                <a:solidFill>
                  <a:schemeClr val="bg1"/>
                </a:solidFill>
              </a:rPr>
              <a:t> совершить операцию </a:t>
            </a:r>
            <a:pPr algn="ctr" indent="0" marL="0">
              <a:buNone/>
            </a:pPr>
            <a:r>
              <a:rPr lang="ru-RU" sz="2100" b="1" dirty="0">
                <a:solidFill>
                  <a:srgbClr val="00AAFF"/>
                </a:solidFill>
              </a:rPr>
              <a:t>O</a:t>
            </a:r>
            <a:pPr algn="ctr" indent="0" marL="0">
              <a:buNone/>
            </a:pPr>
            <a:r>
              <a:rPr lang="ru-RU" sz="2100" b="1" dirty="0">
                <a:solidFill>
                  <a:schemeClr val="bg1"/>
                </a:solidFill>
              </a:rPr>
              <a:t> от имени компании </a:t>
            </a:r>
            <a:pPr algn="ctr" indent="0" marL="0">
              <a:buNone/>
            </a:pPr>
            <a:r>
              <a:rPr lang="ru-RU" sz="2100" b="1" dirty="0">
                <a:solidFill>
                  <a:srgbClr val="00AAFF"/>
                </a:solidFill>
              </a:rPr>
              <a:t>Y</a:t>
            </a:r>
            <a:pPr algn="ctr" indent="0" marL="0">
              <a:buNone/>
            </a:pPr>
            <a:r>
              <a:rPr lang="ru-RU" sz="2100" b="1" dirty="0">
                <a:solidFill>
                  <a:schemeClr val="bg1"/>
                </a:solidFill>
              </a:rPr>
              <a:t> на дату </a:t>
            </a:r>
            <a:pPr algn="ctr" indent="0" marL="0">
              <a:buNone/>
            </a:pPr>
            <a:r>
              <a:rPr lang="ru-RU" sz="2100" b="1" dirty="0">
                <a:solidFill>
                  <a:srgbClr val="00AAFF"/>
                </a:solidFill>
              </a:rPr>
              <a:t>t</a:t>
            </a:r>
            <a:pPr algn="ctr" indent="0" marL="0">
              <a:buNone/>
            </a:pPr>
            <a:r>
              <a:rPr lang="ru-RU" sz="2100" b="1" dirty="0">
                <a:solidFill>
                  <a:schemeClr val="bg1"/>
                </a:solidFill>
              </a:rPr>
              <a:t>?</a:t>
            </a:r>
            <a:endParaRPr lang="ru-RU" sz="2100" dirty="0"/>
          </a:p>
        </p:txBody>
      </p:sp>
      <p:sp>
        <p:nvSpPr>
          <p:cNvPr id="7" name="Карточка"/>
          <p:cNvSpPr/>
          <p:nvPr/>
        </p:nvSpPr>
        <p:spPr>
          <a:xfrm>
            <a:off x="548640" y="2441448"/>
            <a:ext cx="2602154" cy="2542032"/>
          </a:xfrm>
          <a:prstGeom prst="roundRect">
            <a:avLst>
              <a:gd name="adj" fmla="val 43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8" name="Круг значка"/>
          <p:cNvSpPr/>
          <p:nvPr/>
        </p:nvSpPr>
        <p:spPr>
          <a:xfrm>
            <a:off x="777240" y="2642616"/>
            <a:ext cx="457200" cy="457200"/>
          </a:xfrm>
          <a:prstGeom prst="ellipse">
            <a:avLst/>
          </a:prstGeom>
          <a:solidFill>
            <a:srgbClr val="1A9F68"/>
          </a:solidFill>
          <a:ln/>
        </p:spPr>
      </p:sp>
      <p:pic>
        <p:nvPicPr>
          <p:cNvPr id="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43200"/>
            <a:ext cx="256032" cy="256032"/>
          </a:xfrm>
          <a:prstGeom prst="rect">
            <a:avLst/>
          </a:prstGeom>
        </p:spPr>
      </p:pic>
      <p:sp>
        <p:nvSpPr>
          <p:cNvPr id="10" name="Вердикт: ПОДТВЕРЖДЕНО"/>
          <p:cNvSpPr/>
          <p:nvPr/>
        </p:nvSpPr>
        <p:spPr>
          <a:xfrm>
            <a:off x="777240" y="3227832"/>
            <a:ext cx="1632570" cy="274320"/>
          </a:xfrm>
          <a:prstGeom prst="roundRect">
            <a:avLst>
              <a:gd name="adj" fmla="val 50000"/>
            </a:avLst>
          </a:prstGeom>
          <a:solidFill>
            <a:srgbClr val="E2F4EB"/>
          </a:solidFill>
          <a:ln/>
        </p:spPr>
      </p:sp>
      <p:sp>
        <p:nvSpPr>
          <p:cNvPr id="11" name="Метка статуса"/>
          <p:cNvSpPr/>
          <p:nvPr/>
        </p:nvSpPr>
        <p:spPr>
          <a:xfrm>
            <a:off x="914400" y="3319272"/>
            <a:ext cx="91440" cy="91440"/>
          </a:xfrm>
          <a:prstGeom prst="ellipse">
            <a:avLst/>
          </a:prstGeom>
          <a:solidFill>
            <a:srgbClr val="1A9F6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78992" y="3227832"/>
            <a:ext cx="1266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50" b="1" dirty="0">
                <a:solidFill>
                  <a:srgbClr val="0B6B44"/>
                </a:solidFill>
              </a:rPr>
              <a:t>ПОДТВЕРЖДЕНО</a:t>
            </a:r>
            <a:endParaRPr lang="ru-RU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593592"/>
            <a:ext cx="21449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Все обязательные проверки пройдены</a:t>
            </a:r>
            <a:endParaRPr lang="ru-RU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123944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rgbClr val="5E6D8C"/>
                </a:solidFill>
              </a:rPr>
              <a:t>Банк получает</a:t>
            </a:r>
            <a:endParaRPr lang="ru-RU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325112"/>
            <a:ext cx="21449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рекомендацию роли и подписанное удостоверение</a:t>
            </a:r>
            <a:endParaRPr lang="ru-RU" sz="1200" dirty="0"/>
          </a:p>
        </p:txBody>
      </p:sp>
      <p:sp>
        <p:nvSpPr>
          <p:cNvPr id="16" name="Карточка"/>
          <p:cNvSpPr/>
          <p:nvPr/>
        </p:nvSpPr>
        <p:spPr>
          <a:xfrm>
            <a:off x="3379394" y="2441448"/>
            <a:ext cx="2602154" cy="2542032"/>
          </a:xfrm>
          <a:prstGeom prst="roundRect">
            <a:avLst>
              <a:gd name="adj" fmla="val 43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7" name="Круг значка"/>
          <p:cNvSpPr/>
          <p:nvPr/>
        </p:nvSpPr>
        <p:spPr>
          <a:xfrm>
            <a:off x="3607994" y="2642616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8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578" y="2743200"/>
            <a:ext cx="256032" cy="256032"/>
          </a:xfrm>
          <a:prstGeom prst="rect">
            <a:avLst/>
          </a:prstGeom>
        </p:spPr>
      </p:pic>
      <p:sp>
        <p:nvSpPr>
          <p:cNvPr id="19" name="Вердикт: ОПРОВЕРГНУТО"/>
          <p:cNvSpPr/>
          <p:nvPr/>
        </p:nvSpPr>
        <p:spPr>
          <a:xfrm>
            <a:off x="3607994" y="3227832"/>
            <a:ext cx="1632570" cy="274320"/>
          </a:xfrm>
          <a:prstGeom prst="roundRect">
            <a:avLst>
              <a:gd name="adj" fmla="val 50000"/>
            </a:avLst>
          </a:prstGeom>
          <a:solidFill>
            <a:srgbClr val="FDE6E7"/>
          </a:solidFill>
          <a:ln/>
        </p:spPr>
      </p:sp>
      <p:sp>
        <p:nvSpPr>
          <p:cNvPr id="20" name="Метка статуса"/>
          <p:cNvSpPr/>
          <p:nvPr/>
        </p:nvSpPr>
        <p:spPr>
          <a:xfrm>
            <a:off x="3745154" y="3319272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909746" y="3227832"/>
            <a:ext cx="1266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50" b="1" dirty="0">
                <a:solidFill>
                  <a:srgbClr val="A3161B"/>
                </a:solidFill>
              </a:rPr>
              <a:t>ОПРОВЕРГНУТО</a:t>
            </a:r>
            <a:endParaRPr lang="ru-RU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3607994" y="3593592"/>
            <a:ext cx="21449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Найдено нарушение</a:t>
            </a:r>
            <a:endParaRPr lang="ru-RU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3607994" y="4123944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rgbClr val="5E6D8C"/>
                </a:solidFill>
              </a:rPr>
              <a:t>Банк получает</a:t>
            </a:r>
            <a:endParaRPr lang="ru-RU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3607994" y="4325112"/>
            <a:ext cx="21449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звено цепочки, норму закона и что запросить у клиента</a:t>
            </a:r>
            <a:endParaRPr lang="ru-RU" sz="1200" dirty="0"/>
          </a:p>
        </p:txBody>
      </p:sp>
      <p:sp>
        <p:nvSpPr>
          <p:cNvPr id="25" name="Карточка"/>
          <p:cNvSpPr/>
          <p:nvPr/>
        </p:nvSpPr>
        <p:spPr>
          <a:xfrm>
            <a:off x="6210148" y="2441448"/>
            <a:ext cx="2602154" cy="2542032"/>
          </a:xfrm>
          <a:prstGeom prst="roundRect">
            <a:avLst>
              <a:gd name="adj" fmla="val 43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6" name="Круг значка"/>
          <p:cNvSpPr/>
          <p:nvPr/>
        </p:nvSpPr>
        <p:spPr>
          <a:xfrm>
            <a:off x="6438748" y="2642616"/>
            <a:ext cx="457200" cy="457200"/>
          </a:xfrm>
          <a:prstGeom prst="ellipse">
            <a:avLst/>
          </a:prstGeom>
          <a:solidFill>
            <a:srgbClr val="F5A300"/>
          </a:solidFill>
          <a:ln/>
        </p:spPr>
      </p:sp>
      <p:pic>
        <p:nvPicPr>
          <p:cNvPr id="27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332" y="2743200"/>
            <a:ext cx="256032" cy="256032"/>
          </a:xfrm>
          <a:prstGeom prst="rect">
            <a:avLst/>
          </a:prstGeom>
        </p:spPr>
      </p:pic>
      <p:sp>
        <p:nvSpPr>
          <p:cNvPr id="28" name="Вердикт: НА РАЗБОР"/>
          <p:cNvSpPr/>
          <p:nvPr/>
        </p:nvSpPr>
        <p:spPr>
          <a:xfrm>
            <a:off x="6438748" y="3227832"/>
            <a:ext cx="1283360" cy="274320"/>
          </a:xfrm>
          <a:prstGeom prst="roundRect">
            <a:avLst>
              <a:gd name="adj" fmla="val 50000"/>
            </a:avLst>
          </a:prstGeom>
          <a:solidFill>
            <a:srgbClr val="FFF1D4"/>
          </a:solidFill>
          <a:ln/>
        </p:spPr>
      </p:sp>
      <p:sp>
        <p:nvSpPr>
          <p:cNvPr id="29" name="Метка статуса"/>
          <p:cNvSpPr/>
          <p:nvPr/>
        </p:nvSpPr>
        <p:spPr>
          <a:xfrm>
            <a:off x="6575908" y="3319272"/>
            <a:ext cx="91440" cy="91440"/>
          </a:xfrm>
          <a:prstGeom prst="ellipse">
            <a:avLst/>
          </a:prstGeom>
          <a:solidFill>
            <a:srgbClr val="F5A300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740500" y="3227832"/>
            <a:ext cx="91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50" b="1" dirty="0">
                <a:solidFill>
                  <a:srgbClr val="7A4E00"/>
                </a:solidFill>
              </a:rPr>
              <a:t>НА РАЗБОР</a:t>
            </a:r>
            <a:endParaRPr lang="ru-RU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6438748" y="3593592"/>
            <a:ext cx="21449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Спорная ситуация</a:t>
            </a:r>
            <a:endParaRPr lang="ru-RU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6438748" y="4123944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rgbClr val="5E6D8C"/>
                </a:solidFill>
              </a:rPr>
              <a:t>Банк получает</a:t>
            </a:r>
            <a:endParaRPr lang="ru-RU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6438748" y="4325112"/>
            <a:ext cx="21449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досье для сотрудника, приоритет P1–P3 и срок разбора</a:t>
            </a:r>
            <a:endParaRPr lang="ru-RU" sz="1200" dirty="0"/>
          </a:p>
        </p:txBody>
      </p:sp>
      <p:sp>
        <p:nvSpPr>
          <p:cNvPr id="34" name="Карточка"/>
          <p:cNvSpPr/>
          <p:nvPr/>
        </p:nvSpPr>
        <p:spPr>
          <a:xfrm>
            <a:off x="9040901" y="2441448"/>
            <a:ext cx="2602154" cy="2542032"/>
          </a:xfrm>
          <a:prstGeom prst="roundRect">
            <a:avLst>
              <a:gd name="adj" fmla="val 43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5" name="Круг значка"/>
          <p:cNvSpPr/>
          <p:nvPr/>
        </p:nvSpPr>
        <p:spPr>
          <a:xfrm>
            <a:off x="9269501" y="2642616"/>
            <a:ext cx="457200" cy="457200"/>
          </a:xfrm>
          <a:prstGeom prst="ellipse">
            <a:avLst/>
          </a:prstGeom>
          <a:solidFill>
            <a:srgbClr val="6B7A99"/>
          </a:solidFill>
          <a:ln/>
        </p:spPr>
      </p:sp>
      <p:pic>
        <p:nvPicPr>
          <p:cNvPr id="36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085" y="2743200"/>
            <a:ext cx="256032" cy="256032"/>
          </a:xfrm>
          <a:prstGeom prst="rect">
            <a:avLst/>
          </a:prstGeom>
        </p:spPr>
      </p:pic>
      <p:sp>
        <p:nvSpPr>
          <p:cNvPr id="37" name="Вердикт: НЕДОСТАТОЧНО ДАННЫХ"/>
          <p:cNvSpPr/>
          <p:nvPr/>
        </p:nvSpPr>
        <p:spPr>
          <a:xfrm>
            <a:off x="9269501" y="3227832"/>
            <a:ext cx="2247595" cy="274320"/>
          </a:xfrm>
          <a:prstGeom prst="roundRect">
            <a:avLst>
              <a:gd name="adj" fmla="val 50000"/>
            </a:avLst>
          </a:prstGeom>
          <a:solidFill>
            <a:srgbClr val="E8ECF3"/>
          </a:solidFill>
          <a:ln/>
        </p:spPr>
      </p:sp>
      <p:sp>
        <p:nvSpPr>
          <p:cNvPr id="38" name="Метка статуса"/>
          <p:cNvSpPr/>
          <p:nvPr/>
        </p:nvSpPr>
        <p:spPr>
          <a:xfrm>
            <a:off x="9406661" y="3319272"/>
            <a:ext cx="91440" cy="91440"/>
          </a:xfrm>
          <a:prstGeom prst="ellipse">
            <a:avLst/>
          </a:prstGeom>
          <a:solidFill>
            <a:srgbClr val="6B7A99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9571253" y="3227832"/>
            <a:ext cx="1881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50" b="1" dirty="0">
                <a:solidFill>
                  <a:srgbClr val="3B4864"/>
                </a:solidFill>
              </a:rPr>
              <a:t>НЕДОСТАТОЧНО ДАННЫХ</a:t>
            </a:r>
            <a:endParaRPr lang="ru-RU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9269501" y="3593592"/>
            <a:ext cx="21449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Источник не ответил или нет документа</a:t>
            </a:r>
            <a:endParaRPr lang="ru-RU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9269501" y="4123944"/>
            <a:ext cx="21449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rgbClr val="5E6D8C"/>
                </a:solidFill>
              </a:rPr>
              <a:t>Банк получает</a:t>
            </a:r>
            <a:endParaRPr lang="ru-RU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9269501" y="4325112"/>
            <a:ext cx="21449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список недостающего — вместо «да»</a:t>
            </a:r>
            <a:endParaRPr lang="ru-RU" sz="1200" dirty="0"/>
          </a:p>
        </p:txBody>
      </p:sp>
      <p:sp>
        <p:nvSpPr>
          <p:cNvPr id="43" name="Карточка"/>
          <p:cNvSpPr/>
          <p:nvPr/>
        </p:nvSpPr>
        <p:spPr>
          <a:xfrm>
            <a:off x="548640" y="5212080"/>
            <a:ext cx="2602154" cy="932688"/>
          </a:xfrm>
          <a:prstGeom prst="roundRect">
            <a:avLst>
              <a:gd name="adj" fmla="val 11765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749808" y="53035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700" b="1" dirty="0">
                <a:solidFill>
                  <a:schemeClr val="accent1"/>
                </a:solidFill>
              </a:rPr>
              <a:t>01</a:t>
            </a:r>
            <a:endParaRPr lang="ru-RU" sz="1700" dirty="0"/>
          </a:p>
        </p:txBody>
      </p:sp>
      <p:sp>
        <p:nvSpPr>
          <p:cNvPr id="45" name="Text 39"/>
          <p:cNvSpPr txBox="1"/>
          <p:nvPr/>
        </p:nvSpPr>
        <p:spPr>
          <a:xfrm>
            <a:off x="1207008" y="5303520"/>
            <a:ext cx="1779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Принять</a:t>
            </a:r>
            <a:endParaRPr lang="ru-RU" sz="1400" dirty="0"/>
          </a:p>
        </p:txBody>
      </p:sp>
      <p:sp>
        <p:nvSpPr>
          <p:cNvPr id="46" name="Text 40"/>
          <p:cNvSpPr txBox="1"/>
          <p:nvPr/>
        </p:nvSpPr>
        <p:spPr>
          <a:xfrm>
            <a:off x="749808" y="565099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МЧД XML, ЕГРЮЛ, устав, бумажная доверенность</a:t>
            </a:r>
            <a:endParaRPr lang="ru-RU" sz="1200" dirty="0"/>
          </a:p>
        </p:txBody>
      </p:sp>
      <p:sp>
        <p:nvSpPr>
          <p:cNvPr id="47" name="Стрелка"/>
          <p:cNvSpPr/>
          <p:nvPr/>
        </p:nvSpPr>
        <p:spPr>
          <a:xfrm>
            <a:off x="3178226" y="5678424"/>
            <a:ext cx="17373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48" name="Карточка"/>
          <p:cNvSpPr/>
          <p:nvPr/>
        </p:nvSpPr>
        <p:spPr>
          <a:xfrm>
            <a:off x="3379394" y="5212080"/>
            <a:ext cx="2602154" cy="932688"/>
          </a:xfrm>
          <a:prstGeom prst="roundRect">
            <a:avLst>
              <a:gd name="adj" fmla="val 11765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3580562" y="53035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700" b="1" dirty="0">
                <a:solidFill>
                  <a:schemeClr val="accent1"/>
                </a:solidFill>
              </a:rPr>
              <a:t>02</a:t>
            </a:r>
            <a:endParaRPr lang="ru-RU" sz="1700" dirty="0"/>
          </a:p>
        </p:txBody>
      </p:sp>
      <p:sp>
        <p:nvSpPr>
          <p:cNvPr id="50" name="Text 44"/>
          <p:cNvSpPr txBox="1"/>
          <p:nvPr/>
        </p:nvSpPr>
        <p:spPr>
          <a:xfrm>
            <a:off x="4037762" y="5303520"/>
            <a:ext cx="1779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Проверить</a:t>
            </a:r>
            <a:endParaRPr lang="ru-RU" sz="1400" dirty="0"/>
          </a:p>
        </p:txBody>
      </p:sp>
      <p:sp>
        <p:nvSpPr>
          <p:cNvPr id="51" name="Text 45"/>
          <p:cNvSpPr txBox="1"/>
          <p:nvPr/>
        </p:nvSpPr>
        <p:spPr>
          <a:xfrm>
            <a:off x="3580562" y="565099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граф полномочий на дату, 39 правил с нормой</a:t>
            </a:r>
            <a:endParaRPr lang="ru-RU" sz="1200" dirty="0"/>
          </a:p>
        </p:txBody>
      </p:sp>
      <p:sp>
        <p:nvSpPr>
          <p:cNvPr id="52" name="Стрелка"/>
          <p:cNvSpPr/>
          <p:nvPr/>
        </p:nvSpPr>
        <p:spPr>
          <a:xfrm>
            <a:off x="6008980" y="5678424"/>
            <a:ext cx="17373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53" name="Карточка"/>
          <p:cNvSpPr/>
          <p:nvPr/>
        </p:nvSpPr>
        <p:spPr>
          <a:xfrm>
            <a:off x="6210148" y="5212080"/>
            <a:ext cx="2602154" cy="932688"/>
          </a:xfrm>
          <a:prstGeom prst="roundRect">
            <a:avLst>
              <a:gd name="adj" fmla="val 11765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6411316" y="53035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700" b="1" dirty="0">
                <a:solidFill>
                  <a:schemeClr val="accent1"/>
                </a:solidFill>
              </a:rPr>
              <a:t>03</a:t>
            </a:r>
            <a:endParaRPr lang="ru-RU" sz="1700" dirty="0"/>
          </a:p>
        </p:txBody>
      </p:sp>
      <p:sp>
        <p:nvSpPr>
          <p:cNvPr id="55" name="Text 49"/>
          <p:cNvSpPr txBox="1"/>
          <p:nvPr/>
        </p:nvSpPr>
        <p:spPr>
          <a:xfrm>
            <a:off x="6868516" y="5303520"/>
            <a:ext cx="1779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Решить</a:t>
            </a:r>
            <a:endParaRPr lang="ru-RU" sz="1400" dirty="0"/>
          </a:p>
        </p:txBody>
      </p:sp>
      <p:sp>
        <p:nvSpPr>
          <p:cNvPr id="56" name="Text 50"/>
          <p:cNvSpPr txBox="1"/>
          <p:nvPr/>
        </p:nvSpPr>
        <p:spPr>
          <a:xfrm>
            <a:off x="6411316" y="565099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вердикт, доказательства, следующий шаг</a:t>
            </a:r>
            <a:endParaRPr lang="ru-RU" sz="1200" dirty="0"/>
          </a:p>
        </p:txBody>
      </p:sp>
      <p:sp>
        <p:nvSpPr>
          <p:cNvPr id="57" name="Стрелка"/>
          <p:cNvSpPr/>
          <p:nvPr/>
        </p:nvSpPr>
        <p:spPr>
          <a:xfrm>
            <a:off x="8839733" y="5678424"/>
            <a:ext cx="17373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58" name="Карточка"/>
          <p:cNvSpPr/>
          <p:nvPr/>
        </p:nvSpPr>
        <p:spPr>
          <a:xfrm>
            <a:off x="9040901" y="5212080"/>
            <a:ext cx="2602154" cy="932688"/>
          </a:xfrm>
          <a:prstGeom prst="roundRect">
            <a:avLst>
              <a:gd name="adj" fmla="val 11765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9242069" y="53035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700" b="1" dirty="0">
                <a:solidFill>
                  <a:schemeClr val="accent1"/>
                </a:solidFill>
              </a:rPr>
              <a:t>04</a:t>
            </a:r>
            <a:endParaRPr lang="ru-RU" sz="1700" dirty="0"/>
          </a:p>
        </p:txBody>
      </p:sp>
      <p:sp>
        <p:nvSpPr>
          <p:cNvPr id="60" name="Text 54"/>
          <p:cNvSpPr txBox="1"/>
          <p:nvPr/>
        </p:nvSpPr>
        <p:spPr>
          <a:xfrm>
            <a:off x="9699269" y="5303520"/>
            <a:ext cx="1779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Следить</a:t>
            </a:r>
            <a:endParaRPr lang="ru-RU" sz="1400" dirty="0"/>
          </a:p>
        </p:txBody>
      </p:sp>
      <p:sp>
        <p:nvSpPr>
          <p:cNvPr id="61" name="Text 55"/>
          <p:cNvSpPr txBox="1"/>
          <p:nvPr/>
        </p:nvSpPr>
        <p:spPr>
          <a:xfrm>
            <a:off x="9242069" y="565099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события ЕГРЮЛ и реестра МЧД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ДОКАЗАТЕЛЬНОСТЬ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Каждый вердикт доказан: поле МЧД, запись ЕГРЮЛ, норма закона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Демо‑кейсы 14, 05 и 11 (mandat demo); данные демо вымышлены, отметка юриста об уставе в кейсе 14 синтетическая. Источники — реестр МЧД, ЕГРЮЛ, КЭП — подключаются через порты; отчёт называет источник каждого факта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681228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01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rgbClr val="5E6D8C"/>
                </a:solidFill>
              </a:rPr>
              <a:t>Кейс 14 · синтетическая отметка юриста об уставе</a:t>
            </a:r>
            <a:endParaRPr lang="ru-RU" sz="1100" dirty="0"/>
          </a:p>
        </p:txBody>
      </p:sp>
      <p:sp>
        <p:nvSpPr>
          <p:cNvPr id="7" name="Вердикт: ПОДТВЕРЖДЕНО"/>
          <p:cNvSpPr/>
          <p:nvPr/>
        </p:nvSpPr>
        <p:spPr>
          <a:xfrm>
            <a:off x="5393131" y="1773936"/>
            <a:ext cx="1693469" cy="292608"/>
          </a:xfrm>
          <a:prstGeom prst="roundRect">
            <a:avLst>
              <a:gd name="adj" fmla="val 50000"/>
            </a:avLst>
          </a:prstGeom>
          <a:solidFill>
            <a:srgbClr val="E2F4EB"/>
          </a:solidFill>
          <a:ln/>
        </p:spPr>
      </p:sp>
      <p:sp>
        <p:nvSpPr>
          <p:cNvPr id="8" name="Метка статуса"/>
          <p:cNvSpPr/>
          <p:nvPr/>
        </p:nvSpPr>
        <p:spPr>
          <a:xfrm>
            <a:off x="5530291" y="1874520"/>
            <a:ext cx="91440" cy="91440"/>
          </a:xfrm>
          <a:prstGeom prst="ellipse">
            <a:avLst/>
          </a:prstGeom>
          <a:solidFill>
            <a:srgbClr val="1A9F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94883" y="1773936"/>
            <a:ext cx="13277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>
                <a:solidFill>
                  <a:srgbClr val="0B6B44"/>
                </a:solidFill>
              </a:rPr>
              <a:t>ПОДТВЕРЖДЕНО</a:t>
            </a:r>
            <a:endParaRPr lang="ru-RU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139696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tx2"/>
                </a:solidFill>
              </a:rPr>
              <a:t>Платёжное поручение на 480 000 ₽ · 20.10.2026</a:t>
            </a:r>
            <a:endParaRPr lang="ru-RU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688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42557A"/>
                </a:solidFill>
              </a:rPr>
              <a:t>Представитель Лебедева И. П. по МЧД от директора Петрова П. П.</a:t>
            </a:r>
            <a:endParaRPr lang="ru-RU" sz="1200" dirty="0"/>
          </a:p>
        </p:txBody>
      </p:sp>
      <p:sp>
        <p:nvSpPr>
          <p:cNvPr id="12" name="Разделитель"/>
          <p:cNvSpPr/>
          <p:nvPr/>
        </p:nvSpPr>
        <p:spPr>
          <a:xfrm>
            <a:off x="822960" y="2852928"/>
            <a:ext cx="626364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</p:sp>
      <p:sp>
        <p:nvSpPr>
          <p:cNvPr id="13" name="Круг значка"/>
          <p:cNvSpPr/>
          <p:nvPr/>
        </p:nvSpPr>
        <p:spPr>
          <a:xfrm>
            <a:off x="822960" y="2999232"/>
            <a:ext cx="365760" cy="365760"/>
          </a:xfrm>
          <a:prstGeom prst="ellipse">
            <a:avLst/>
          </a:prstGeom>
          <a:solidFill>
            <a:srgbClr val="1A9F68"/>
          </a:solidFill>
          <a:ln/>
        </p:spPr>
      </p:sp>
      <p:pic>
        <p:nvPicPr>
          <p:cNvPr id="1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3079699"/>
            <a:ext cx="204826" cy="20482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53312" y="292608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МЧД подписал директор по ЕГРЮЛ на дату выдачи</a:t>
            </a:r>
            <a:endParaRPr lang="ru-RU" sz="1300" dirty="0"/>
          </a:p>
        </p:txBody>
      </p:sp>
      <p:sp>
        <p:nvSpPr>
          <p:cNvPr id="16" name="Ссылка на доказательство"/>
          <p:cNvSpPr/>
          <p:nvPr/>
        </p:nvSpPr>
        <p:spPr>
          <a:xfrm>
            <a:off x="4956048" y="3017520"/>
            <a:ext cx="2130552" cy="347472"/>
          </a:xfrm>
          <a:prstGeom prst="roundRect">
            <a:avLst>
              <a:gd name="adj" fmla="val 21053"/>
            </a:avLst>
          </a:prstGeom>
          <a:solidFill>
            <a:srgbClr val="E6F0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47488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>
                <a:solidFill>
                  <a:schemeClr val="accent1"/>
                </a:solidFill>
              </a:rPr>
              <a:t>ЕГРЮЛ · ГРН 2247700123456</a:t>
            </a:r>
            <a:endParaRPr lang="ru-RU" sz="1000" dirty="0"/>
          </a:p>
        </p:txBody>
      </p:sp>
      <p:sp>
        <p:nvSpPr>
          <p:cNvPr id="18" name="Разделитель"/>
          <p:cNvSpPr/>
          <p:nvPr/>
        </p:nvSpPr>
        <p:spPr>
          <a:xfrm>
            <a:off x="822960" y="3493008"/>
            <a:ext cx="626364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</p:sp>
      <p:sp>
        <p:nvSpPr>
          <p:cNvPr id="19" name="Круг значка"/>
          <p:cNvSpPr/>
          <p:nvPr/>
        </p:nvSpPr>
        <p:spPr>
          <a:xfrm>
            <a:off x="822960" y="3639312"/>
            <a:ext cx="365760" cy="365760"/>
          </a:xfrm>
          <a:prstGeom prst="ellipse">
            <a:avLst/>
          </a:prstGeom>
          <a:solidFill>
            <a:srgbClr val="1A9F68"/>
          </a:solidFill>
          <a:ln/>
        </p:spPr>
      </p:sp>
      <p:pic>
        <p:nvPicPr>
          <p:cNvPr id="20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" y="3719779"/>
            <a:ext cx="204826" cy="20482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353312" y="356616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МЧД действует в реестре, дата операции в сроке</a:t>
            </a:r>
            <a:endParaRPr lang="ru-RU" sz="1300" dirty="0"/>
          </a:p>
        </p:txBody>
      </p:sp>
      <p:sp>
        <p:nvSpPr>
          <p:cNvPr id="22" name="Ссылка на доказательство"/>
          <p:cNvSpPr/>
          <p:nvPr/>
        </p:nvSpPr>
        <p:spPr>
          <a:xfrm>
            <a:off x="4956048" y="3657600"/>
            <a:ext cx="2130552" cy="347472"/>
          </a:xfrm>
          <a:prstGeom prst="roundRect">
            <a:avLst>
              <a:gd name="adj" fmla="val 21053"/>
            </a:avLst>
          </a:prstGeom>
          <a:solidFill>
            <a:srgbClr val="E6F0FF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047488" y="3657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>
                <a:solidFill>
                  <a:schemeClr val="accent1"/>
                </a:solidFill>
              </a:rPr>
              <a:t>XPath …/СвДов/@СрокДейст</a:t>
            </a:r>
            <a:endParaRPr lang="ru-RU" sz="1000" dirty="0"/>
          </a:p>
        </p:txBody>
      </p:sp>
      <p:sp>
        <p:nvSpPr>
          <p:cNvPr id="24" name="Разделитель"/>
          <p:cNvSpPr/>
          <p:nvPr/>
        </p:nvSpPr>
        <p:spPr>
          <a:xfrm>
            <a:off x="822960" y="4133088"/>
            <a:ext cx="626364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</p:sp>
      <p:sp>
        <p:nvSpPr>
          <p:cNvPr id="25" name="Круг значка"/>
          <p:cNvSpPr/>
          <p:nvPr/>
        </p:nvSpPr>
        <p:spPr>
          <a:xfrm>
            <a:off x="822960" y="4279392"/>
            <a:ext cx="365760" cy="365760"/>
          </a:xfrm>
          <a:prstGeom prst="ellipse">
            <a:avLst/>
          </a:prstGeom>
          <a:solidFill>
            <a:srgbClr val="1A9F68"/>
          </a:solidFill>
          <a:ln/>
        </p:spPr>
      </p:sp>
      <p:pic>
        <p:nvPicPr>
          <p:cNvPr id="26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4359859"/>
            <a:ext cx="204826" cy="20482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353312" y="420624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Полномочие покрывает подписание платёжных поручений</a:t>
            </a:r>
            <a:endParaRPr lang="ru-RU" sz="1300" dirty="0"/>
          </a:p>
        </p:txBody>
      </p:sp>
      <p:sp>
        <p:nvSpPr>
          <p:cNvPr id="28" name="Ссылка на доказательство"/>
          <p:cNvSpPr/>
          <p:nvPr/>
        </p:nvSpPr>
        <p:spPr>
          <a:xfrm>
            <a:off x="4956048" y="4297680"/>
            <a:ext cx="2130552" cy="347472"/>
          </a:xfrm>
          <a:prstGeom prst="roundRect">
            <a:avLst>
              <a:gd name="adj" fmla="val 21053"/>
            </a:avLst>
          </a:prstGeom>
          <a:solidFill>
            <a:srgbClr val="E6F0FF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5047488" y="4297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>
                <a:solidFill>
                  <a:schemeClr val="accent1"/>
                </a:solidFill>
              </a:rPr>
              <a:t>XPath …/СвПолн/МашПолн[1]</a:t>
            </a:r>
            <a:endParaRPr lang="ru-RU" sz="1000" dirty="0"/>
          </a:p>
        </p:txBody>
      </p:sp>
      <p:sp>
        <p:nvSpPr>
          <p:cNvPr id="30" name="Разделитель"/>
          <p:cNvSpPr/>
          <p:nvPr/>
        </p:nvSpPr>
        <p:spPr>
          <a:xfrm>
            <a:off x="822960" y="4773168"/>
            <a:ext cx="626364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</p:sp>
      <p:sp>
        <p:nvSpPr>
          <p:cNvPr id="31" name="Круг значка"/>
          <p:cNvSpPr/>
          <p:nvPr/>
        </p:nvSpPr>
        <p:spPr>
          <a:xfrm>
            <a:off x="822960" y="4919472"/>
            <a:ext cx="365760" cy="365760"/>
          </a:xfrm>
          <a:prstGeom prst="ellipse">
            <a:avLst/>
          </a:prstGeom>
          <a:solidFill>
            <a:srgbClr val="F5A300"/>
          </a:solidFill>
          <a:ln/>
        </p:spPr>
      </p:sp>
      <p:pic>
        <p:nvPicPr>
          <p:cNvPr id="32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" y="4999939"/>
            <a:ext cx="204826" cy="20482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353312" y="484632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Директор сменился 01.05.2026 — сигнал, а не отказ: МЧД не отменена</a:t>
            </a:r>
            <a:endParaRPr lang="ru-RU" sz="1300" dirty="0"/>
          </a:p>
        </p:txBody>
      </p:sp>
      <p:sp>
        <p:nvSpPr>
          <p:cNvPr id="34" name="Ссылка на доказательство"/>
          <p:cNvSpPr/>
          <p:nvPr/>
        </p:nvSpPr>
        <p:spPr>
          <a:xfrm>
            <a:off x="4956048" y="4937760"/>
            <a:ext cx="2130552" cy="347472"/>
          </a:xfrm>
          <a:prstGeom prst="roundRect">
            <a:avLst>
              <a:gd name="adj" fmla="val 21053"/>
            </a:avLst>
          </a:prstGeom>
          <a:solidFill>
            <a:srgbClr val="E6F0FF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5047488" y="4937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000" b="1" dirty="0">
                <a:solidFill>
                  <a:schemeClr val="accent1"/>
                </a:solidFill>
              </a:rPr>
              <a:t>п. 1 ст. 188 ГК РФ</a:t>
            </a:r>
            <a:endParaRPr lang="ru-RU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822960" y="5522976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5E6D8C"/>
                </a:solidFill>
              </a:rPr>
              <a:t>Хеш набора правил и входов — в отчёте: одинаковые документы дают одинаковый хеш. Решение пишется в журнал.</a:t>
            </a:r>
            <a:endParaRPr lang="ru-RU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7616952" y="1572768"/>
            <a:ext cx="40261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Та же компания — другие факты</a:t>
            </a:r>
            <a:endParaRPr lang="ru-RU" sz="1400" dirty="0"/>
          </a:p>
        </p:txBody>
      </p:sp>
      <p:sp>
        <p:nvSpPr>
          <p:cNvPr id="38" name="Карточка"/>
          <p:cNvSpPr/>
          <p:nvPr/>
        </p:nvSpPr>
        <p:spPr>
          <a:xfrm>
            <a:off x="7616952" y="1984248"/>
            <a:ext cx="4026103" cy="1901952"/>
          </a:xfrm>
          <a:prstGeom prst="roundRect">
            <a:avLst>
              <a:gd name="adj" fmla="val 576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9" name="Text 33"/>
          <p:cNvSpPr txBox="1"/>
          <p:nvPr/>
        </p:nvSpPr>
        <p:spPr>
          <a:xfrm>
            <a:off x="7872984" y="2185416"/>
            <a:ext cx="35140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Директор сменился 19 дней назад</a:t>
            </a:r>
            <a:endParaRPr lang="ru-RU" sz="1400" dirty="0"/>
          </a:p>
        </p:txBody>
      </p:sp>
      <p:sp>
        <p:nvSpPr>
          <p:cNvPr id="40" name="Вердикт: НА РАЗБОР"/>
          <p:cNvSpPr/>
          <p:nvPr/>
        </p:nvSpPr>
        <p:spPr>
          <a:xfrm>
            <a:off x="7872984" y="2752344"/>
            <a:ext cx="1887962" cy="292608"/>
          </a:xfrm>
          <a:prstGeom prst="roundRect">
            <a:avLst>
              <a:gd name="adj" fmla="val 50000"/>
            </a:avLst>
          </a:prstGeom>
          <a:solidFill>
            <a:srgbClr val="FFF1D4"/>
          </a:solidFill>
          <a:ln/>
        </p:spPr>
      </p:sp>
      <p:sp>
        <p:nvSpPr>
          <p:cNvPr id="41" name="Метка статуса"/>
          <p:cNvSpPr/>
          <p:nvPr/>
        </p:nvSpPr>
        <p:spPr>
          <a:xfrm>
            <a:off x="8010144" y="2852928"/>
            <a:ext cx="91440" cy="91440"/>
          </a:xfrm>
          <a:prstGeom prst="ellipse">
            <a:avLst/>
          </a:prstGeom>
          <a:solidFill>
            <a:srgbClr val="F5A300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8174736" y="2752344"/>
            <a:ext cx="1522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50" b="1" dirty="0">
                <a:solidFill>
                  <a:srgbClr val="7A4E00"/>
                </a:solidFill>
              </a:rPr>
              <a:t>НА РАЗБОР · P1 · 4 Ч</a:t>
            </a:r>
            <a:endParaRPr lang="ru-RU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7872984" y="3154680"/>
            <a:ext cx="35140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Свежая смена — первый шаг возможного захвата: уточнить у нового директора, при признаках — в антифрод</a:t>
            </a:r>
            <a:endParaRPr lang="ru-RU" sz="1200" dirty="0"/>
          </a:p>
        </p:txBody>
      </p:sp>
      <p:sp>
        <p:nvSpPr>
          <p:cNvPr id="44" name="Карточка"/>
          <p:cNvSpPr/>
          <p:nvPr/>
        </p:nvSpPr>
        <p:spPr>
          <a:xfrm>
            <a:off x="7616952" y="4059936"/>
            <a:ext cx="4026103" cy="1901952"/>
          </a:xfrm>
          <a:prstGeom prst="roundRect">
            <a:avLst>
              <a:gd name="adj" fmla="val 576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45" name="Text 39"/>
          <p:cNvSpPr txBox="1"/>
          <p:nvPr/>
        </p:nvSpPr>
        <p:spPr>
          <a:xfrm>
            <a:off x="7872984" y="4261104"/>
            <a:ext cx="35140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Основную МЧД отменили, осталось передоверие</a:t>
            </a:r>
            <a:endParaRPr lang="ru-RU" sz="1400" dirty="0"/>
          </a:p>
        </p:txBody>
      </p:sp>
      <p:sp>
        <p:nvSpPr>
          <p:cNvPr id="46" name="Вердикт: ОПРОВЕРГНУТО"/>
          <p:cNvSpPr/>
          <p:nvPr/>
        </p:nvSpPr>
        <p:spPr>
          <a:xfrm>
            <a:off x="7872984" y="4828032"/>
            <a:ext cx="1632570" cy="292608"/>
          </a:xfrm>
          <a:prstGeom prst="roundRect">
            <a:avLst>
              <a:gd name="adj" fmla="val 50000"/>
            </a:avLst>
          </a:prstGeom>
          <a:solidFill>
            <a:srgbClr val="FDE6E7"/>
          </a:solidFill>
          <a:ln/>
        </p:spPr>
      </p:sp>
      <p:sp>
        <p:nvSpPr>
          <p:cNvPr id="47" name="Метка статуса"/>
          <p:cNvSpPr/>
          <p:nvPr/>
        </p:nvSpPr>
        <p:spPr>
          <a:xfrm>
            <a:off x="8010144" y="4928616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8174736" y="4828032"/>
            <a:ext cx="1266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50" b="1" dirty="0">
                <a:solidFill>
                  <a:srgbClr val="A3161B"/>
                </a:solidFill>
              </a:rPr>
              <a:t>ОПРОВЕРГНУТО</a:t>
            </a:r>
            <a:endParaRPr lang="ru-RU" sz="950" dirty="0"/>
          </a:p>
        </p:txBody>
      </p:sp>
      <p:sp>
        <p:nvSpPr>
          <p:cNvPr id="49" name="Text 43"/>
          <p:cNvSpPr txBox="1"/>
          <p:nvPr/>
        </p:nvSpPr>
        <p:spPr>
          <a:xfrm>
            <a:off x="7872984" y="5230368"/>
            <a:ext cx="35140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С прекращением доверенности теряет силу и передоверие — п. 3 ст. 188 ГК РФ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ПРОДУКТ СЕГОДНЯ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Работает сегодня: 14 демо‑кейсов, удостоверения и журнал — одной командой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Скриншот и вывод — настоящие, сняты с ./run-demo.sh при сборке колоды (capture_demo.js); «…» — пропущенные строки. Сценарий показа — docs/DEMO.md. v0.3.0, evidence.json от 28.10.2026</a:t>
            </a:r>
            <a:endParaRPr lang="ru-RU" sz="1000" dirty="0"/>
          </a:p>
        </p:txBody>
      </p:sp>
      <p:sp>
        <p:nvSpPr>
          <p:cNvPr id="5" name="Окно браузера"/>
          <p:cNvSpPr/>
          <p:nvPr/>
        </p:nvSpPr>
        <p:spPr>
          <a:xfrm>
            <a:off x="548640" y="1572768"/>
            <a:ext cx="5760720" cy="4282015"/>
          </a:xfrm>
          <a:prstGeom prst="roundRect">
            <a:avLst>
              <a:gd name="adj" fmla="val 2135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Панель браузера"/>
          <p:cNvSpPr/>
          <p:nvPr/>
        </p:nvSpPr>
        <p:spPr>
          <a:xfrm>
            <a:off x="566928" y="1591056"/>
            <a:ext cx="5724144" cy="292608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7" name="Кнопка окна"/>
          <p:cNvSpPr/>
          <p:nvPr/>
        </p:nvSpPr>
        <p:spPr>
          <a:xfrm>
            <a:off x="694944" y="1673352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Кнопка окна"/>
          <p:cNvSpPr/>
          <p:nvPr/>
        </p:nvSpPr>
        <p:spPr>
          <a:xfrm>
            <a:off x="859536" y="1673352"/>
            <a:ext cx="109728" cy="109728"/>
          </a:xfrm>
          <a:prstGeom prst="ellipse">
            <a:avLst/>
          </a:prstGeom>
          <a:solidFill>
            <a:srgbClr val="FFC35A"/>
          </a:solidFill>
          <a:ln/>
        </p:spPr>
      </p:sp>
      <p:sp>
        <p:nvSpPr>
          <p:cNvPr id="9" name="Кнопка окна"/>
          <p:cNvSpPr/>
          <p:nvPr/>
        </p:nvSpPr>
        <p:spPr>
          <a:xfrm>
            <a:off x="1024128" y="1673352"/>
            <a:ext cx="109728" cy="109728"/>
          </a:xfrm>
          <a:prstGeom prst="ellipse">
            <a:avLst/>
          </a:prstGeom>
          <a:solidFill>
            <a:srgbClr val="5FD39A"/>
          </a:solidFill>
          <a:ln/>
        </p:spPr>
      </p:sp>
      <p:sp>
        <p:nvSpPr>
          <p:cNvPr id="10" name="Адресная строка"/>
          <p:cNvSpPr/>
          <p:nvPr/>
        </p:nvSpPr>
        <p:spPr>
          <a:xfrm>
            <a:off x="1280160" y="1627632"/>
            <a:ext cx="48463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89888" y="162763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00" dirty="0">
                <a:solidFill>
                  <a:srgbClr val="42557A"/>
                </a:solidFill>
              </a:rPr>
              <a:t>var/demo/14_old_director_charter_cleared.html</a:t>
            </a:r>
            <a:endParaRPr lang="ru-RU" sz="900" dirty="0"/>
          </a:p>
        </p:txBody>
      </p:sp>
      <p:pic>
        <p:nvPicPr>
          <p:cNvPr id="12" name="Image 0" descr="Скриншот карточки вердикта демо-кейса 14: «ПОДТВЕРЖДЕНО», сильнейшее возражение — смена руководителя с нормой п. 1 ст. 188 ГК РФ, операция на 480 000 ₽ 20.10.2026, организация и сигнал мониторинг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920240"/>
            <a:ext cx="5650992" cy="3879679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5946223"/>
            <a:ext cx="5760720" cy="19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42557A"/>
                </a:solidFill>
              </a:rPr>
              <a:t>Карточка сотрудника: вердикт, сильнейшее возражение с нормой, операция и сигнал мониторинга — без ручной сводки</a:t>
            </a:r>
            <a:endParaRPr lang="ru-RU" sz="1150" dirty="0"/>
          </a:p>
        </p:txBody>
      </p:sp>
      <p:pic>
        <p:nvPicPr>
          <p:cNvPr id="14" name="Image 1" descr="Вывод терминала: mandat demo — 14 кейсов совпали с ожиданием, журнал цел; удостоверение действует; после событий захвата — тревога possible_takeover и статус «приостановлено», код 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5105095" cy="3233227"/>
          </a:xfrm>
          <a:prstGeom prst="rect">
            <a:avLst/>
          </a:prstGeom>
        </p:spPr>
      </p:pic>
      <p:sp>
        <p:nvSpPr>
          <p:cNvPr id="15" name="Карточка"/>
          <p:cNvSpPr/>
          <p:nvPr/>
        </p:nvSpPr>
        <p:spPr>
          <a:xfrm>
            <a:off x="6537960" y="4988875"/>
            <a:ext cx="5105095" cy="1155893"/>
          </a:xfrm>
          <a:prstGeom prst="roundRect">
            <a:avLst>
              <a:gd name="adj" fmla="val 949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766560" y="5116891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b="1" dirty="0">
                <a:solidFill>
                  <a:schemeClr val="tx2"/>
                </a:solidFill>
              </a:rPr>
              <a:t>Демо в 4 шага</a:t>
            </a:r>
            <a:endParaRPr lang="ru-RU" sz="1300" dirty="0"/>
          </a:p>
        </p:txBody>
      </p:sp>
      <p:sp>
        <p:nvSpPr>
          <p:cNvPr id="17" name="Шаги демо"/>
          <p:cNvSpPr txBox="1"/>
          <p:nvPr/>
        </p:nvSpPr>
        <p:spPr>
          <a:xfrm>
            <a:off x="6766560" y="5409499"/>
            <a:ext cx="4693615" cy="698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ru-RU" sz="1150" dirty="0">
                <a:solidFill>
                  <a:schemeClr val="tx1"/>
                </a:solidFill>
              </a:rPr>
              <a:t>01_ok: устав не разобран — на разбор</a:t>
            </a:r>
            <a:endParaRPr lang="ru-RU" sz="11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ru-RU" sz="1150" dirty="0">
                <a:solidFill>
                  <a:schemeClr val="tx1"/>
                </a:solidFill>
              </a:rPr>
              <a:t>10 и 05: давняя смена — сигнал, свежая — разбор</a:t>
            </a:r>
            <a:endParaRPr lang="ru-RU" sz="11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ru-RU" sz="1150" dirty="0">
                <a:solidFill>
                  <a:schemeClr val="tx1"/>
                </a:solidFill>
              </a:rPr>
              <a:t>отмена МЧД — «отозвано», захват — «приостановлено»</a:t>
            </a:r>
            <a:endParaRPr lang="ru-RU" sz="11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ru-RU" sz="1150" dirty="0">
                <a:solidFill>
                  <a:schemeClr val="tx1"/>
                </a:solidFill>
              </a:rPr>
              <a:t>журнал: доказательство одной записи</a:t>
            </a:r>
            <a:endParaRPr lang="ru-RU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НЕПРЕРЫВНЫЙ КОНТРОЛЬ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После выдачи прав «Мандат» продолжает следить: признаки захвата видны до платежа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Сценарии examples/events/takeover.json и poa_revoked.json; команды mandat monitor и mandat attest-verify; статусы — W3C Bitstring Status List v1.0; события — Standard Webhooks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598932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Плитка значка"/>
          <p:cNvSpPr/>
          <p:nvPr/>
        </p:nvSpPr>
        <p:spPr>
          <a:xfrm>
            <a:off x="822960" y="1801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7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019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8013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Демо: три события за 2 ч 55 мин</a:t>
            </a:r>
            <a:endParaRPr lang="ru-RU" sz="1500" dirty="0"/>
          </a:p>
        </p:txBody>
      </p:sp>
      <p:sp>
        <p:nvSpPr>
          <p:cNvPr id="9" name="Линия"/>
          <p:cNvSpPr/>
          <p:nvPr/>
        </p:nvSpPr>
        <p:spPr>
          <a:xfrm>
            <a:off x="1207008" y="2487168"/>
            <a:ext cx="0" cy="1005840"/>
          </a:xfrm>
          <a:prstGeom prst="line">
            <a:avLst/>
          </a:prstGeom>
          <a:noFill/>
          <a:ln w="25400">
            <a:solidFill>
              <a:srgbClr val="C9DCFA"/>
            </a:solidFill>
            <a:prstDash val="solid"/>
          </a:ln>
        </p:spPr>
      </p:sp>
      <p:sp>
        <p:nvSpPr>
          <p:cNvPr id="10" name="Время события"/>
          <p:cNvSpPr/>
          <p:nvPr/>
        </p:nvSpPr>
        <p:spPr>
          <a:xfrm>
            <a:off x="822960" y="2377440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0A297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377440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bg1"/>
                </a:solidFill>
              </a:rPr>
              <a:t>09:10</a:t>
            </a:r>
            <a:endParaRPr lang="ru-RU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23591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chemeClr val="tx1"/>
                </a:solidFill>
              </a:rPr>
              <a:t>в ЕГРЮЛ — новый директор</a:t>
            </a:r>
            <a:endParaRPr lang="ru-RU" sz="1350" dirty="0"/>
          </a:p>
        </p:txBody>
      </p:sp>
      <p:sp>
        <p:nvSpPr>
          <p:cNvPr id="13" name="Время события"/>
          <p:cNvSpPr/>
          <p:nvPr/>
        </p:nvSpPr>
        <p:spPr>
          <a:xfrm>
            <a:off x="822960" y="2880360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0A297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2880360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bg1"/>
                </a:solidFill>
              </a:rPr>
              <a:t>11:40</a:t>
            </a:r>
            <a:endParaRPr lang="ru-RU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783080" y="28620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chemeClr val="tx1"/>
                </a:solidFill>
              </a:rPr>
              <a:t>новая МЧД на нового представителя</a:t>
            </a:r>
            <a:endParaRPr lang="ru-RU" sz="1350" dirty="0"/>
          </a:p>
        </p:txBody>
      </p:sp>
      <p:sp>
        <p:nvSpPr>
          <p:cNvPr id="16" name="Время события"/>
          <p:cNvSpPr/>
          <p:nvPr/>
        </p:nvSpPr>
        <p:spPr>
          <a:xfrm>
            <a:off x="822960" y="3383280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0A297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3383280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bg1"/>
                </a:solidFill>
              </a:rPr>
              <a:t>12:05</a:t>
            </a:r>
            <a:endParaRPr lang="ru-RU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783080" y="33649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chemeClr val="tx1"/>
                </a:solidFill>
              </a:rPr>
              <a:t>заявка на смену контактного телефона</a:t>
            </a:r>
            <a:endParaRPr lang="ru-RU" sz="1350" dirty="0"/>
          </a:p>
        </p:txBody>
      </p:sp>
      <p:sp>
        <p:nvSpPr>
          <p:cNvPr id="19" name="Карточка"/>
          <p:cNvSpPr/>
          <p:nvPr/>
        </p:nvSpPr>
        <p:spPr>
          <a:xfrm>
            <a:off x="822960" y="3904488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DE6E7"/>
          </a:solidFill>
          <a:ln w="9525">
            <a:solidFill>
              <a:srgbClr val="F6B9BC"/>
            </a:solidFill>
            <a:prstDash val="solid"/>
          </a:ln>
        </p:spPr>
      </p:sp>
      <p:sp>
        <p:nvSpPr>
          <p:cNvPr id="20" name="Круг значка"/>
          <p:cNvSpPr/>
          <p:nvPr/>
        </p:nvSpPr>
        <p:spPr>
          <a:xfrm>
            <a:off x="1005840" y="4087368"/>
            <a:ext cx="384048" cy="384048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1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31" y="4171859"/>
            <a:ext cx="215067" cy="21506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536192" y="40873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rgbClr val="A3161B"/>
                </a:solidFill>
              </a:rPr>
              <a:t>Тревога «возможный захват» · высокий риск</a:t>
            </a:r>
            <a:endParaRPr lang="ru-RU" sz="1400" dirty="0"/>
          </a:p>
        </p:txBody>
      </p:sp>
      <p:sp>
        <p:nvSpPr>
          <p:cNvPr id="23" name="Список"/>
          <p:cNvSpPr txBox="1"/>
          <p:nvPr/>
        </p:nvSpPr>
        <p:spPr>
          <a:xfrm>
            <a:off x="1051560" y="4617720"/>
            <a:ext cx="4983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банку — рекомендация приостановить автоматическую выдачу прав по компании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передать кейс в антифрод и уведомить прежних подписантов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удостоверения компании — в статус «приостановлено»</a:t>
            </a:r>
            <a:endParaRPr lang="ru-RU" sz="1250" dirty="0"/>
          </a:p>
        </p:txBody>
      </p:sp>
      <p:sp>
        <p:nvSpPr>
          <p:cNvPr id="24" name="Карточка"/>
          <p:cNvSpPr/>
          <p:nvPr/>
        </p:nvSpPr>
        <p:spPr>
          <a:xfrm>
            <a:off x="6766560" y="1572768"/>
            <a:ext cx="4876495" cy="1414272"/>
          </a:xfrm>
          <a:prstGeom prst="roundRect">
            <a:avLst>
              <a:gd name="adj" fmla="val 775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5" name="Плитка значка"/>
          <p:cNvSpPr/>
          <p:nvPr/>
        </p:nvSpPr>
        <p:spPr>
          <a:xfrm>
            <a:off x="6995160" y="17739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6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697" y="1866473"/>
            <a:ext cx="235549" cy="235549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543800" y="1773936"/>
            <a:ext cx="39163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Отменили основную МЧД</a:t>
            </a:r>
            <a:endParaRPr lang="ru-RU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6995160" y="2286000"/>
            <a:ext cx="4419295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удостоверения по всей цепочке передоверия — «отозвано»; банку — рекомендация приостановить права (п. 3 ст. 188 ГК РФ)</a:t>
            </a:r>
            <a:endParaRPr lang="ru-RU" sz="1200" dirty="0"/>
          </a:p>
        </p:txBody>
      </p:sp>
      <p:sp>
        <p:nvSpPr>
          <p:cNvPr id="29" name="Карточка"/>
          <p:cNvSpPr/>
          <p:nvPr/>
        </p:nvSpPr>
        <p:spPr>
          <a:xfrm>
            <a:off x="6766560" y="3151632"/>
            <a:ext cx="4876495" cy="1414272"/>
          </a:xfrm>
          <a:prstGeom prst="roundRect">
            <a:avLst>
              <a:gd name="adj" fmla="val 775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0" name="Плитка значка"/>
          <p:cNvSpPr/>
          <p:nvPr/>
        </p:nvSpPr>
        <p:spPr>
          <a:xfrm>
            <a:off x="6995160" y="335280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1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697" y="3445337"/>
            <a:ext cx="235549" cy="235549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543800" y="3352800"/>
            <a:ext cx="39163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Сменился руководитель</a:t>
            </a:r>
            <a:endParaRPr lang="ru-RU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6995160" y="3864864"/>
            <a:ext cx="4419295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его собственные удостоверения без МЧД — «отозвано»; права по МЧД остаются: смена директора их не прекращает</a:t>
            </a:r>
            <a:endParaRPr lang="ru-RU" sz="1200" dirty="0"/>
          </a:p>
        </p:txBody>
      </p:sp>
      <p:sp>
        <p:nvSpPr>
          <p:cNvPr id="34" name="Карточка"/>
          <p:cNvSpPr/>
          <p:nvPr/>
        </p:nvSpPr>
        <p:spPr>
          <a:xfrm>
            <a:off x="6766560" y="4730496"/>
            <a:ext cx="4876495" cy="1414272"/>
          </a:xfrm>
          <a:prstGeom prst="roundRect">
            <a:avLst>
              <a:gd name="adj" fmla="val 775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5" name="Плитка значка"/>
          <p:cNvSpPr/>
          <p:nvPr/>
        </p:nvSpPr>
        <p:spPr>
          <a:xfrm>
            <a:off x="6995160" y="4931664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6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697" y="5024201"/>
            <a:ext cx="235549" cy="235549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543800" y="4931664"/>
            <a:ext cx="39163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Проверка без доступа к базе</a:t>
            </a:r>
            <a:endParaRPr lang="ru-RU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6995160" y="5443728"/>
            <a:ext cx="4419295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интернет-банк и антифрод сами видят статус удостоверения; права в ДБО меняет банк, а не «Мандат»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КАЧЕСТВО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Ноль ложных «подтверждено» на 288 кейсах, где подтверждать нельзя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Корпус: 294 сгенерированных кейса, 49 видов ситуаций по нормам ГК РФ и формату МЧД. Воспроизводится: mandat eval --per-defect 6; pytest tests/test_properties.py tests/test_cedar.py tests/test_redteam_fuzz.py; python scripts/bench.py → evidence.json от 28.10.2026, v0.3.0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489204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15727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200" b="1" dirty="0">
                <a:solidFill>
                  <a:srgbClr val="0B6B44"/>
                </a:solidFill>
              </a:rPr>
              <a:t>0 из 288</a:t>
            </a:r>
            <a:endParaRPr lang="ru-RU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5727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chemeClr val="tx1"/>
                </a:solidFill>
              </a:rPr>
              <a:t>ложных «подтверждено»; верхняя граница 95% — 1,3%</a:t>
            </a:r>
            <a:endParaRPr lang="ru-RU" sz="1150" dirty="0"/>
          </a:p>
        </p:txBody>
      </p:sp>
      <p:sp>
        <p:nvSpPr>
          <p:cNvPr id="8" name="Карточка"/>
          <p:cNvSpPr/>
          <p:nvPr/>
        </p:nvSpPr>
        <p:spPr>
          <a:xfrm>
            <a:off x="548640" y="2322576"/>
            <a:ext cx="489204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9808" y="232257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200" b="1" dirty="0">
                <a:solidFill>
                  <a:schemeClr val="accent1"/>
                </a:solidFill>
              </a:rPr>
              <a:t>294 / 294</a:t>
            </a:r>
            <a:endParaRPr lang="ru-RU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32257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chemeClr val="tx1"/>
                </a:solidFill>
              </a:rPr>
              <a:t>совпадение с ожидаемым вердиктом, 49 видов ситуаций; на отложенном seed — 0 расхождений</a:t>
            </a:r>
            <a:endParaRPr lang="ru-RU" sz="1150" dirty="0"/>
          </a:p>
        </p:txBody>
      </p:sp>
      <p:sp>
        <p:nvSpPr>
          <p:cNvPr id="11" name="Карточка"/>
          <p:cNvSpPr/>
          <p:nvPr/>
        </p:nvSpPr>
        <p:spPr>
          <a:xfrm>
            <a:off x="548640" y="3072384"/>
            <a:ext cx="489204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30723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200" b="1" dirty="0">
                <a:solidFill>
                  <a:schemeClr val="accent1"/>
                </a:solidFill>
              </a:rPr>
              <a:t>8 814</a:t>
            </a:r>
            <a:endParaRPr lang="ru-RU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07238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chemeClr val="tx1"/>
                </a:solidFill>
              </a:rPr>
              <a:t>мутаций сценариев: ни одного ложного «подтверждено» и ни одного падения</a:t>
            </a:r>
            <a:endParaRPr lang="ru-RU" sz="1150" dirty="0"/>
          </a:p>
        </p:txBody>
      </p:sp>
      <p:sp>
        <p:nvSpPr>
          <p:cNvPr id="14" name="Карточка"/>
          <p:cNvSpPr/>
          <p:nvPr/>
        </p:nvSpPr>
        <p:spPr>
          <a:xfrm>
            <a:off x="548640" y="3822192"/>
            <a:ext cx="489204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9808" y="382219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200" b="1" dirty="0">
                <a:solidFill>
                  <a:schemeClr val="accent1"/>
                </a:solidFill>
              </a:rPr>
              <a:t>384</a:t>
            </a:r>
            <a:endParaRPr lang="ru-RU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38221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chemeClr val="tx1"/>
                </a:solidFill>
              </a:rPr>
              <a:t>цепочки передоверия: решения совпали с независимой реализацией на Cedar</a:t>
            </a:r>
            <a:endParaRPr lang="ru-RU" sz="1150" dirty="0"/>
          </a:p>
        </p:txBody>
      </p:sp>
      <p:sp>
        <p:nvSpPr>
          <p:cNvPr id="17" name="Карточка"/>
          <p:cNvSpPr/>
          <p:nvPr/>
        </p:nvSpPr>
        <p:spPr>
          <a:xfrm>
            <a:off x="548640" y="4572000"/>
            <a:ext cx="489204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9808" y="4572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200" b="1" dirty="0">
                <a:solidFill>
                  <a:schemeClr val="accent1"/>
                </a:solidFill>
              </a:rPr>
              <a:t>≈2,9 мс</a:t>
            </a:r>
            <a:endParaRPr lang="ru-RU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chemeClr val="tx1"/>
                </a:solidFill>
              </a:rPr>
              <a:t>медиана на кейс с разбором документов, без сети; 95% кейсов — быстрее 5,7 мс</a:t>
            </a:r>
            <a:endParaRPr lang="ru-RU" sz="1150" dirty="0"/>
          </a:p>
        </p:txBody>
      </p:sp>
      <p:sp>
        <p:nvSpPr>
          <p:cNvPr id="20" name="Карточка"/>
          <p:cNvSpPr/>
          <p:nvPr/>
        </p:nvSpPr>
        <p:spPr>
          <a:xfrm>
            <a:off x="5669280" y="1572768"/>
            <a:ext cx="5973775" cy="2615184"/>
          </a:xfrm>
          <a:prstGeom prst="roundRect">
            <a:avLst>
              <a:gd name="adj" fmla="val 4196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943600" y="1737360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42557A"/>
                </a:solidFill>
              </a:rPr>
              <a:t>Ожидаемые вердикты 294 проверочных кейсов</a:t>
            </a:r>
            <a:endParaRPr lang="ru-RU" sz="1200" dirty="0"/>
          </a:p>
        </p:txBody>
      </p:sp>
      <p:graphicFrame>
        <p:nvGraphicFramePr>
          <p:cNvPr id="22" name="Диаграмма: ожидаемые вердикты корпуса" descr=""/>
          <p:cNvGraphicFramePr/>
          <p:nvPr/>
        </p:nvGraphicFramePr>
        <p:xfrm>
          <a:off x="5806440" y="2029968"/>
          <a:ext cx="5699455" cy="20848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Карточка"/>
          <p:cNvSpPr/>
          <p:nvPr/>
        </p:nvSpPr>
        <p:spPr>
          <a:xfrm>
            <a:off x="5669280" y="4370832"/>
            <a:ext cx="5973775" cy="950976"/>
          </a:xfrm>
          <a:prstGeom prst="roundRect">
            <a:avLst>
              <a:gd name="adj" fmla="val 11538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24" name="Плитка значка"/>
          <p:cNvSpPr/>
          <p:nvPr/>
        </p:nvSpPr>
        <p:spPr>
          <a:xfrm>
            <a:off x="5897880" y="46177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pic>
        <p:nvPicPr>
          <p:cNvPr id="25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471830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492240" y="4370832"/>
            <a:ext cx="49679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0A2973"/>
                </a:solidFill>
              </a:rPr>
              <a:t>Сверка с внешними эталонами, 27.10.2026: </a:t>
            </a:r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каноническая запись JCS (RFC 8785, 20 000 документов), дерево Меркла (RFC 6962), подпись — векторы W3C eddsa-jcs-2022: совпало</a:t>
            </a:r>
            <a:endParaRPr lang="ru-RU" sz="1200" dirty="0"/>
          </a:p>
        </p:txBody>
      </p:sp>
      <p:sp>
        <p:nvSpPr>
          <p:cNvPr id="27" name="Плашка вывода"/>
          <p:cNvSpPr/>
          <p:nvPr/>
        </p:nvSpPr>
        <p:spPr>
          <a:xfrm>
            <a:off x="548640" y="5413248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8" name="Плитка значка"/>
          <p:cNvSpPr/>
          <p:nvPr/>
        </p:nvSpPr>
        <p:spPr>
          <a:xfrm>
            <a:off x="749808" y="55504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2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650992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389888" y="5413248"/>
            <a:ext cx="99788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bg1"/>
                </a:solidFill>
              </a:rPr>
              <a:t>Однозначное решается само, спорное — человеком: все 114 однозначных кейсов закрыты автоматически без единой ошибки, все 180 спорных и неполных — у сотрудника с готовым досье. Пилот переносит эти метрики на данные ВТБ.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ИИ ПОД КОНТРОЛЕМ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ИИ советует, но не решает: вердикт выносят правила, спорное — человек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Кодекс этики в сфере ИИ на финансовом рынке (информационное письмо Банка России № ИН-016-13/91 от 09.07.2025); CNews, 21.08.2026; 243‑ФЗ от 26.07.2026, ст. 5 и 13; ADR-001, ADR-005; OWASP Top 10 for LLM Applications 2025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1999427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Плитка значка"/>
          <p:cNvSpPr/>
          <p:nvPr/>
        </p:nvSpPr>
        <p:spPr>
          <a:xfrm>
            <a:off x="731520" y="17556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7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81" y="1852209"/>
            <a:ext cx="245791" cy="24579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267712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Документ</a:t>
            </a:r>
            <a:endParaRPr lang="ru-RU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43200"/>
            <a:ext cx="16702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устав, текстовое полномочие</a:t>
            </a:r>
            <a:endParaRPr lang="ru-RU" sz="1200" dirty="0"/>
          </a:p>
        </p:txBody>
      </p:sp>
      <p:sp>
        <p:nvSpPr>
          <p:cNvPr id="10" name="Стрелка"/>
          <p:cNvSpPr/>
          <p:nvPr/>
        </p:nvSpPr>
        <p:spPr>
          <a:xfrm>
            <a:off x="2584643" y="2487168"/>
            <a:ext cx="201168" cy="0"/>
          </a:xfrm>
          <a:prstGeom prst="line">
            <a:avLst/>
          </a:prstGeom>
          <a:noFill/>
          <a:ln w="22225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11" name="Карточка"/>
          <p:cNvSpPr/>
          <p:nvPr/>
        </p:nvSpPr>
        <p:spPr>
          <a:xfrm>
            <a:off x="2822387" y="1572768"/>
            <a:ext cx="1999427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2" name="Плитка значка"/>
          <p:cNvSpPr/>
          <p:nvPr/>
        </p:nvSpPr>
        <p:spPr>
          <a:xfrm>
            <a:off x="3005267" y="17556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828" y="1852209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05267" y="2267712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Модель в контуре банка</a:t>
            </a:r>
            <a:endParaRPr lang="ru-RU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005267" y="2743200"/>
            <a:ext cx="16702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предлагает факт с дословной цитатой</a:t>
            </a:r>
            <a:endParaRPr lang="ru-RU" sz="1200" dirty="0"/>
          </a:p>
        </p:txBody>
      </p:sp>
      <p:sp>
        <p:nvSpPr>
          <p:cNvPr id="16" name="Стрелка"/>
          <p:cNvSpPr/>
          <p:nvPr/>
        </p:nvSpPr>
        <p:spPr>
          <a:xfrm>
            <a:off x="4858390" y="2487168"/>
            <a:ext cx="201168" cy="0"/>
          </a:xfrm>
          <a:prstGeom prst="line">
            <a:avLst/>
          </a:prstGeom>
          <a:noFill/>
          <a:ln w="22225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17" name="Карточка"/>
          <p:cNvSpPr/>
          <p:nvPr/>
        </p:nvSpPr>
        <p:spPr>
          <a:xfrm>
            <a:off x="5096134" y="1572768"/>
            <a:ext cx="1999427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8" name="Плитка значка"/>
          <p:cNvSpPr/>
          <p:nvPr/>
        </p:nvSpPr>
        <p:spPr>
          <a:xfrm>
            <a:off x="5279014" y="17556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575" y="1852209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79014" y="2267712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Шлюз цитат</a:t>
            </a:r>
            <a:endParaRPr lang="ru-RU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5279014" y="2743200"/>
            <a:ext cx="16702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нет цитаты в документе — нет факта</a:t>
            </a:r>
            <a:endParaRPr lang="ru-RU" sz="1200" dirty="0"/>
          </a:p>
        </p:txBody>
      </p:sp>
      <p:sp>
        <p:nvSpPr>
          <p:cNvPr id="22" name="Стрелка"/>
          <p:cNvSpPr/>
          <p:nvPr/>
        </p:nvSpPr>
        <p:spPr>
          <a:xfrm>
            <a:off x="7132137" y="2487168"/>
            <a:ext cx="201168" cy="0"/>
          </a:xfrm>
          <a:prstGeom prst="line">
            <a:avLst/>
          </a:prstGeom>
          <a:noFill/>
          <a:ln w="22225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23" name="Карточка"/>
          <p:cNvSpPr/>
          <p:nvPr/>
        </p:nvSpPr>
        <p:spPr>
          <a:xfrm>
            <a:off x="7369881" y="1572768"/>
            <a:ext cx="1999427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4" name="Плитка значка"/>
          <p:cNvSpPr/>
          <p:nvPr/>
        </p:nvSpPr>
        <p:spPr>
          <a:xfrm>
            <a:off x="7552761" y="17556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25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322" y="1852209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552761" y="2267712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bg1"/>
                </a:solidFill>
              </a:rPr>
              <a:t>39 правил с нормой</a:t>
            </a:r>
            <a:endParaRPr lang="ru-RU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7552761" y="2743200"/>
            <a:ext cx="16702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CFE3FF"/>
                </a:solidFill>
              </a:rPr>
              <a:t>выносят вердикт</a:t>
            </a:r>
            <a:endParaRPr lang="ru-RU" sz="1200" dirty="0"/>
          </a:p>
        </p:txBody>
      </p:sp>
      <p:sp>
        <p:nvSpPr>
          <p:cNvPr id="28" name="Стрелка"/>
          <p:cNvSpPr/>
          <p:nvPr/>
        </p:nvSpPr>
        <p:spPr>
          <a:xfrm>
            <a:off x="9405884" y="2487168"/>
            <a:ext cx="201168" cy="0"/>
          </a:xfrm>
          <a:prstGeom prst="line">
            <a:avLst/>
          </a:prstGeom>
          <a:noFill/>
          <a:ln w="22225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29" name="Карточка"/>
          <p:cNvSpPr/>
          <p:nvPr/>
        </p:nvSpPr>
        <p:spPr>
          <a:xfrm>
            <a:off x="9643628" y="1572768"/>
            <a:ext cx="1999427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0" name="Плитка значка"/>
          <p:cNvSpPr/>
          <p:nvPr/>
        </p:nvSpPr>
        <p:spPr>
          <a:xfrm>
            <a:off x="9826508" y="17556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1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3069" y="1852209"/>
            <a:ext cx="245791" cy="245791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826508" y="2267712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Человек</a:t>
            </a:r>
            <a:endParaRPr lang="ru-RU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9826508" y="2743200"/>
            <a:ext cx="16702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разбирает спорное; клиент может оспорить</a:t>
            </a:r>
            <a:endParaRPr lang="ru-RU" sz="1200" dirty="0"/>
          </a:p>
        </p:txBody>
      </p:sp>
      <p:sp>
        <p:nvSpPr>
          <p:cNvPr id="34" name="Карточка"/>
          <p:cNvSpPr/>
          <p:nvPr/>
        </p:nvSpPr>
        <p:spPr>
          <a:xfrm>
            <a:off x="548640" y="3630168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22960" y="363016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b="1" dirty="0">
                <a:solidFill>
                  <a:srgbClr val="0A2973"/>
                </a:solidFill>
              </a:rPr>
              <a:t>В логике Кодекса этики в сфере ИИ на финансовом рынке (Банк России, 2025). </a:t>
            </a:r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По сообщениям СМИ, ВТБ присоединился к Кодексу в августе 2026</a:t>
            </a:r>
            <a:endParaRPr lang="ru-RU" sz="1300" dirty="0"/>
          </a:p>
        </p:txBody>
      </p:sp>
      <p:sp>
        <p:nvSpPr>
          <p:cNvPr id="36" name="Карточка"/>
          <p:cNvSpPr/>
          <p:nvPr/>
        </p:nvSpPr>
        <p:spPr>
          <a:xfrm>
            <a:off x="548640" y="4425696"/>
            <a:ext cx="2602154" cy="1719072"/>
          </a:xfrm>
          <a:prstGeom prst="roundRect">
            <a:avLst>
              <a:gd name="adj" fmla="val 638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7" name="Плитка значка"/>
          <p:cNvSpPr/>
          <p:nvPr/>
        </p:nvSpPr>
        <p:spPr>
          <a:xfrm>
            <a:off x="731520" y="457200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8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" y="4652467"/>
            <a:ext cx="204826" cy="204826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188720" y="4572000"/>
            <a:ext cx="1824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Прозрачность</a:t>
            </a:r>
            <a:endParaRPr lang="ru-RU" sz="1350" dirty="0"/>
          </a:p>
        </p:txBody>
      </p:sp>
      <p:sp>
        <p:nvSpPr>
          <p:cNvPr id="40" name="Text 32"/>
          <p:cNvSpPr txBox="1"/>
          <p:nvPr/>
        </p:nvSpPr>
        <p:spPr>
          <a:xfrm>
            <a:off x="731520" y="5029200"/>
            <a:ext cx="22546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у каждого вывода — норма и ссылка на поле документа; отчёт называет источник каждого факта</a:t>
            </a:r>
            <a:endParaRPr lang="ru-RU" sz="1200" dirty="0"/>
          </a:p>
        </p:txBody>
      </p:sp>
      <p:sp>
        <p:nvSpPr>
          <p:cNvPr id="41" name="Карточка"/>
          <p:cNvSpPr/>
          <p:nvPr/>
        </p:nvSpPr>
        <p:spPr>
          <a:xfrm>
            <a:off x="3379394" y="4425696"/>
            <a:ext cx="2602154" cy="1719072"/>
          </a:xfrm>
          <a:prstGeom prst="roundRect">
            <a:avLst>
              <a:gd name="adj" fmla="val 638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42" name="Плитка значка"/>
          <p:cNvSpPr/>
          <p:nvPr/>
        </p:nvSpPr>
        <p:spPr>
          <a:xfrm>
            <a:off x="3562274" y="457200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4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2741" y="4652467"/>
            <a:ext cx="204826" cy="204826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4019474" y="4572000"/>
            <a:ext cx="1824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Человек в контуре</a:t>
            </a:r>
            <a:endParaRPr lang="ru-RU" sz="1350" dirty="0"/>
          </a:p>
        </p:txBody>
      </p:sp>
      <p:sp>
        <p:nvSpPr>
          <p:cNvPr id="45" name="Text 36"/>
          <p:cNvSpPr txBox="1"/>
          <p:nvPr/>
        </p:nvSpPr>
        <p:spPr>
          <a:xfrm>
            <a:off x="3562274" y="5029200"/>
            <a:ext cx="22546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человекоцентричность: спорное решает сотрудник, автоматический вердикт клиент может оспорить у человека</a:t>
            </a:r>
            <a:endParaRPr lang="ru-RU" sz="1200" dirty="0"/>
          </a:p>
        </p:txBody>
      </p:sp>
      <p:sp>
        <p:nvSpPr>
          <p:cNvPr id="46" name="Карточка"/>
          <p:cNvSpPr/>
          <p:nvPr/>
        </p:nvSpPr>
        <p:spPr>
          <a:xfrm>
            <a:off x="6210148" y="4425696"/>
            <a:ext cx="2602154" cy="1719072"/>
          </a:xfrm>
          <a:prstGeom prst="roundRect">
            <a:avLst>
              <a:gd name="adj" fmla="val 638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47" name="Плитка значка"/>
          <p:cNvSpPr/>
          <p:nvPr/>
        </p:nvSpPr>
        <p:spPr>
          <a:xfrm>
            <a:off x="6393028" y="457200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48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495" y="4652467"/>
            <a:ext cx="204826" cy="204826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6850228" y="4572000"/>
            <a:ext cx="1824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Безопасность</a:t>
            </a:r>
            <a:endParaRPr lang="ru-RU" sz="1350" dirty="0"/>
          </a:p>
        </p:txBody>
      </p:sp>
      <p:sp>
        <p:nvSpPr>
          <p:cNvPr id="50" name="Text 40"/>
          <p:cNvSpPr txBox="1"/>
          <p:nvPr/>
        </p:nvSpPr>
        <p:spPr>
          <a:xfrm>
            <a:off x="6393028" y="5029200"/>
            <a:ext cx="22546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модель on-prem и по умолчанию выключена — без неё продукт работает полностью; ПДн псевдонимизированы</a:t>
            </a:r>
            <a:endParaRPr lang="ru-RU" sz="1200" dirty="0"/>
          </a:p>
        </p:txBody>
      </p:sp>
      <p:sp>
        <p:nvSpPr>
          <p:cNvPr id="51" name="Карточка"/>
          <p:cNvSpPr/>
          <p:nvPr/>
        </p:nvSpPr>
        <p:spPr>
          <a:xfrm>
            <a:off x="9040901" y="4425696"/>
            <a:ext cx="2602154" cy="1719072"/>
          </a:xfrm>
          <a:prstGeom prst="roundRect">
            <a:avLst>
              <a:gd name="adj" fmla="val 638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52" name="Плитка значка"/>
          <p:cNvSpPr/>
          <p:nvPr/>
        </p:nvSpPr>
        <p:spPr>
          <a:xfrm>
            <a:off x="9223781" y="457200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5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4249" y="4652467"/>
            <a:ext cx="204826" cy="204826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9680981" y="4572000"/>
            <a:ext cx="1824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Суверенность</a:t>
            </a:r>
            <a:endParaRPr lang="ru-RU" sz="1350" dirty="0"/>
          </a:p>
        </p:txBody>
      </p:sp>
      <p:sp>
        <p:nvSpPr>
          <p:cNvPr id="55" name="Text 44"/>
          <p:cNvSpPr txBox="1"/>
          <p:nvPr/>
        </p:nvSpPr>
        <p:spPr>
          <a:xfrm>
            <a:off x="9223781" y="5029200"/>
            <a:ext cx="22546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провайдер сменный: по 243‑ФЗ с 01.03.2027 банкам могут предписать национальные модели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ЭФФЕКТ ДЛЯ ВТБ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Эффект в двух валютах: время сотрудников и предотвращённый ущерб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ВТБ, пресс‑релиз к МСФО за 1П 2026: ≈1,8 млн предприятий и предпринимателей (M‑09); Банк России, I–II кв. 2026 (M‑07, M‑15). Расчёт: python scripts/effect_model.py --scenarios; деньги и окупаемость — финансовая модель пакета аналитики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5432908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Плитка значка"/>
          <p:cNvSpPr/>
          <p:nvPr/>
        </p:nvSpPr>
        <p:spPr>
          <a:xfrm>
            <a:off x="804672" y="17739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7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09" y="1866473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53312" y="1773936"/>
            <a:ext cx="44270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Высвобождение нагрузки, ставок в год</a:t>
            </a:r>
            <a:endParaRPr lang="ru-RU" sz="1400" dirty="0"/>
          </a:p>
        </p:txBody>
      </p:sp>
      <p:graphicFrame>
        <p:nvGraphicFramePr>
          <p:cNvPr id="9" name="Диаграмма: Высвобождение нагрузки, ставок в год" descr=""/>
          <p:cNvGraphicFramePr/>
          <p:nvPr/>
        </p:nvGraphicFramePr>
        <p:xfrm>
          <a:off x="777240" y="2231136"/>
          <a:ext cx="497570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04672" y="4114800"/>
            <a:ext cx="49208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42557A"/>
                </a:solidFill>
              </a:rPr>
              <a:t>≈1,8 млн предприятий и ИП × доля с событием представительства (10 / 15 / 25%) × минуты на кейс с разбором (20 / 30 / 40) ÷ 60 ÷ 1 800 ч на ставку</a:t>
            </a:r>
            <a:endParaRPr lang="ru-RU" sz="1100" dirty="0"/>
          </a:p>
        </p:txBody>
      </p:sp>
      <p:sp>
        <p:nvSpPr>
          <p:cNvPr id="11" name="Карточка"/>
          <p:cNvSpPr/>
          <p:nvPr/>
        </p:nvSpPr>
        <p:spPr>
          <a:xfrm>
            <a:off x="6210148" y="1572768"/>
            <a:ext cx="5432908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2" name="Плитка значка"/>
          <p:cNvSpPr/>
          <p:nvPr/>
        </p:nvSpPr>
        <p:spPr>
          <a:xfrm>
            <a:off x="6466180" y="17739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717" y="186647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14820" y="1773936"/>
            <a:ext cx="44270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Предотвращённый ущерб, млн ₽ в год</a:t>
            </a:r>
            <a:endParaRPr lang="ru-RU" sz="1400" dirty="0"/>
          </a:p>
        </p:txBody>
      </p:sp>
      <p:graphicFrame>
        <p:nvGraphicFramePr>
          <p:cNvPr id="15" name="Диаграмма: Предотвращённый ущерб, млн ₽ в год" descr=""/>
          <p:cNvGraphicFramePr/>
          <p:nvPr/>
        </p:nvGraphicFramePr>
        <p:xfrm>
          <a:off x="6438748" y="2231136"/>
          <a:ext cx="497570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6466180" y="4114800"/>
            <a:ext cx="49208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42557A"/>
                </a:solidFill>
              </a:rPr>
              <a:t>799 операций против юрлиц в среднем за квартал I пол. 2026 × 4 × доля ВТБ (15 / 20 / 25%) × доля случаев с полномочиями (10 / 25 / 40%) × 0,88 млн ₽</a:t>
            </a:r>
            <a:endParaRPr lang="ru-RU" sz="1100" dirty="0"/>
          </a:p>
        </p:txBody>
      </p:sp>
      <p:sp>
        <p:nvSpPr>
          <p:cNvPr id="17" name="Карточка"/>
          <p:cNvSpPr/>
          <p:nvPr/>
        </p:nvSpPr>
        <p:spPr>
          <a:xfrm>
            <a:off x="548640" y="5230368"/>
            <a:ext cx="5432908" cy="914400"/>
          </a:xfrm>
          <a:prstGeom prst="roundRect">
            <a:avLst>
              <a:gd name="adj" fmla="val 12000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18" name="Плитка значка"/>
          <p:cNvSpPr/>
          <p:nvPr/>
        </p:nvSpPr>
        <p:spPr>
          <a:xfrm>
            <a:off x="749808" y="54589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pic>
        <p:nvPicPr>
          <p:cNvPr id="1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559552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89888" y="5230368"/>
            <a:ext cx="4381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rgbClr val="0A2973"/>
                </a:solidFill>
              </a:rPr>
              <a:t>Бизнес‑модель: </a:t>
            </a:r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лицензия в контуре банка и годовая подписка на сопровождение правил при смене норм, формата МЧД и классификатора</a:t>
            </a:r>
            <a:endParaRPr lang="ru-RU" sz="1250" dirty="0"/>
          </a:p>
        </p:txBody>
      </p:sp>
      <p:sp>
        <p:nvSpPr>
          <p:cNvPr id="21" name="Плашка вывода"/>
          <p:cNvSpPr/>
          <p:nvPr/>
        </p:nvSpPr>
        <p:spPr>
          <a:xfrm>
            <a:off x="6210148" y="5230368"/>
            <a:ext cx="5432908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2" name="Плитка значка"/>
          <p:cNvSpPr/>
          <p:nvPr/>
        </p:nvSpPr>
        <p:spPr>
          <a:xfrm>
            <a:off x="6411316" y="54589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2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900" y="555955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051396" y="5230368"/>
            <a:ext cx="431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chemeClr val="bg1"/>
                </a:solidFill>
              </a:rPr>
              <a:t>Для ВТБ, базовый сценарий: разовые затраты окупаются за 7,5 месяца, чистая отдача — 2,4 ₽ на рубль затрат за три года</a:t>
            </a:r>
            <a:endParaRPr lang="ru-RU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ПОЧЕМУ СЕЙЧАС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МЧД стало втрое больше, а правила для банков меняются каждые полгода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63‑ФЗ в ред. 476‑ФЗ; Приказ Банка России № ОД‑2506; Приказ Минцифры № 1001; 41‑ФЗ (M‑40); ФНС, 27.07.2026; emchd.ru, 10.2024; 243‑ФЗ (M‑41); 210‑ФЗ (M‑16); Указание Банка России № 7220‑У; 315‑ФЗ (M‑04); CNews, 12.02.2026 — комплект МЧД и КЭП (M‑19)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704088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Линия"/>
          <p:cNvSpPr/>
          <p:nvPr/>
        </p:nvSpPr>
        <p:spPr>
          <a:xfrm>
            <a:off x="2093976" y="1920240"/>
            <a:ext cx="0" cy="3600450"/>
          </a:xfrm>
          <a:prstGeom prst="line">
            <a:avLst/>
          </a:prstGeom>
          <a:noFill/>
          <a:ln w="25400">
            <a:solidFill>
              <a:srgbClr val="C9DC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013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01.09.2024</a:t>
            </a:r>
            <a:endParaRPr lang="ru-RU" sz="1200" dirty="0"/>
          </a:p>
        </p:txBody>
      </p:sp>
      <p:sp>
        <p:nvSpPr>
          <p:cNvPr id="8" name="Точка шкалы"/>
          <p:cNvSpPr/>
          <p:nvPr/>
        </p:nvSpPr>
        <p:spPr>
          <a:xfrm>
            <a:off x="2029968" y="1865376"/>
            <a:ext cx="128016" cy="128016"/>
          </a:xfrm>
          <a:prstGeom prst="ellipse">
            <a:avLst/>
          </a:prstGeom>
          <a:solidFill>
            <a:srgbClr val="004CBC"/>
          </a:solidFill>
          <a:ln w="19050">
            <a:solidFill>
              <a:srgbClr val="004C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50008" y="1764792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МЧД обязательна для представителей юрлиц</a:t>
            </a:r>
            <a:endParaRPr lang="ru-RU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1571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01.01.2026</a:t>
            </a:r>
            <a:endParaRPr lang="ru-RU" sz="1200" dirty="0"/>
          </a:p>
        </p:txBody>
      </p:sp>
      <p:sp>
        <p:nvSpPr>
          <p:cNvPr id="11" name="Точка шкалы"/>
          <p:cNvSpPr/>
          <p:nvPr/>
        </p:nvSpPr>
        <p:spPr>
          <a:xfrm>
            <a:off x="2029968" y="2379726"/>
            <a:ext cx="128016" cy="128016"/>
          </a:xfrm>
          <a:prstGeom prst="ellipse">
            <a:avLst/>
          </a:prstGeom>
          <a:solidFill>
            <a:srgbClr val="004CBC"/>
          </a:solidFill>
          <a:ln w="19050">
            <a:solidFill>
              <a:srgbClr val="004CB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50008" y="2279142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12 признаков операций без согласия вместо 6 — Приказ № ОД‑2506</a:t>
            </a:r>
            <a:endParaRPr lang="ru-RU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8300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01.02.2026</a:t>
            </a:r>
            <a:endParaRPr lang="ru-RU" sz="1200" dirty="0"/>
          </a:p>
        </p:txBody>
      </p:sp>
      <p:sp>
        <p:nvSpPr>
          <p:cNvPr id="14" name="Точка шкалы"/>
          <p:cNvSpPr/>
          <p:nvPr/>
        </p:nvSpPr>
        <p:spPr>
          <a:xfrm>
            <a:off x="2029968" y="2894076"/>
            <a:ext cx="128016" cy="128016"/>
          </a:xfrm>
          <a:prstGeom prst="ellipse">
            <a:avLst/>
          </a:prstGeom>
          <a:solidFill>
            <a:srgbClr val="004CBC"/>
          </a:solidFill>
          <a:ln w="19050">
            <a:solidFill>
              <a:srgbClr val="004C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50008" y="2793492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новые реквизиты МЧД: СНИЛС и ИНН представителя — Приказ № 1001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34441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01.03.2026</a:t>
            </a:r>
            <a:endParaRPr lang="ru-RU" sz="1200" dirty="0"/>
          </a:p>
        </p:txBody>
      </p:sp>
      <p:sp>
        <p:nvSpPr>
          <p:cNvPr id="17" name="Точка шкалы"/>
          <p:cNvSpPr/>
          <p:nvPr/>
        </p:nvSpPr>
        <p:spPr>
          <a:xfrm>
            <a:off x="2029968" y="3408426"/>
            <a:ext cx="128016" cy="128016"/>
          </a:xfrm>
          <a:prstGeom prst="ellipse">
            <a:avLst/>
          </a:prstGeom>
          <a:solidFill>
            <a:srgbClr val="004CBC"/>
          </a:solidFill>
          <a:ln w="19050">
            <a:solidFill>
              <a:srgbClr val="004CB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50008" y="3307842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реестр МЧД ищет по номеру и ИНН сторон; заработала ГИС «Антифрод» (41‑ФЗ)</a:t>
            </a:r>
            <a:endParaRPr lang="ru-RU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8587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27.07.2026</a:t>
            </a:r>
            <a:endParaRPr lang="ru-RU" sz="1200" dirty="0"/>
          </a:p>
        </p:txBody>
      </p:sp>
      <p:sp>
        <p:nvSpPr>
          <p:cNvPr id="20" name="Точка шкалы"/>
          <p:cNvSpPr/>
          <p:nvPr/>
        </p:nvSpPr>
        <p:spPr>
          <a:xfrm>
            <a:off x="2029968" y="3922776"/>
            <a:ext cx="128016" cy="128016"/>
          </a:xfrm>
          <a:prstGeom prst="ellipse">
            <a:avLst/>
          </a:prstGeom>
          <a:solidFill>
            <a:srgbClr val="004CBC"/>
          </a:solidFill>
          <a:ln w="19050">
            <a:solidFill>
              <a:srgbClr val="004CB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50008" y="3822192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в реестре ФНС — более 5 млн МЧД</a:t>
            </a:r>
            <a:endParaRPr lang="ru-RU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37311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01.09.2026</a:t>
            </a:r>
            <a:endParaRPr lang="ru-RU" sz="1200" dirty="0"/>
          </a:p>
        </p:txBody>
      </p:sp>
      <p:sp>
        <p:nvSpPr>
          <p:cNvPr id="23" name="Точка шкалы"/>
          <p:cNvSpPr/>
          <p:nvPr/>
        </p:nvSpPr>
        <p:spPr>
          <a:xfrm>
            <a:off x="2029968" y="4437126"/>
            <a:ext cx="128016" cy="128016"/>
          </a:xfrm>
          <a:prstGeom prst="ellipse">
            <a:avLst/>
          </a:prstGeom>
          <a:solidFill>
            <a:srgbClr val="004CBC"/>
          </a:solidFill>
          <a:ln w="19050">
            <a:solidFill>
              <a:srgbClr val="004CB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50008" y="4336542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в силе закон об ИИ (243‑ФЗ) и первые нормы антифрод-пакета (210‑ФЗ)</a:t>
            </a:r>
            <a:endParaRPr lang="ru-RU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8874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01.10.2026</a:t>
            </a:r>
            <a:endParaRPr lang="ru-RU" sz="1200" dirty="0"/>
          </a:p>
        </p:txBody>
      </p:sp>
      <p:sp>
        <p:nvSpPr>
          <p:cNvPr id="26" name="Точка шкалы"/>
          <p:cNvSpPr/>
          <p:nvPr/>
        </p:nvSpPr>
        <p:spPr>
          <a:xfrm>
            <a:off x="2029968" y="4951476"/>
            <a:ext cx="128016" cy="128016"/>
          </a:xfrm>
          <a:prstGeom prst="ellipse">
            <a:avLst/>
          </a:prstGeom>
          <a:solidFill>
            <a:srgbClr val="004CBC"/>
          </a:solidFill>
          <a:ln w="19050">
            <a:solidFill>
              <a:srgbClr val="004CB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50008" y="4850892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изменения 821‑П о защите информации при переводах (№ 7220‑У)</a:t>
            </a:r>
            <a:endParaRPr lang="ru-RU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40181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0A2973"/>
                </a:solidFill>
              </a:rPr>
              <a:t>01.09.2027</a:t>
            </a:r>
            <a:endParaRPr lang="ru-RU" sz="1200" dirty="0"/>
          </a:p>
        </p:txBody>
      </p:sp>
      <p:sp>
        <p:nvSpPr>
          <p:cNvPr id="29" name="Точка шкалы"/>
          <p:cNvSpPr/>
          <p:nvPr/>
        </p:nvSpPr>
        <p:spPr>
          <a:xfrm>
            <a:off x="2029968" y="5465826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297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50008" y="5365242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chemeClr val="tx1"/>
                </a:solidFill>
              </a:rPr>
              <a:t>единая форма МЧД становится основной (315‑ФЗ)</a:t>
            </a:r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rgbClr val="004CBC"/>
                </a:solidFill>
              </a:rPr>
              <a:t> · впереди</a:t>
            </a:r>
            <a:endParaRPr lang="ru-RU" sz="1250" dirty="0"/>
          </a:p>
        </p:txBody>
      </p:sp>
      <p:sp>
        <p:nvSpPr>
          <p:cNvPr id="31" name="Карточка"/>
          <p:cNvSpPr/>
          <p:nvPr/>
        </p:nvSpPr>
        <p:spPr>
          <a:xfrm>
            <a:off x="7818120" y="1572768"/>
            <a:ext cx="3824935" cy="140208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074152" y="1682496"/>
            <a:ext cx="3312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3400" b="1" dirty="0">
                <a:solidFill>
                  <a:schemeClr val="accent1"/>
                </a:solidFill>
              </a:rPr>
              <a:t>×3</a:t>
            </a:r>
            <a:endParaRPr lang="ru-RU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8074152" y="2267712"/>
            <a:ext cx="3312871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42557A"/>
                </a:solidFill>
              </a:rPr>
              <a:t>МЧД в реестре ФНС за два года: ≈1,6 млн (10.2024) → более 5 млн (07.2026)</a:t>
            </a:r>
            <a:endParaRPr lang="ru-RU" sz="1150" dirty="0"/>
          </a:p>
        </p:txBody>
      </p:sp>
      <p:sp>
        <p:nvSpPr>
          <p:cNvPr id="34" name="Карточка"/>
          <p:cNvSpPr/>
          <p:nvPr/>
        </p:nvSpPr>
        <p:spPr>
          <a:xfrm>
            <a:off x="7818120" y="3157728"/>
            <a:ext cx="3824935" cy="140208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074152" y="3267456"/>
            <a:ext cx="3312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3400" b="1" dirty="0">
                <a:solidFill>
                  <a:schemeClr val="accent1"/>
                </a:solidFill>
              </a:rPr>
              <a:t>1,8 млн</a:t>
            </a:r>
            <a:endParaRPr lang="ru-RU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8074152" y="3852672"/>
            <a:ext cx="3312871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42557A"/>
                </a:solidFill>
              </a:rPr>
              <a:t>предприятий и предпринимателей у ВТБ — у каждого есть подписанты, которые меняются</a:t>
            </a:r>
            <a:endParaRPr lang="ru-RU" sz="1150" dirty="0"/>
          </a:p>
        </p:txBody>
      </p:sp>
      <p:sp>
        <p:nvSpPr>
          <p:cNvPr id="37" name="Карточка"/>
          <p:cNvSpPr/>
          <p:nvPr/>
        </p:nvSpPr>
        <p:spPr>
          <a:xfrm>
            <a:off x="7818120" y="4742688"/>
            <a:ext cx="3824935" cy="140208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074152" y="4852416"/>
            <a:ext cx="3312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2600" b="1" dirty="0">
                <a:solidFill>
                  <a:schemeClr val="accent1"/>
                </a:solidFill>
              </a:rPr>
              <a:t>10 МЧД + КЭП</a:t>
            </a:r>
            <a:endParaRPr lang="ru-RU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8074152" y="5437632"/>
            <a:ext cx="3312871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42557A"/>
                </a:solidFill>
              </a:rPr>
              <a:t>комплект для представителя в «ВТБ Бизнес» с февраля 2026: поток доверенностей в банк растёт</a:t>
            </a:r>
            <a:endParaRPr lang="ru-RU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МИРОВАЯ ПРАКТИКА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Мир уже выделил проверку полномочия представителя в отдельный шаг — и в отдельный продукт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FATF, Рекомендация 10 (M‑12); Регламент (ЕС) 2024/1624 и финальный проект RTS AMLA, 30.09.2026 (M‑13, M‑18); Signicat InstantAuthority — документация Signicat (M‑37); Companies House, отчёт по ECCTA 2023 от 30.06.2025 (M‑36); Еврокомиссия, 19.11.2025 (M‑39); GLEIF, ISO 17442‑3</a:t>
            </a:r>
            <a:endParaRPr lang="ru-RU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b="1" dirty="0">
                <a:solidFill>
                  <a:srgbClr val="42557A"/>
                </a:solidFill>
              </a:rPr>
              <a:t>Требования к банкам</a:t>
            </a:r>
            <a:endParaRPr lang="ru-RU" sz="1300" dirty="0"/>
          </a:p>
        </p:txBody>
      </p:sp>
      <p:sp>
        <p:nvSpPr>
          <p:cNvPr id="6" name="Карточка"/>
          <p:cNvSpPr/>
          <p:nvPr/>
        </p:nvSpPr>
        <p:spPr>
          <a:xfrm>
            <a:off x="548640" y="1956816"/>
            <a:ext cx="4206240" cy="1115568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7" name="Плитка значка"/>
          <p:cNvSpPr/>
          <p:nvPr/>
        </p:nvSpPr>
        <p:spPr>
          <a:xfrm>
            <a:off x="731520" y="213969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8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011" y="2224187"/>
            <a:ext cx="215067" cy="215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25296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chemeClr val="tx2"/>
                </a:solidFill>
              </a:rPr>
              <a:t>FATF · Рекомендация 10</a:t>
            </a:r>
            <a:endParaRPr lang="ru-RU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225296" y="23774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проверить, что лицо, действующее от имени клиента, уполномочено, и установить его личность</a:t>
            </a:r>
            <a:endParaRPr lang="ru-RU" sz="1100" dirty="0"/>
          </a:p>
        </p:txBody>
      </p:sp>
      <p:sp>
        <p:nvSpPr>
          <p:cNvPr id="11" name="Карточка"/>
          <p:cNvSpPr/>
          <p:nvPr/>
        </p:nvSpPr>
        <p:spPr>
          <a:xfrm>
            <a:off x="548640" y="3163824"/>
            <a:ext cx="4206240" cy="1115568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2" name="Плитка значка"/>
          <p:cNvSpPr/>
          <p:nvPr/>
        </p:nvSpPr>
        <p:spPr>
          <a:xfrm>
            <a:off x="731520" y="334670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11" y="3431195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25296" y="3310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chemeClr val="tx2"/>
                </a:solidFill>
              </a:rPr>
              <a:t>ЕС · Регламент 2024/1624</a:t>
            </a:r>
            <a:endParaRPr lang="ru-RU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225296" y="358444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с 10.07.2027 — сведения о любом представителе клиента; проект RTS AMLA — проверка существования и объёма полномочия</a:t>
            </a:r>
            <a:endParaRPr lang="ru-RU" sz="1100" dirty="0"/>
          </a:p>
        </p:txBody>
      </p:sp>
      <p:sp>
        <p:nvSpPr>
          <p:cNvPr id="16" name="Карточка"/>
          <p:cNvSpPr/>
          <p:nvPr/>
        </p:nvSpPr>
        <p:spPr>
          <a:xfrm>
            <a:off x="548640" y="4370832"/>
            <a:ext cx="4206240" cy="1115568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7" name="Плитка значка"/>
          <p:cNvSpPr/>
          <p:nvPr/>
        </p:nvSpPr>
        <p:spPr>
          <a:xfrm>
            <a:off x="731520" y="4553712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8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11" y="4638203"/>
            <a:ext cx="215067" cy="215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25296" y="4517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chemeClr val="tx2"/>
                </a:solidFill>
              </a:rPr>
              <a:t>ЕС · Директива 2025/25</a:t>
            </a:r>
            <a:endParaRPr lang="ru-RU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225296" y="479145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выписка о компании: кто представляет компанию, по одному или совместно; цифровая доверенность ЕС — с 31.07.2028</a:t>
            </a:r>
            <a:endParaRPr lang="ru-RU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983480" y="1572768"/>
            <a:ext cx="6659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b="1" dirty="0">
                <a:solidFill>
                  <a:srgbClr val="42557A"/>
                </a:solidFill>
              </a:rPr>
              <a:t>Как это уже работает в мире</a:t>
            </a:r>
            <a:endParaRPr lang="ru-RU" sz="1300" dirty="0"/>
          </a:p>
        </p:txBody>
      </p:sp>
      <p:sp>
        <p:nvSpPr>
          <p:cNvPr id="22" name="Карточка"/>
          <p:cNvSpPr/>
          <p:nvPr/>
        </p:nvSpPr>
        <p:spPr>
          <a:xfrm>
            <a:off x="4983480" y="1956816"/>
            <a:ext cx="3261208" cy="1696212"/>
          </a:xfrm>
          <a:prstGeom prst="roundRect">
            <a:avLst>
              <a:gd name="adj" fmla="val 646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3" name="Плитка значка"/>
          <p:cNvSpPr/>
          <p:nvPr/>
        </p:nvSpPr>
        <p:spPr>
          <a:xfrm>
            <a:off x="5166360" y="213969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874" y="2228210"/>
            <a:ext cx="225308" cy="2253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78424" y="2121408"/>
            <a:ext cx="241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chemeClr val="tx2"/>
                </a:solidFill>
              </a:rPr>
              <a:t>Нидерланды · Signicat InstantAuthority</a:t>
            </a:r>
            <a:endParaRPr lang="ru-RU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5166360" y="2651760"/>
            <a:ext cx="2913736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chemeClr val="tx1"/>
                </a:solidFill>
              </a:rPr>
              <a:t>запрос в Торговый реестр KvK + вход через iDIN → роль, мандат и его ограничения: проверка полномочия — отдельный продукт</a:t>
            </a:r>
            <a:endParaRPr lang="ru-RU" sz="1150" dirty="0"/>
          </a:p>
        </p:txBody>
      </p:sp>
      <p:sp>
        <p:nvSpPr>
          <p:cNvPr id="27" name="Карточка"/>
          <p:cNvSpPr/>
          <p:nvPr/>
        </p:nvSpPr>
        <p:spPr>
          <a:xfrm>
            <a:off x="8381848" y="1956816"/>
            <a:ext cx="3261208" cy="1696212"/>
          </a:xfrm>
          <a:prstGeom prst="roundRect">
            <a:avLst>
              <a:gd name="adj" fmla="val 646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8" name="Плитка значка"/>
          <p:cNvSpPr/>
          <p:nvPr/>
        </p:nvSpPr>
        <p:spPr>
          <a:xfrm>
            <a:off x="8564728" y="213969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242" y="2228210"/>
            <a:ext cx="225308" cy="22530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076792" y="2121408"/>
            <a:ext cx="241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chemeClr val="tx2"/>
                </a:solidFill>
              </a:rPr>
              <a:t>Великобритания · Companies House</a:t>
            </a:r>
            <a:endParaRPr lang="ru-RU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8564728" y="2651760"/>
            <a:ext cx="2913736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chemeClr val="tx1"/>
                </a:solidFill>
              </a:rPr>
              <a:t>по закону ECCTA 2023 за год до 03.2025 отклонено 10 200 подозрительных заявлений; с 18.11.2025 — проверка личности директора до регистрации</a:t>
            </a:r>
            <a:endParaRPr lang="ru-RU" sz="1150" dirty="0"/>
          </a:p>
        </p:txBody>
      </p:sp>
      <p:sp>
        <p:nvSpPr>
          <p:cNvPr id="32" name="Карточка"/>
          <p:cNvSpPr/>
          <p:nvPr/>
        </p:nvSpPr>
        <p:spPr>
          <a:xfrm>
            <a:off x="4983480" y="3790188"/>
            <a:ext cx="3261208" cy="1696212"/>
          </a:xfrm>
          <a:prstGeom prst="roundRect">
            <a:avLst>
              <a:gd name="adj" fmla="val 646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3" name="Плитка значка"/>
          <p:cNvSpPr/>
          <p:nvPr/>
        </p:nvSpPr>
        <p:spPr>
          <a:xfrm>
            <a:off x="5166360" y="397306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874" y="4061582"/>
            <a:ext cx="225308" cy="22530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678424" y="3954780"/>
            <a:ext cx="241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chemeClr val="tx2"/>
                </a:solidFill>
              </a:rPr>
              <a:t>ЕС · European Business Wallet</a:t>
            </a:r>
            <a:endParaRPr lang="ru-RU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5166360" y="4485132"/>
            <a:ext cx="2913736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chemeClr val="tx1"/>
                </a:solidFill>
              </a:rPr>
              <a:t>предложение Еврокомиссии от 19.11.2025: признание полномочий представителей — обязательная предпосылка кошелька</a:t>
            </a:r>
            <a:endParaRPr lang="ru-RU" sz="1150" dirty="0"/>
          </a:p>
        </p:txBody>
      </p:sp>
      <p:sp>
        <p:nvSpPr>
          <p:cNvPr id="37" name="Карточка"/>
          <p:cNvSpPr/>
          <p:nvPr/>
        </p:nvSpPr>
        <p:spPr>
          <a:xfrm>
            <a:off x="8381848" y="3790188"/>
            <a:ext cx="3261208" cy="1696212"/>
          </a:xfrm>
          <a:prstGeom prst="roundRect">
            <a:avLst>
              <a:gd name="adj" fmla="val 646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8" name="Плитка значка"/>
          <p:cNvSpPr/>
          <p:nvPr/>
        </p:nvSpPr>
        <p:spPr>
          <a:xfrm>
            <a:off x="8564728" y="397306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3242" y="4061582"/>
            <a:ext cx="225308" cy="22530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076792" y="3954780"/>
            <a:ext cx="241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chemeClr val="tx2"/>
                </a:solidFill>
              </a:rPr>
              <a:t>GLEIF · vLEI</a:t>
            </a:r>
            <a:endParaRPr lang="ru-RU" sz="1250" dirty="0"/>
          </a:p>
        </p:txBody>
      </p:sp>
      <p:sp>
        <p:nvSpPr>
          <p:cNvPr id="41" name="Text 32"/>
          <p:cNvSpPr txBox="1"/>
          <p:nvPr/>
        </p:nvSpPr>
        <p:spPr>
          <a:xfrm>
            <a:off x="8564728" y="4485132"/>
            <a:ext cx="2913736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chemeClr val="tx1"/>
                </a:solidFill>
              </a:rPr>
              <a:t>роль представителя компании как проверяемое удостоверение (ISO 17442‑3) — тот же принцип, что у удостоверения «Мандата»</a:t>
            </a:r>
            <a:endParaRPr lang="ru-RU" sz="1150" dirty="0"/>
          </a:p>
        </p:txBody>
      </p:sp>
      <p:sp>
        <p:nvSpPr>
          <p:cNvPr id="42" name="Плашка вывода"/>
          <p:cNvSpPr/>
          <p:nvPr/>
        </p:nvSpPr>
        <p:spPr>
          <a:xfrm>
            <a:off x="548640" y="5623560"/>
            <a:ext cx="11094415" cy="521208"/>
          </a:xfrm>
          <a:prstGeom prst="roundRect">
            <a:avLst>
              <a:gd name="adj" fmla="val 21053"/>
            </a:avLst>
          </a:prstGeom>
          <a:solidFill>
            <a:srgbClr val="E6F0FF"/>
          </a:solidFill>
          <a:ln/>
        </p:spPr>
      </p:sp>
      <p:sp>
        <p:nvSpPr>
          <p:cNvPr id="43" name="Плитка значка"/>
          <p:cNvSpPr/>
          <p:nvPr/>
        </p:nvSpPr>
        <p:spPr>
          <a:xfrm>
            <a:off x="749808" y="565556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pic>
        <p:nvPicPr>
          <p:cNvPr id="4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" y="5756148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389888" y="5623560"/>
            <a:ext cx="99788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b="1" dirty="0">
                <a:solidFill>
                  <a:schemeClr val="tx2"/>
                </a:solidFill>
              </a:rPr>
              <a:t>«Мандат» делает то же для российской МЧД: полномочие на дату операции, норма и поле документа в каждом выводе, удостоверение со статусом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ВСТРОЙКА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Встаёт в контур ВТБ on-prem: ядро готово, источники подключаются через порты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vtb.ru — «Комплект МЧД и КЭП» в «ВТБ Бизнес»; репозиторий «Мандата» v0.3.0, evidence.json от 28.10.2026; docs/ARCHITECTURE.md, docs/PILOT.md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342381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Плитка значка"/>
          <p:cNvSpPr/>
          <p:nvPr/>
        </p:nvSpPr>
        <p:spPr>
          <a:xfrm>
            <a:off x="777240" y="17739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7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74520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773936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Источники</a:t>
            </a:r>
            <a:endParaRPr lang="ru-RU" sz="1500" dirty="0"/>
          </a:p>
        </p:txBody>
      </p:sp>
      <p:sp>
        <p:nvSpPr>
          <p:cNvPr id="9" name="Список"/>
          <p:cNvSpPr txBox="1"/>
          <p:nvPr/>
        </p:nvSpPr>
        <p:spPr>
          <a:xfrm>
            <a:off x="822960" y="2395728"/>
            <a:ext cx="29208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МЧД в XML и бумажная доверенность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ЕГРЮЛ на дату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реестр МЧД ФНС: номер + ИНН доверителя и представителя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ЕФРСБ и устав</a:t>
            </a:r>
            <a:endParaRPr lang="ru-RU" sz="1250" dirty="0"/>
          </a:p>
        </p:txBody>
      </p:sp>
      <p:sp>
        <p:nvSpPr>
          <p:cNvPr id="10" name="Стрелка"/>
          <p:cNvSpPr/>
          <p:nvPr/>
        </p:nvSpPr>
        <p:spPr>
          <a:xfrm>
            <a:off x="4027322" y="2692908"/>
            <a:ext cx="301752" cy="0"/>
          </a:xfrm>
          <a:prstGeom prst="line">
            <a:avLst/>
          </a:prstGeom>
          <a:noFill/>
          <a:ln w="2540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11" name="Карточка"/>
          <p:cNvSpPr/>
          <p:nvPr/>
        </p:nvSpPr>
        <p:spPr>
          <a:xfrm>
            <a:off x="4383938" y="1572768"/>
            <a:ext cx="3423818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2" name="Плитка значка"/>
          <p:cNvSpPr/>
          <p:nvPr/>
        </p:nvSpPr>
        <p:spPr>
          <a:xfrm>
            <a:off x="4612538" y="17739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1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122" y="187452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06898" y="1773936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bg1"/>
                </a:solidFill>
              </a:rPr>
              <a:t>Движок «Мандата»</a:t>
            </a:r>
            <a:endParaRPr lang="ru-RU" sz="1500" dirty="0"/>
          </a:p>
        </p:txBody>
      </p:sp>
      <p:sp>
        <p:nvSpPr>
          <p:cNvPr id="15" name="Список"/>
          <p:cNvSpPr txBox="1"/>
          <p:nvPr/>
        </p:nvSpPr>
        <p:spPr>
          <a:xfrm>
            <a:off x="4658258" y="2395728"/>
            <a:ext cx="29208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bg1"/>
                </a:solidFill>
              </a:rPr>
              <a:t>граф полномочий на дату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bg1"/>
                </a:solidFill>
              </a:rPr>
              <a:t>39 правил с нормой и тестом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bg1"/>
                </a:solidFill>
              </a:rPr>
              <a:t>журнал с деревом Меркла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bg1"/>
                </a:solidFill>
              </a:rPr>
              <a:t>без внешней сети</a:t>
            </a:r>
            <a:endParaRPr lang="ru-RU" sz="1250" dirty="0"/>
          </a:p>
        </p:txBody>
      </p:sp>
      <p:sp>
        <p:nvSpPr>
          <p:cNvPr id="16" name="Стрелка"/>
          <p:cNvSpPr/>
          <p:nvPr/>
        </p:nvSpPr>
        <p:spPr>
          <a:xfrm>
            <a:off x="7862621" y="2692908"/>
            <a:ext cx="301752" cy="0"/>
          </a:xfrm>
          <a:prstGeom prst="line">
            <a:avLst/>
          </a:prstGeom>
          <a:noFill/>
          <a:ln w="2540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17" name="Карточка"/>
          <p:cNvSpPr/>
          <p:nvPr/>
        </p:nvSpPr>
        <p:spPr>
          <a:xfrm>
            <a:off x="8219237" y="1572768"/>
            <a:ext cx="342381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8" name="Плитка значка"/>
          <p:cNvSpPr/>
          <p:nvPr/>
        </p:nvSpPr>
        <p:spPr>
          <a:xfrm>
            <a:off x="8447837" y="17739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1" y="187452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42197" y="1773936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Результат</a:t>
            </a:r>
            <a:endParaRPr lang="ru-RU" sz="1500" dirty="0"/>
          </a:p>
        </p:txBody>
      </p:sp>
      <p:sp>
        <p:nvSpPr>
          <p:cNvPr id="21" name="Список"/>
          <p:cNvSpPr txBox="1"/>
          <p:nvPr/>
        </p:nvSpPr>
        <p:spPr>
          <a:xfrm>
            <a:off x="8493557" y="2395728"/>
            <a:ext cx="29208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вердикт и доказательства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рекомендация роли в «ВТБ Бизнес»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удостоверение со статусом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событие для антифрода</a:t>
            </a:r>
            <a:endParaRPr lang="ru-RU" sz="1250" dirty="0"/>
          </a:p>
        </p:txBody>
      </p:sp>
      <p:sp>
        <p:nvSpPr>
          <p:cNvPr id="22" name="Карточка"/>
          <p:cNvSpPr/>
          <p:nvPr/>
        </p:nvSpPr>
        <p:spPr>
          <a:xfrm>
            <a:off x="548640" y="4041648"/>
            <a:ext cx="543290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3" name="Круг значка"/>
          <p:cNvSpPr/>
          <p:nvPr/>
        </p:nvSpPr>
        <p:spPr>
          <a:xfrm>
            <a:off x="777240" y="4242816"/>
            <a:ext cx="384048" cy="384048"/>
          </a:xfrm>
          <a:prstGeom prst="ellipse">
            <a:avLst/>
          </a:prstGeom>
          <a:solidFill>
            <a:srgbClr val="1A9F68"/>
          </a:solidFill>
          <a:ln/>
        </p:spPr>
      </p:sp>
      <p:pic>
        <p:nvPicPr>
          <p:cNvPr id="2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31" y="4327307"/>
            <a:ext cx="215067" cy="21506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98448" y="4242816"/>
            <a:ext cx="4518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Работает сегодня</a:t>
            </a:r>
            <a:endParaRPr lang="ru-RU" sz="1500" dirty="0"/>
          </a:p>
        </p:txBody>
      </p:sp>
      <p:sp>
        <p:nvSpPr>
          <p:cNvPr id="26" name="Список"/>
          <p:cNvSpPr txBox="1"/>
          <p:nvPr/>
        </p:nvSpPr>
        <p:spPr>
          <a:xfrm>
            <a:off x="822960" y="4773168"/>
            <a:ext cx="49299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39 правил, 14 демо‑кейсов, CLI и HTTP API с ролями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разбор человеком: очередь P1–P3 и сроки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мониторинг событий, статусы удостоверений, журнал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1600 автотестов проходят; SBOM и подписанное происхождение сборки</a:t>
            </a:r>
            <a:endParaRPr lang="ru-RU" sz="1200" dirty="0"/>
          </a:p>
        </p:txBody>
      </p:sp>
      <p:sp>
        <p:nvSpPr>
          <p:cNvPr id="27" name="Карточка"/>
          <p:cNvSpPr/>
          <p:nvPr/>
        </p:nvSpPr>
        <p:spPr>
          <a:xfrm>
            <a:off x="6210148" y="4041648"/>
            <a:ext cx="543290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8" name="Круг значка"/>
          <p:cNvSpPr/>
          <p:nvPr/>
        </p:nvSpPr>
        <p:spPr>
          <a:xfrm>
            <a:off x="6438748" y="4242816"/>
            <a:ext cx="384048" cy="384048"/>
          </a:xfrm>
          <a:prstGeom prst="ellipse">
            <a:avLst/>
          </a:prstGeom>
          <a:solidFill>
            <a:srgbClr val="004CBC"/>
          </a:solidFill>
          <a:ln/>
        </p:spPr>
      </p:sp>
      <p:pic>
        <p:nvPicPr>
          <p:cNvPr id="2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238" y="4327307"/>
            <a:ext cx="215067" cy="21506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59956" y="4242816"/>
            <a:ext cx="4518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Подключаем в пилоте</a:t>
            </a:r>
            <a:endParaRPr lang="ru-RU" sz="1500" dirty="0"/>
          </a:p>
        </p:txBody>
      </p:sp>
      <p:sp>
        <p:nvSpPr>
          <p:cNvPr id="31" name="Список"/>
          <p:cNvSpPr txBox="1"/>
          <p:nvPr/>
        </p:nvSpPr>
        <p:spPr>
          <a:xfrm>
            <a:off x="6484468" y="4773168"/>
            <a:ext cx="49299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реестр МЧД, ЕГРЮЛ, ЕФРСБ — адаптеры к источникам банка через готовые порты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проверка КЭП и ГОСТ‑подпись — сертифицированные СКЗИ банка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ключи — HSM по PKCS#11; вход — OIDC банка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коды полномочий — выгрузка классификатора ЕСНСИ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БАНК БУДУЩЕГО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Дальше — один движок полномочий для сотрудника, клиента и ИИ‑агента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AP2 — Google, 16.09.2025 (M‑38); European Business Wallet — предложение Еврокомиссии 19.11.2025 (M‑39); привязка удостоверения к операции, сумме, получателю и nonce — src/mandat/audit/attestation.py, слайд A8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3515258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Плитка значка"/>
          <p:cNvSpPr/>
          <p:nvPr/>
        </p:nvSpPr>
        <p:spPr>
          <a:xfrm>
            <a:off x="777240" y="1792224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7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1900855"/>
            <a:ext cx="276515" cy="27651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755648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Сотрудник банка</a:t>
            </a:r>
            <a:endParaRPr lang="ru-RU" sz="1500" dirty="0"/>
          </a:p>
        </p:txBody>
      </p:sp>
      <p:sp>
        <p:nvSpPr>
          <p:cNvPr id="9" name="Этап: работает сегодня"/>
          <p:cNvSpPr/>
          <p:nvPr/>
        </p:nvSpPr>
        <p:spPr>
          <a:xfrm>
            <a:off x="1417320" y="2121408"/>
            <a:ext cx="1470355" cy="256032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17320" y="2121408"/>
            <a:ext cx="1470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000" b="1" dirty="0">
                <a:solidFill>
                  <a:srgbClr val="1A9F68"/>
                </a:solidFill>
              </a:rPr>
              <a:t>работает сегодня</a:t>
            </a:r>
            <a:endParaRPr lang="ru-RU" sz="1000" dirty="0"/>
          </a:p>
        </p:txBody>
      </p:sp>
      <p:sp>
        <p:nvSpPr>
          <p:cNvPr id="11" name="Список"/>
          <p:cNvSpPr txBox="1"/>
          <p:nvPr/>
        </p:nvSpPr>
        <p:spPr>
          <a:xfrm>
            <a:off x="822960" y="2651760"/>
            <a:ext cx="3012338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ru-RU" sz="1350" dirty="0">
                <a:solidFill>
                  <a:schemeClr val="tx1"/>
                </a:solidFill>
              </a:rPr>
              <a:t>вердикт на дату с нормой и полем документа</a:t>
            </a:r>
            <a:endParaRPr lang="ru-RU" sz="13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ru-RU" sz="1350" dirty="0">
                <a:solidFill>
                  <a:schemeClr val="tx1"/>
                </a:solidFill>
              </a:rPr>
              <a:t>досье спорного кейса с приоритетом и сроком</a:t>
            </a:r>
            <a:endParaRPr lang="ru-RU" sz="13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ru-RU" sz="1350" dirty="0">
                <a:solidFill>
                  <a:schemeClr val="tx1"/>
                </a:solidFill>
              </a:rPr>
              <a:t>журнал и удостоверение со статусом</a:t>
            </a:r>
            <a:endParaRPr lang="ru-RU" sz="1350" dirty="0"/>
          </a:p>
        </p:txBody>
      </p:sp>
      <p:sp>
        <p:nvSpPr>
          <p:cNvPr id="12" name="Стрелка"/>
          <p:cNvSpPr/>
          <p:nvPr/>
        </p:nvSpPr>
        <p:spPr>
          <a:xfrm>
            <a:off x="4100474" y="3195828"/>
            <a:ext cx="201168" cy="0"/>
          </a:xfrm>
          <a:prstGeom prst="line">
            <a:avLst/>
          </a:prstGeom>
          <a:noFill/>
          <a:ln w="2540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13" name="Карточка"/>
          <p:cNvSpPr/>
          <p:nvPr/>
        </p:nvSpPr>
        <p:spPr>
          <a:xfrm>
            <a:off x="4338218" y="1572768"/>
            <a:ext cx="3515258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4" name="Плитка значка"/>
          <p:cNvSpPr/>
          <p:nvPr/>
        </p:nvSpPr>
        <p:spPr>
          <a:xfrm>
            <a:off x="4566818" y="1792224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5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9" y="1900855"/>
            <a:ext cx="276515" cy="27651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06898" y="1755648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Клиент в «ВТБ Бизнес»</a:t>
            </a:r>
            <a:endParaRPr lang="ru-RU" sz="1500" dirty="0"/>
          </a:p>
        </p:txBody>
      </p:sp>
      <p:sp>
        <p:nvSpPr>
          <p:cNvPr id="17" name="Этап: после пилота"/>
          <p:cNvSpPr/>
          <p:nvPr/>
        </p:nvSpPr>
        <p:spPr>
          <a:xfrm>
            <a:off x="5206898" y="2121408"/>
            <a:ext cx="1185062" cy="256032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206898" y="2121408"/>
            <a:ext cx="11850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000" b="1" dirty="0">
                <a:solidFill>
                  <a:srgbClr val="004CBC"/>
                </a:solidFill>
              </a:rPr>
              <a:t>после пилота</a:t>
            </a:r>
            <a:endParaRPr lang="ru-RU" sz="1000" dirty="0"/>
          </a:p>
        </p:txBody>
      </p:sp>
      <p:sp>
        <p:nvSpPr>
          <p:cNvPr id="19" name="Список"/>
          <p:cNvSpPr txBox="1"/>
          <p:nvPr/>
        </p:nvSpPr>
        <p:spPr>
          <a:xfrm>
            <a:off x="4612538" y="2651760"/>
            <a:ext cx="3012338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ru-RU" sz="1350" dirty="0">
                <a:solidFill>
                  <a:schemeClr val="tx1"/>
                </a:solidFill>
              </a:rPr>
              <a:t>«Мои полномочия»: кто и до какого дня вправе действовать за компанию</a:t>
            </a:r>
            <a:endParaRPr lang="ru-RU" sz="13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ru-RU" sz="1350" dirty="0">
                <a:solidFill>
                  <a:schemeClr val="tx1"/>
                </a:solidFill>
              </a:rPr>
              <a:t>тревога при смене директора в ЕГРЮЛ — до первого платежа</a:t>
            </a:r>
            <a:endParaRPr lang="ru-RU" sz="13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ru-RU" sz="1350" dirty="0">
                <a:solidFill>
                  <a:schemeClr val="tx1"/>
                </a:solidFill>
              </a:rPr>
              <a:t>проверка подписанта контрагента перед сделкой</a:t>
            </a:r>
            <a:endParaRPr lang="ru-RU" sz="1350" dirty="0"/>
          </a:p>
        </p:txBody>
      </p:sp>
      <p:sp>
        <p:nvSpPr>
          <p:cNvPr id="20" name="Стрелка"/>
          <p:cNvSpPr/>
          <p:nvPr/>
        </p:nvSpPr>
        <p:spPr>
          <a:xfrm>
            <a:off x="7890053" y="3195828"/>
            <a:ext cx="201168" cy="0"/>
          </a:xfrm>
          <a:prstGeom prst="line">
            <a:avLst/>
          </a:prstGeom>
          <a:noFill/>
          <a:ln w="2540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21" name="Карточка"/>
          <p:cNvSpPr/>
          <p:nvPr/>
        </p:nvSpPr>
        <p:spPr>
          <a:xfrm>
            <a:off x="8127797" y="1572768"/>
            <a:ext cx="3515258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2" name="Плитка значка"/>
          <p:cNvSpPr/>
          <p:nvPr/>
        </p:nvSpPr>
        <p:spPr>
          <a:xfrm>
            <a:off x="8356397" y="1792224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2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028" y="1900855"/>
            <a:ext cx="276515" cy="27651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996477" y="1755648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bg1"/>
                </a:solidFill>
              </a:rPr>
              <a:t>ИИ‑агент клиента</a:t>
            </a:r>
            <a:endParaRPr lang="ru-RU" sz="1500" dirty="0"/>
          </a:p>
        </p:txBody>
      </p:sp>
      <p:sp>
        <p:nvSpPr>
          <p:cNvPr id="25" name="Этап: 2027–2028"/>
          <p:cNvSpPr/>
          <p:nvPr/>
        </p:nvSpPr>
        <p:spPr>
          <a:xfrm>
            <a:off x="8996477" y="2121408"/>
            <a:ext cx="971093" cy="256032"/>
          </a:xfrm>
          <a:prstGeom prst="roundRect">
            <a:avLst>
              <a:gd name="adj" fmla="val 50000"/>
            </a:avLst>
          </a:prstGeom>
          <a:solidFill>
            <a:srgbClr val="1D46A8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996477" y="2121408"/>
            <a:ext cx="971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000" b="1" dirty="0">
                <a:solidFill>
                  <a:srgbClr val="00AAFF"/>
                </a:solidFill>
              </a:rPr>
              <a:t>2027–2028</a:t>
            </a:r>
            <a:endParaRPr lang="ru-RU" sz="1000" dirty="0"/>
          </a:p>
        </p:txBody>
      </p:sp>
      <p:sp>
        <p:nvSpPr>
          <p:cNvPr id="27" name="Список"/>
          <p:cNvSpPr txBox="1"/>
          <p:nvPr/>
        </p:nvSpPr>
        <p:spPr>
          <a:xfrm>
            <a:off x="8402117" y="2651760"/>
            <a:ext cx="3012338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ru-RU" sz="1350" dirty="0">
                <a:solidFill>
                  <a:schemeClr val="bg1"/>
                </a:solidFill>
              </a:rPr>
              <a:t>агент платит по мандату: операция, сумма, получатель, срок</a:t>
            </a:r>
            <a:endParaRPr lang="ru-RU" sz="13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ru-RU" sz="1350" dirty="0">
                <a:solidFill>
                  <a:schemeClr val="bg1"/>
                </a:solidFill>
              </a:rPr>
              <a:t>банк проверяет мандат без доступа к базе и отзывает его по событию</a:t>
            </a:r>
            <a:endParaRPr lang="ru-RU" sz="13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ru-RU" sz="1350" dirty="0">
                <a:solidFill>
                  <a:schemeClr val="bg1"/>
                </a:solidFill>
              </a:rPr>
              <a:t>по образцу мандатов AP2: проверяемое удостоверение с пределами</a:t>
            </a:r>
            <a:endParaRPr lang="ru-RU" sz="1350" dirty="0"/>
          </a:p>
        </p:txBody>
      </p:sp>
      <p:sp>
        <p:nvSpPr>
          <p:cNvPr id="28" name="Плашка вывода"/>
          <p:cNvSpPr/>
          <p:nvPr/>
        </p:nvSpPr>
        <p:spPr>
          <a:xfrm>
            <a:off x="548640" y="5047488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9" name="Плитка значка"/>
          <p:cNvSpPr/>
          <p:nvPr/>
        </p:nvSpPr>
        <p:spPr>
          <a:xfrm>
            <a:off x="749808" y="53675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30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5468112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389888" y="5047488"/>
            <a:ext cx="99788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dirty="0">
                <a:solidFill>
                  <a:schemeClr val="bg1"/>
                </a:solidFill>
              </a:rPr>
              <a:t>Ядро уже умеет главное для этого шага: удостоверение «Мандата» привязано к операции, сумме, получателю и одноразовому номеру запроса и отзывается по событию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16</a:t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ПРЕДЛОЖЕНИЕ ВТБ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Предлагаем 6‑недельный теневой пилот на праве подписи платёжных поручений по МЧД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Теневой режим: «Мандат» проверяет те же пакеты, что и сотрудники, и не влияет на клиентов и выдачу прав. Формат совпадает с пилотами Акселератора ВТБ. docs/PILOT.md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3484778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accent1"/>
                </a:solidFill>
              </a:rPr>
              <a:t>Неделя 1</a:t>
            </a:r>
            <a:endParaRPr lang="ru-RU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48256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протокол, регламент операции, коды полномочий, пороги приёмки, куратор от владельца процесса</a:t>
            </a:r>
            <a:endParaRPr lang="ru-RU" sz="1250" dirty="0"/>
          </a:p>
        </p:txBody>
      </p:sp>
      <p:sp>
        <p:nvSpPr>
          <p:cNvPr id="8" name="Стрелка"/>
          <p:cNvSpPr/>
          <p:nvPr/>
        </p:nvSpPr>
        <p:spPr>
          <a:xfrm>
            <a:off x="4079138" y="2167128"/>
            <a:ext cx="228600" cy="0"/>
          </a:xfrm>
          <a:prstGeom prst="line">
            <a:avLst/>
          </a:prstGeom>
          <a:noFill/>
          <a:ln w="2540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9" name="Карточка"/>
          <p:cNvSpPr/>
          <p:nvPr/>
        </p:nvSpPr>
        <p:spPr>
          <a:xfrm>
            <a:off x="4353458" y="1572768"/>
            <a:ext cx="3484778" cy="1188720"/>
          </a:xfrm>
          <a:prstGeom prst="roundRect">
            <a:avLst>
              <a:gd name="adj" fmla="val 9231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82058" y="1719072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accent1"/>
                </a:solidFill>
              </a:rPr>
              <a:t>Недели 2–5</a:t>
            </a:r>
            <a:endParaRPr lang="ru-RU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82058" y="2048256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параллельная проверка тех же пакетов, журнал расхождений с решениями сотрудников</a:t>
            </a:r>
            <a:endParaRPr lang="ru-RU" sz="1250" dirty="0"/>
          </a:p>
        </p:txBody>
      </p:sp>
      <p:sp>
        <p:nvSpPr>
          <p:cNvPr id="12" name="Стрелка"/>
          <p:cNvSpPr/>
          <p:nvPr/>
        </p:nvSpPr>
        <p:spPr>
          <a:xfrm>
            <a:off x="7883957" y="2167128"/>
            <a:ext cx="228600" cy="0"/>
          </a:xfrm>
          <a:prstGeom prst="line">
            <a:avLst/>
          </a:prstGeom>
          <a:noFill/>
          <a:ln w="2540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13" name="Карточка"/>
          <p:cNvSpPr/>
          <p:nvPr/>
        </p:nvSpPr>
        <p:spPr>
          <a:xfrm>
            <a:off x="8158277" y="1572768"/>
            <a:ext cx="3484778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86877" y="1719072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accent1"/>
                </a:solidFill>
              </a:rPr>
              <a:t>Неделя 6</a:t>
            </a:r>
            <a:endParaRPr lang="ru-RU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86877" y="2048256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1"/>
                </a:solidFill>
              </a:rPr>
              <a:t>независимая разметка расхождений, замер, решение: продолжать или остановить</a:t>
            </a:r>
            <a:endParaRPr lang="ru-RU" sz="1250" dirty="0"/>
          </a:p>
        </p:txBody>
      </p:sp>
      <p:sp>
        <p:nvSpPr>
          <p:cNvPr id="16" name="Карточка"/>
          <p:cNvSpPr/>
          <p:nvPr/>
        </p:nvSpPr>
        <p:spPr>
          <a:xfrm>
            <a:off x="548640" y="2990088"/>
            <a:ext cx="543290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7" name="Плитка значка"/>
          <p:cNvSpPr/>
          <p:nvPr/>
        </p:nvSpPr>
        <p:spPr>
          <a:xfrm>
            <a:off x="777240" y="31912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8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77" y="3283793"/>
            <a:ext cx="235549" cy="235549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25880" y="3191256"/>
            <a:ext cx="44727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Критерии: продолжать или остановить</a:t>
            </a:r>
            <a:endParaRPr lang="ru-RU" sz="1500" dirty="0"/>
          </a:p>
        </p:txBody>
      </p:sp>
      <p:sp>
        <p:nvSpPr>
          <p:cNvPr id="20" name="Список"/>
          <p:cNvSpPr txBox="1"/>
          <p:nvPr/>
        </p:nvSpPr>
        <p:spPr>
          <a:xfrm>
            <a:off x="822960" y="3767328"/>
            <a:ext cx="49299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0 ложных «подтверждено» на всех кейсах — стоп‑критерий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доля «на разбор» не выше согласованного порога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согласие с экспертами (каппа Коэна) не ниже межэкспертного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все расхождения разобраны; проверка быстрее ручной</a:t>
            </a:r>
            <a:endParaRPr lang="ru-RU" sz="1300" dirty="0"/>
          </a:p>
        </p:txBody>
      </p:sp>
      <p:sp>
        <p:nvSpPr>
          <p:cNvPr id="21" name="Карточка"/>
          <p:cNvSpPr/>
          <p:nvPr/>
        </p:nvSpPr>
        <p:spPr>
          <a:xfrm>
            <a:off x="6210148" y="2990088"/>
            <a:ext cx="543290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2" name="Плитка значка"/>
          <p:cNvSpPr/>
          <p:nvPr/>
        </p:nvSpPr>
        <p:spPr>
          <a:xfrm>
            <a:off x="6438748" y="31912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285" y="3283793"/>
            <a:ext cx="235549" cy="235549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987388" y="3191256"/>
            <a:ext cx="44727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Что нужно от ВТБ</a:t>
            </a:r>
            <a:endParaRPr lang="ru-RU" sz="1500" dirty="0"/>
          </a:p>
        </p:txBody>
      </p:sp>
      <p:sp>
        <p:nvSpPr>
          <p:cNvPr id="25" name="Список"/>
          <p:cNvSpPr txBox="1"/>
          <p:nvPr/>
        </p:nvSpPr>
        <p:spPr>
          <a:xfrm>
            <a:off x="6484468" y="3767328"/>
            <a:ext cx="49299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владелец процесса и куратор пилота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регламент одной операции и типовые отказы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50–100 обезличенных пакетов или тестовый контур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юрист для правил; базовые цифры для расчёта эффекта</a:t>
            </a:r>
            <a:endParaRPr lang="ru-RU" sz="1300" dirty="0"/>
          </a:p>
        </p:txBody>
      </p:sp>
      <p:pic>
        <p:nvPicPr>
          <p:cNvPr id="26" name="Плашка запроса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50408"/>
            <a:ext cx="11094415" cy="594360"/>
          </a:xfrm>
          <a:prstGeom prst="rect">
            <a:avLst/>
          </a:prstGeom>
        </p:spPr>
      </p:pic>
      <p:sp>
        <p:nvSpPr>
          <p:cNvPr id="27" name="Плитка значка"/>
          <p:cNvSpPr/>
          <p:nvPr/>
        </p:nvSpPr>
        <p:spPr>
          <a:xfrm>
            <a:off x="777240" y="56189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28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719572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417320" y="5550408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bg1"/>
                </a:solidFill>
              </a:rPr>
              <a:t>Наш запрос: теневой пилот через Акселератор ВТБ с метриками, согласованными до старта</a:t>
            </a:r>
            <a:endParaRPr lang="ru-RU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17</a:t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КОМАНДА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Команда: архитектура правил и измерение качества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github.com/KonkovDV/Mandat · собственный код под лицензией MIT</a:t>
            </a:r>
            <a:endParaRPr lang="ru-RU" sz="1000" dirty="0"/>
          </a:p>
        </p:txBody>
      </p:sp>
      <p:sp>
        <p:nvSpPr>
          <p:cNvPr id="5" name="Карточка"/>
          <p:cNvSpPr/>
          <p:nvPr/>
        </p:nvSpPr>
        <p:spPr>
          <a:xfrm>
            <a:off x="548640" y="1572768"/>
            <a:ext cx="543290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6" name="Рамка фото"/>
          <p:cNvSpPr/>
          <p:nvPr/>
        </p:nvSpPr>
        <p:spPr>
          <a:xfrm>
            <a:off x="822960" y="1920240"/>
            <a:ext cx="1810512" cy="1810512"/>
          </a:xfrm>
          <a:prstGeom prst="ellipse">
            <a:avLst/>
          </a:prstGeom>
          <a:solidFill>
            <a:srgbClr val="E6F0FF"/>
          </a:solidFill>
          <a:ln w="31750">
            <a:solidFill>
              <a:srgbClr val="00AAFF"/>
            </a:solidFill>
            <a:prstDash val="solid"/>
          </a:ln>
        </p:spPr>
      </p:sp>
      <p:pic>
        <p:nvPicPr>
          <p:cNvPr id="7" name="Image 0" descr="Фото: Коньков Дмитри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02536"/>
            <a:ext cx="1645920" cy="1645920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926080" y="1984248"/>
            <a:ext cx="28268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900" b="1" dirty="0">
                <a:solidFill>
                  <a:schemeClr val="tx2"/>
                </a:solidFill>
              </a:rPr>
              <a:t>Коньков Дмитрий</a:t>
            </a:r>
            <a:endParaRPr lang="ru-RU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2395728"/>
            <a:ext cx="2826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b="1" dirty="0">
                <a:solidFill>
                  <a:schemeClr val="accent1"/>
                </a:solidFill>
              </a:rPr>
              <a:t>Капитан · архитектура и правила</a:t>
            </a:r>
            <a:endParaRPr lang="ru-RU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2871216"/>
            <a:ext cx="28268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Автор открытых проектов AeroBIM и SynAPS. Детерминированное ядро, граф полномочий, границы заявлений</a:t>
            </a:r>
            <a:endParaRPr lang="ru-RU" sz="1300" dirty="0"/>
          </a:p>
        </p:txBody>
      </p:sp>
      <p:sp>
        <p:nvSpPr>
          <p:cNvPr id="11" name="Карточка"/>
          <p:cNvSpPr/>
          <p:nvPr/>
        </p:nvSpPr>
        <p:spPr>
          <a:xfrm>
            <a:off x="6210148" y="1572768"/>
            <a:ext cx="543290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2" name="Рамка фото"/>
          <p:cNvSpPr/>
          <p:nvPr/>
        </p:nvSpPr>
        <p:spPr>
          <a:xfrm>
            <a:off x="6484468" y="1920240"/>
            <a:ext cx="1810512" cy="1810512"/>
          </a:xfrm>
          <a:prstGeom prst="ellipse">
            <a:avLst/>
          </a:prstGeom>
          <a:solidFill>
            <a:srgbClr val="E6F0FF"/>
          </a:solidFill>
          <a:ln w="31750">
            <a:solidFill>
              <a:srgbClr val="00AAFF"/>
            </a:solidFill>
            <a:prstDash val="solid"/>
          </a:ln>
        </p:spPr>
      </p:sp>
      <p:pic>
        <p:nvPicPr>
          <p:cNvPr id="13" name="Image 1" descr="Фото: Конькова Елен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764" y="2002536"/>
            <a:ext cx="1645920" cy="1645920"/>
          </a:xfrm>
          <a:prstGeom prst="ellipse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587588" y="1984248"/>
            <a:ext cx="28268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900" b="1" dirty="0">
                <a:solidFill>
                  <a:schemeClr val="tx2"/>
                </a:solidFill>
              </a:rPr>
              <a:t>Конькова Елена</a:t>
            </a:r>
            <a:endParaRPr lang="ru-RU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8587588" y="2395728"/>
            <a:ext cx="2826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b="1" dirty="0">
                <a:solidFill>
                  <a:schemeClr val="accent1"/>
                </a:solidFill>
              </a:rPr>
              <a:t>Системный инженер · измерение и качество</a:t>
            </a:r>
            <a:endParaRPr lang="ru-RU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587588" y="2871216"/>
            <a:ext cx="28268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Методика оценки, корпус и разметка, воспроизводимость сборки, протокол пилота</a:t>
            </a:r>
            <a:endParaRPr lang="ru-RU" sz="1300" dirty="0"/>
          </a:p>
        </p:txBody>
      </p:sp>
      <p:sp>
        <p:nvSpPr>
          <p:cNvPr id="17" name="Карточка"/>
          <p:cNvSpPr/>
          <p:nvPr/>
        </p:nvSpPr>
        <p:spPr>
          <a:xfrm>
            <a:off x="548640" y="4315968"/>
            <a:ext cx="5432908" cy="1828800"/>
          </a:xfrm>
          <a:prstGeom prst="roundRect">
            <a:avLst>
              <a:gd name="adj" fmla="val 6000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18" name="Плитка значка"/>
          <p:cNvSpPr/>
          <p:nvPr/>
        </p:nvSpPr>
        <p:spPr>
          <a:xfrm>
            <a:off x="777240" y="45445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pic>
        <p:nvPicPr>
          <p:cNvPr id="1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64515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4544568"/>
            <a:ext cx="442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Что получает банк</a:t>
            </a:r>
            <a:endParaRPr lang="ru-RU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138928"/>
            <a:ext cx="48842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проверенный набор правил, протокол измерений, итоги пилота и эталонную реализацию под MIT для передачи команде банка</a:t>
            </a:r>
            <a:endParaRPr lang="ru-RU" sz="1300" dirty="0"/>
          </a:p>
        </p:txBody>
      </p:sp>
      <p:sp>
        <p:nvSpPr>
          <p:cNvPr id="22" name="Карточка"/>
          <p:cNvSpPr/>
          <p:nvPr/>
        </p:nvSpPr>
        <p:spPr>
          <a:xfrm>
            <a:off x="6210148" y="4315968"/>
            <a:ext cx="5432908" cy="1828800"/>
          </a:xfrm>
          <a:prstGeom prst="roundRect">
            <a:avLst>
              <a:gd name="adj" fmla="val 6000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23" name="Плитка значка"/>
          <p:cNvSpPr/>
          <p:nvPr/>
        </p:nvSpPr>
        <p:spPr>
          <a:xfrm>
            <a:off x="6438748" y="45445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pic>
        <p:nvPicPr>
          <p:cNvPr id="2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332" y="464515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33108" y="4544568"/>
            <a:ext cx="442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Кого ищем в ВТБ</a:t>
            </a:r>
            <a:endParaRPr lang="ru-RU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484468" y="5138928"/>
            <a:ext cx="48842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владельца процесса добавления представителей юрлиц и юриста, который утвердит правила и окно «свежей» смены руководителя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Мандата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66928" cy="51206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54864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bg1"/>
                </a:solidFill>
              </a:rPr>
              <a:t>Команда «Мандат»</a:t>
            </a:r>
            <a:endParaRPr lang="ru-RU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417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600" b="1" dirty="0">
                <a:solidFill>
                  <a:schemeClr val="bg1"/>
                </a:solidFill>
              </a:rPr>
              <a:t>Спасибо! Готовы к теневому пилоту в ВТБ</a:t>
            </a:r>
            <a:endParaRPr lang="ru-RU" sz="3600" dirty="0"/>
          </a:p>
        </p:txBody>
      </p:sp>
      <p:sp>
        <p:nvSpPr>
          <p:cNvPr id="5" name="Плитка значка"/>
          <p:cNvSpPr/>
          <p:nvPr/>
        </p:nvSpPr>
        <p:spPr>
          <a:xfrm>
            <a:off x="548640" y="2798064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6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890601"/>
            <a:ext cx="235549" cy="23554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2743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bg1"/>
                </a:solidFill>
              </a:rPr>
              <a:t>Коньков Дмитрий, капитан</a:t>
            </a:r>
            <a:endParaRPr lang="ru-RU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3017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rgbClr val="CFE3FF"/>
                </a:solidFill>
              </a:rPr>
              <a:t>+7 915 452-88-64 · konkov-dmitrij@yandex.ru</a:t>
            </a:r>
            <a:endParaRPr lang="ru-RU" sz="1300" dirty="0"/>
          </a:p>
        </p:txBody>
      </p:sp>
      <p:sp>
        <p:nvSpPr>
          <p:cNvPr id="9" name="Плитка значка"/>
          <p:cNvSpPr/>
          <p:nvPr/>
        </p:nvSpPr>
        <p:spPr>
          <a:xfrm>
            <a:off x="548640" y="345643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10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548969"/>
            <a:ext cx="235549" cy="23554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4015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bg1"/>
                </a:solidFill>
              </a:rPr>
              <a:t>Конькова Елена, измерение и качество</a:t>
            </a:r>
            <a:endParaRPr lang="ru-RU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36758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rgbClr val="CFE3FF"/>
                </a:solidFill>
              </a:rPr>
              <a:t>konkovaelena@yandex.ru</a:t>
            </a:r>
            <a:endParaRPr lang="ru-RU" sz="1300" dirty="0"/>
          </a:p>
        </p:txBody>
      </p:sp>
      <p:sp>
        <p:nvSpPr>
          <p:cNvPr id="13" name="Плитка значка"/>
          <p:cNvSpPr/>
          <p:nvPr/>
        </p:nvSpPr>
        <p:spPr>
          <a:xfrm>
            <a:off x="548640" y="411480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1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4207337"/>
            <a:ext cx="235549" cy="23554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40599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bg1"/>
                </a:solidFill>
              </a:rPr>
              <a:t>Код и документация</a:t>
            </a:r>
            <a:endParaRPr lang="ru-RU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43342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rgbClr val="CFE3FF"/>
                </a:solidFill>
              </a:rPr>
              <a:t>github.com/KonkovDV/Mandat · собственный код под MIT</a:t>
            </a:r>
            <a:endParaRPr lang="ru-RU" sz="1300" dirty="0"/>
          </a:p>
        </p:txBody>
      </p:sp>
      <p:sp>
        <p:nvSpPr>
          <p:cNvPr id="17" name="Плашка просьбы"/>
          <p:cNvSpPr/>
          <p:nvPr/>
        </p:nvSpPr>
        <p:spPr>
          <a:xfrm>
            <a:off x="548640" y="4892040"/>
            <a:ext cx="61264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822960" y="489204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bg1"/>
                </a:solidFill>
              </a:rPr>
              <a:t>Ищем в ВТБ владельца процесса добавления представителей юрлиц — чтобы согласовать протокол пилота до финала 11 декабря</a:t>
            </a:r>
            <a:endParaRPr lang="ru-RU" sz="1400" dirty="0"/>
          </a:p>
        </p:txBody>
      </p:sp>
      <p:pic>
        <p:nvPicPr>
          <p:cNvPr id="19" name="Image 4" descr="Схема: источники сходятся в один вердикт на дату операци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411480"/>
            <a:ext cx="3931920" cy="3482558"/>
          </a:xfrm>
          <a:prstGeom prst="rect">
            <a:avLst/>
          </a:prstGeom>
        </p:spPr>
      </p:pic>
      <p:sp>
        <p:nvSpPr>
          <p:cNvPr id="20" name="Карточка QR-кода"/>
          <p:cNvSpPr/>
          <p:nvPr/>
        </p:nvSpPr>
        <p:spPr>
          <a:xfrm>
            <a:off x="8732520" y="4069080"/>
            <a:ext cx="16002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pic>
        <p:nvPicPr>
          <p:cNvPr id="21" name="Image 5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4251960"/>
            <a:ext cx="1234440" cy="123444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823960" y="55595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tx2"/>
                </a:solidFill>
              </a:rPr>
              <a:t>Код, демо и документы</a:t>
            </a:r>
            <a:endParaRPr lang="ru-RU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bg1"/>
                </a:solidFill>
              </a:rPr>
              <a:t>Приложение: ответы на вопросы жюри</a:t>
            </a:r>
            <a:endParaRPr lang="ru-RU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rgbClr val="CFE3FF"/>
                </a:solidFill>
              </a:rPr>
              <a:t>Нажмите на раздел, чтобы перейти; на каждом слайде есть ссылка назад</a:t>
            </a:r>
            <a:endParaRPr lang="ru-RU" sz="1300" dirty="0"/>
          </a:p>
        </p:txBody>
      </p:sp>
      <p:sp>
        <p:nvSpPr>
          <p:cNvPr id="4" name="Пункт оглавления A1"/>
          <p:cNvSpPr/>
          <p:nvPr/>
        </p:nvSpPr>
        <p:spPr>
          <a:xfrm>
            <a:off x="548640" y="19659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Номер A1"/>
          <p:cNvSpPr txBox="1"/>
          <p:nvPr/>
        </p:nvSpPr>
        <p:spPr>
          <a:xfrm>
            <a:off x="731520" y="1965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A1</a:t>
            </a:r>
            <a:endParaRPr lang="ru-RU" sz="1350" dirty="0"/>
          </a:p>
        </p:txBody>
      </p:sp>
      <p:sp>
        <p:nvSpPr>
          <p:cNvPr id="6" name="Пункт A1"/>
          <p:cNvSpPr txBox="1"/>
          <p:nvPr/>
        </p:nvSpPr>
        <p:spPr>
          <a:xfrm>
            <a:off x="1298448" y="19659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Семь взглядов на «Мандат»</a:t>
            </a:r>
            <a:endParaRPr lang="ru-RU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952848" y="19659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21 →</a:t>
            </a:r>
            <a:endParaRPr lang="ru-RU" sz="1100" dirty="0"/>
          </a:p>
        </p:txBody>
      </p:sp>
      <p:pic>
        <p:nvPicPr>
          <p:cNvPr id="8" name="Ссылка на слайд 21" descr="Переход: A1 Семь взглядов на «Мандат»">
            <a:hlinkClick r:id="rId2" tooltip="A1 Семь взглядов на «Мандат»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318608" cy="384048"/>
          </a:xfrm>
          <a:prstGeom prst="rect">
            <a:avLst/>
          </a:prstGeom>
        </p:spPr>
      </p:pic>
      <p:sp>
        <p:nvSpPr>
          <p:cNvPr id="9" name="Пункт оглавления A2"/>
          <p:cNvSpPr/>
          <p:nvPr/>
        </p:nvSpPr>
        <p:spPr>
          <a:xfrm>
            <a:off x="548640" y="24231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Номер A2"/>
          <p:cNvSpPr txBox="1"/>
          <p:nvPr/>
        </p:nvSpPr>
        <p:spPr>
          <a:xfrm>
            <a:off x="731520" y="2423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A2</a:t>
            </a:r>
            <a:endParaRPr lang="ru-RU" sz="1350" dirty="0"/>
          </a:p>
        </p:txBody>
      </p:sp>
      <p:sp>
        <p:nvSpPr>
          <p:cNvPr id="11" name="Пункт A2"/>
          <p:cNvSpPr txBox="1"/>
          <p:nvPr/>
        </p:nvSpPr>
        <p:spPr>
          <a:xfrm>
            <a:off x="1298448" y="24231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Критерии жюри</a:t>
            </a:r>
            <a:endParaRPr lang="ru-RU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952848" y="24231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22 →</a:t>
            </a:r>
            <a:endParaRPr lang="ru-RU" sz="1100" dirty="0"/>
          </a:p>
        </p:txBody>
      </p:sp>
      <p:pic>
        <p:nvPicPr>
          <p:cNvPr id="13" name="Ссылка на слайд 22" descr="Переход: A2 Критерии жюри">
            <a:hlinkClick r:id="rId4" tooltip="A2 Критерии жюри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5318608" cy="384048"/>
          </a:xfrm>
          <a:prstGeom prst="rect">
            <a:avLst/>
          </a:prstGeom>
        </p:spPr>
      </p:pic>
      <p:sp>
        <p:nvSpPr>
          <p:cNvPr id="14" name="Пункт оглавления A3"/>
          <p:cNvSpPr/>
          <p:nvPr/>
        </p:nvSpPr>
        <p:spPr>
          <a:xfrm>
            <a:off x="548640" y="28803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Номер A3"/>
          <p:cNvSpPr txBox="1"/>
          <p:nvPr/>
        </p:nvSpPr>
        <p:spPr>
          <a:xfrm>
            <a:off x="731520" y="2880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A3</a:t>
            </a:r>
            <a:endParaRPr lang="ru-RU" sz="1350" dirty="0"/>
          </a:p>
        </p:txBody>
      </p:sp>
      <p:sp>
        <p:nvSpPr>
          <p:cNvPr id="16" name="Пункт A3"/>
          <p:cNvSpPr txBox="1"/>
          <p:nvPr/>
        </p:nvSpPr>
        <p:spPr>
          <a:xfrm>
            <a:off x="1298448" y="28803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Прослеживаемость чисел</a:t>
            </a:r>
            <a:endParaRPr lang="ru-RU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4952848" y="28803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23 →</a:t>
            </a:r>
            <a:endParaRPr lang="ru-RU" sz="1100" dirty="0"/>
          </a:p>
        </p:txBody>
      </p:sp>
      <p:pic>
        <p:nvPicPr>
          <p:cNvPr id="18" name="Ссылка на слайд 23" descr="Переход: A3 Прослеживаемость чисел">
            <a:hlinkClick r:id="rId6" tooltip="A3 Прослеживаемость чисел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80360"/>
            <a:ext cx="5318608" cy="384048"/>
          </a:xfrm>
          <a:prstGeom prst="rect">
            <a:avLst/>
          </a:prstGeom>
        </p:spPr>
      </p:pic>
      <p:sp>
        <p:nvSpPr>
          <p:cNvPr id="19" name="Пункт оглавления A4"/>
          <p:cNvSpPr/>
          <p:nvPr/>
        </p:nvSpPr>
        <p:spPr>
          <a:xfrm>
            <a:off x="548640" y="33375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Номер A4"/>
          <p:cNvSpPr txBox="1"/>
          <p:nvPr/>
        </p:nvSpPr>
        <p:spPr>
          <a:xfrm>
            <a:off x="731520" y="3337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A4</a:t>
            </a:r>
            <a:endParaRPr lang="ru-RU" sz="1350" dirty="0"/>
          </a:p>
        </p:txBody>
      </p:sp>
      <p:sp>
        <p:nvSpPr>
          <p:cNvPr id="21" name="Пункт A4"/>
          <p:cNvSpPr txBox="1"/>
          <p:nvPr/>
        </p:nvSpPr>
        <p:spPr>
          <a:xfrm>
            <a:off x="1298448" y="33375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Путь сотрудника и клиента</a:t>
            </a:r>
            <a:endParaRPr lang="ru-RU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4952848" y="33375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24 →</a:t>
            </a:r>
            <a:endParaRPr lang="ru-RU" sz="1100" dirty="0"/>
          </a:p>
        </p:txBody>
      </p:sp>
      <p:pic>
        <p:nvPicPr>
          <p:cNvPr id="23" name="Ссылка на слайд 24" descr="Переход: A4 Путь сотрудника и клиента">
            <a:hlinkClick r:id="rId8" tooltip="A4 Путь сотрудника и клиента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337560"/>
            <a:ext cx="5318608" cy="384048"/>
          </a:xfrm>
          <a:prstGeom prst="rect">
            <a:avLst/>
          </a:prstGeom>
        </p:spPr>
      </p:pic>
      <p:sp>
        <p:nvSpPr>
          <p:cNvPr id="24" name="Пункт оглавления A5"/>
          <p:cNvSpPr/>
          <p:nvPr/>
        </p:nvSpPr>
        <p:spPr>
          <a:xfrm>
            <a:off x="548640" y="37947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Номер A5"/>
          <p:cNvSpPr txBox="1"/>
          <p:nvPr/>
        </p:nvSpPr>
        <p:spPr>
          <a:xfrm>
            <a:off x="731520" y="3794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A5</a:t>
            </a:r>
            <a:endParaRPr lang="ru-RU" sz="1350" dirty="0"/>
          </a:p>
        </p:txBody>
      </p:sp>
      <p:sp>
        <p:nvSpPr>
          <p:cNvPr id="26" name="Пункт A5"/>
          <p:cNvSpPr txBox="1"/>
          <p:nvPr/>
        </p:nvSpPr>
        <p:spPr>
          <a:xfrm>
            <a:off x="1298448" y="37947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Рынок и конкуренты</a:t>
            </a:r>
            <a:endParaRPr lang="ru-RU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4952848" y="37947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25 →</a:t>
            </a:r>
            <a:endParaRPr lang="ru-RU" sz="1100" dirty="0"/>
          </a:p>
        </p:txBody>
      </p:sp>
      <p:pic>
        <p:nvPicPr>
          <p:cNvPr id="28" name="Ссылка на слайд 25" descr="Переход: A5 Рынок и конкуренты">
            <a:hlinkClick r:id="rId10" tooltip="A5 Рынок и конкуренты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794760"/>
            <a:ext cx="5318608" cy="384048"/>
          </a:xfrm>
          <a:prstGeom prst="rect">
            <a:avLst/>
          </a:prstGeom>
        </p:spPr>
      </p:pic>
      <p:sp>
        <p:nvSpPr>
          <p:cNvPr id="29" name="Пункт оглавления A6"/>
          <p:cNvSpPr/>
          <p:nvPr/>
        </p:nvSpPr>
        <p:spPr>
          <a:xfrm>
            <a:off x="548640" y="42519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Номер A6"/>
          <p:cNvSpPr txBox="1"/>
          <p:nvPr/>
        </p:nvSpPr>
        <p:spPr>
          <a:xfrm>
            <a:off x="731520" y="4251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A6</a:t>
            </a:r>
            <a:endParaRPr lang="ru-RU" sz="1350" dirty="0"/>
          </a:p>
        </p:txBody>
      </p:sp>
      <p:sp>
        <p:nvSpPr>
          <p:cNvPr id="31" name="Пункт A6"/>
          <p:cNvSpPr txBox="1"/>
          <p:nvPr/>
        </p:nvSpPr>
        <p:spPr>
          <a:xfrm>
            <a:off x="1298448" y="42519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39 правил с нормой</a:t>
            </a:r>
            <a:endParaRPr lang="ru-RU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4952848" y="42519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26 →</a:t>
            </a:r>
            <a:endParaRPr lang="ru-RU" sz="1100" dirty="0"/>
          </a:p>
        </p:txBody>
      </p:sp>
      <p:pic>
        <p:nvPicPr>
          <p:cNvPr id="33" name="Ссылка на слайд 26" descr="Переход: A6 39 правил с нормой">
            <a:hlinkClick r:id="rId12" tooltip="A6 39 правил с нормой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251960"/>
            <a:ext cx="5318608" cy="384048"/>
          </a:xfrm>
          <a:prstGeom prst="rect">
            <a:avLst/>
          </a:prstGeom>
        </p:spPr>
      </p:pic>
      <p:sp>
        <p:nvSpPr>
          <p:cNvPr id="34" name="Пункт оглавления A7"/>
          <p:cNvSpPr/>
          <p:nvPr/>
        </p:nvSpPr>
        <p:spPr>
          <a:xfrm>
            <a:off x="548640" y="47091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Номер A7"/>
          <p:cNvSpPr txBox="1"/>
          <p:nvPr/>
        </p:nvSpPr>
        <p:spPr>
          <a:xfrm>
            <a:off x="731520" y="4709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A7</a:t>
            </a:r>
            <a:endParaRPr lang="ru-RU" sz="1350" dirty="0"/>
          </a:p>
        </p:txBody>
      </p:sp>
      <p:sp>
        <p:nvSpPr>
          <p:cNvPr id="36" name="Пункт A7"/>
          <p:cNvSpPr txBox="1"/>
          <p:nvPr/>
        </p:nvSpPr>
        <p:spPr>
          <a:xfrm>
            <a:off x="1298448" y="47091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Пять норм ручной сверки</a:t>
            </a:r>
            <a:endParaRPr lang="ru-RU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4952848" y="47091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27 →</a:t>
            </a:r>
            <a:endParaRPr lang="ru-RU" sz="1100" dirty="0"/>
          </a:p>
        </p:txBody>
      </p:sp>
      <p:pic>
        <p:nvPicPr>
          <p:cNvPr id="38" name="Ссылка на слайд 27" descr="Переход: A7 Пять норм ручной сверки">
            <a:hlinkClick r:id="rId14" tooltip="A7 Пять норм ручной сверки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4709160"/>
            <a:ext cx="5318608" cy="384048"/>
          </a:xfrm>
          <a:prstGeom prst="rect">
            <a:avLst/>
          </a:prstGeom>
        </p:spPr>
      </p:pic>
      <p:sp>
        <p:nvSpPr>
          <p:cNvPr id="39" name="Пункт оглавления A8"/>
          <p:cNvSpPr/>
          <p:nvPr/>
        </p:nvSpPr>
        <p:spPr>
          <a:xfrm>
            <a:off x="548640" y="51663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0" name="Номер A8"/>
          <p:cNvSpPr txBox="1"/>
          <p:nvPr/>
        </p:nvSpPr>
        <p:spPr>
          <a:xfrm>
            <a:off x="731520" y="5166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A8</a:t>
            </a:r>
            <a:endParaRPr lang="ru-RU" sz="1350" dirty="0"/>
          </a:p>
        </p:txBody>
      </p:sp>
      <p:sp>
        <p:nvSpPr>
          <p:cNvPr id="41" name="Пункт A8"/>
          <p:cNvSpPr txBox="1"/>
          <p:nvPr/>
        </p:nvSpPr>
        <p:spPr>
          <a:xfrm>
            <a:off x="1298448" y="51663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Доверие без доступа к базе</a:t>
            </a:r>
            <a:endParaRPr lang="ru-RU" sz="1350" dirty="0"/>
          </a:p>
        </p:txBody>
      </p:sp>
      <p:sp>
        <p:nvSpPr>
          <p:cNvPr id="42" name="Text 33"/>
          <p:cNvSpPr txBox="1"/>
          <p:nvPr/>
        </p:nvSpPr>
        <p:spPr>
          <a:xfrm>
            <a:off x="4952848" y="51663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28 →</a:t>
            </a:r>
            <a:endParaRPr lang="ru-RU" sz="1100" dirty="0"/>
          </a:p>
        </p:txBody>
      </p:sp>
      <p:pic>
        <p:nvPicPr>
          <p:cNvPr id="43" name="Ссылка на слайд 28" descr="Переход: A8 Доверие без доступа к базе">
            <a:hlinkClick r:id="rId16" tooltip="A8 Доверие без доступа к базе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640" y="5166360"/>
            <a:ext cx="5318608" cy="384048"/>
          </a:xfrm>
          <a:prstGeom prst="rect">
            <a:avLst/>
          </a:prstGeom>
        </p:spPr>
      </p:pic>
      <p:sp>
        <p:nvSpPr>
          <p:cNvPr id="44" name="Пункт оглавления A9"/>
          <p:cNvSpPr/>
          <p:nvPr/>
        </p:nvSpPr>
        <p:spPr>
          <a:xfrm>
            <a:off x="548640" y="56235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5" name="Номер A9"/>
          <p:cNvSpPr txBox="1"/>
          <p:nvPr/>
        </p:nvSpPr>
        <p:spPr>
          <a:xfrm>
            <a:off x="731520" y="5623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A9</a:t>
            </a:r>
            <a:endParaRPr lang="ru-RU" sz="1350" dirty="0"/>
          </a:p>
        </p:txBody>
      </p:sp>
      <p:sp>
        <p:nvSpPr>
          <p:cNvPr id="46" name="Пункт A9"/>
          <p:cNvSpPr txBox="1"/>
          <p:nvPr/>
        </p:nvSpPr>
        <p:spPr>
          <a:xfrm>
            <a:off x="1298448" y="56235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Методика измерения качества</a:t>
            </a:r>
            <a:endParaRPr lang="ru-RU" sz="1350" dirty="0"/>
          </a:p>
        </p:txBody>
      </p:sp>
      <p:sp>
        <p:nvSpPr>
          <p:cNvPr id="47" name="Text 37"/>
          <p:cNvSpPr txBox="1"/>
          <p:nvPr/>
        </p:nvSpPr>
        <p:spPr>
          <a:xfrm>
            <a:off x="4952848" y="56235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29 →</a:t>
            </a:r>
            <a:endParaRPr lang="ru-RU" sz="1100" dirty="0"/>
          </a:p>
        </p:txBody>
      </p:sp>
      <p:pic>
        <p:nvPicPr>
          <p:cNvPr id="48" name="Ссылка на слайд 29" descr="Переход: A9 Методика измерения качества">
            <a:hlinkClick r:id="rId18" tooltip="A9 Методика измерения качества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8640" y="5623560"/>
            <a:ext cx="5318608" cy="384048"/>
          </a:xfrm>
          <a:prstGeom prst="rect">
            <a:avLst/>
          </a:prstGeom>
        </p:spPr>
      </p:pic>
      <p:sp>
        <p:nvSpPr>
          <p:cNvPr id="49" name="Пункт оглавления A10"/>
          <p:cNvSpPr/>
          <p:nvPr/>
        </p:nvSpPr>
        <p:spPr>
          <a:xfrm>
            <a:off x="6324448" y="19659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0" name="Номер A10"/>
          <p:cNvSpPr txBox="1"/>
          <p:nvPr/>
        </p:nvSpPr>
        <p:spPr>
          <a:xfrm>
            <a:off x="6507328" y="1965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A10</a:t>
            </a:r>
            <a:endParaRPr lang="ru-RU" sz="1350" dirty="0"/>
          </a:p>
        </p:txBody>
      </p:sp>
      <p:sp>
        <p:nvSpPr>
          <p:cNvPr id="51" name="Пункт A10"/>
          <p:cNvSpPr txBox="1"/>
          <p:nvPr/>
        </p:nvSpPr>
        <p:spPr>
          <a:xfrm>
            <a:off x="7074256" y="19659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Информационная безопасность</a:t>
            </a:r>
            <a:endParaRPr lang="ru-RU" sz="1350" dirty="0"/>
          </a:p>
        </p:txBody>
      </p:sp>
      <p:sp>
        <p:nvSpPr>
          <p:cNvPr id="52" name="Text 41"/>
          <p:cNvSpPr txBox="1"/>
          <p:nvPr/>
        </p:nvSpPr>
        <p:spPr>
          <a:xfrm>
            <a:off x="10728655" y="19659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30 →</a:t>
            </a:r>
            <a:endParaRPr lang="ru-RU" sz="1100" dirty="0"/>
          </a:p>
        </p:txBody>
      </p:sp>
      <p:pic>
        <p:nvPicPr>
          <p:cNvPr id="53" name="Ссылка на слайд 30" descr="Переход: A10 Информационная безопасность">
            <a:hlinkClick r:id="rId20" tooltip="A10 Информационная безопасность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448" y="1965960"/>
            <a:ext cx="5318608" cy="384048"/>
          </a:xfrm>
          <a:prstGeom prst="rect">
            <a:avLst/>
          </a:prstGeom>
        </p:spPr>
      </p:pic>
      <p:sp>
        <p:nvSpPr>
          <p:cNvPr id="54" name="Пункт оглавления A11"/>
          <p:cNvSpPr/>
          <p:nvPr/>
        </p:nvSpPr>
        <p:spPr>
          <a:xfrm>
            <a:off x="6324448" y="24231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5" name="Номер A11"/>
          <p:cNvSpPr txBox="1"/>
          <p:nvPr/>
        </p:nvSpPr>
        <p:spPr>
          <a:xfrm>
            <a:off x="6507328" y="2423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A11</a:t>
            </a:r>
            <a:endParaRPr lang="ru-RU" sz="1350" dirty="0"/>
          </a:p>
        </p:txBody>
      </p:sp>
      <p:sp>
        <p:nvSpPr>
          <p:cNvPr id="56" name="Пункт A11"/>
          <p:cNvSpPr txBox="1"/>
          <p:nvPr/>
        </p:nvSpPr>
        <p:spPr>
          <a:xfrm>
            <a:off x="7074256" y="24231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Риски и как их снимаем</a:t>
            </a:r>
            <a:endParaRPr lang="ru-RU" sz="1350" dirty="0"/>
          </a:p>
        </p:txBody>
      </p:sp>
      <p:sp>
        <p:nvSpPr>
          <p:cNvPr id="57" name="Text 45"/>
          <p:cNvSpPr txBox="1"/>
          <p:nvPr/>
        </p:nvSpPr>
        <p:spPr>
          <a:xfrm>
            <a:off x="10728655" y="24231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31 →</a:t>
            </a:r>
            <a:endParaRPr lang="ru-RU" sz="1100" dirty="0"/>
          </a:p>
        </p:txBody>
      </p:sp>
      <p:pic>
        <p:nvPicPr>
          <p:cNvPr id="58" name="Ссылка на слайд 31" descr="Переход: A11 Риски и как их снимаем">
            <a:hlinkClick r:id="rId22" tooltip="A11 Риски и как их снимаем" action="ppaction://hlinksldjump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448" y="2423160"/>
            <a:ext cx="5318608" cy="384048"/>
          </a:xfrm>
          <a:prstGeom prst="rect">
            <a:avLst/>
          </a:prstGeom>
        </p:spPr>
      </p:pic>
      <p:sp>
        <p:nvSpPr>
          <p:cNvPr id="59" name="Пункт оглавления A12"/>
          <p:cNvSpPr/>
          <p:nvPr/>
        </p:nvSpPr>
        <p:spPr>
          <a:xfrm>
            <a:off x="6324448" y="28803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0" name="Номер A12"/>
          <p:cNvSpPr txBox="1"/>
          <p:nvPr/>
        </p:nvSpPr>
        <p:spPr>
          <a:xfrm>
            <a:off x="6507328" y="2880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A12</a:t>
            </a:r>
            <a:endParaRPr lang="ru-RU" sz="1350" dirty="0"/>
          </a:p>
        </p:txBody>
      </p:sp>
      <p:sp>
        <p:nvSpPr>
          <p:cNvPr id="61" name="Пункт A12"/>
          <p:cNvSpPr txBox="1"/>
          <p:nvPr/>
        </p:nvSpPr>
        <p:spPr>
          <a:xfrm>
            <a:off x="7074256" y="28803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Расчёт эффекта</a:t>
            </a:r>
            <a:endParaRPr lang="ru-RU" sz="1350" dirty="0"/>
          </a:p>
        </p:txBody>
      </p:sp>
      <p:sp>
        <p:nvSpPr>
          <p:cNvPr id="62" name="Text 49"/>
          <p:cNvSpPr txBox="1"/>
          <p:nvPr/>
        </p:nvSpPr>
        <p:spPr>
          <a:xfrm>
            <a:off x="10728655" y="28803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32 →</a:t>
            </a:r>
            <a:endParaRPr lang="ru-RU" sz="1100" dirty="0"/>
          </a:p>
        </p:txBody>
      </p:sp>
      <p:pic>
        <p:nvPicPr>
          <p:cNvPr id="63" name="Ссылка на слайд 32" descr="Переход: A12 Расчёт эффекта">
            <a:hlinkClick r:id="rId24" tooltip="A12 Расчёт эффекта" action="ppaction://hlinksldjump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448" y="2880360"/>
            <a:ext cx="5318608" cy="384048"/>
          </a:xfrm>
          <a:prstGeom prst="rect">
            <a:avLst/>
          </a:prstGeom>
        </p:spPr>
      </p:pic>
      <p:sp>
        <p:nvSpPr>
          <p:cNvPr id="64" name="Пункт оглавления A13"/>
          <p:cNvSpPr/>
          <p:nvPr/>
        </p:nvSpPr>
        <p:spPr>
          <a:xfrm>
            <a:off x="6324448" y="33375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5" name="Номер A13"/>
          <p:cNvSpPr txBox="1"/>
          <p:nvPr/>
        </p:nvSpPr>
        <p:spPr>
          <a:xfrm>
            <a:off x="6507328" y="3337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A13</a:t>
            </a:r>
            <a:endParaRPr lang="ru-RU" sz="1350" dirty="0"/>
          </a:p>
        </p:txBody>
      </p:sp>
      <p:sp>
        <p:nvSpPr>
          <p:cNvPr id="66" name="Пункт A13"/>
          <p:cNvSpPr txBox="1"/>
          <p:nvPr/>
        </p:nvSpPr>
        <p:spPr>
          <a:xfrm>
            <a:off x="7074256" y="33375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Реальные кейсы</a:t>
            </a:r>
            <a:endParaRPr lang="ru-RU" sz="1350" dirty="0"/>
          </a:p>
        </p:txBody>
      </p:sp>
      <p:sp>
        <p:nvSpPr>
          <p:cNvPr id="67" name="Text 53"/>
          <p:cNvSpPr txBox="1"/>
          <p:nvPr/>
        </p:nvSpPr>
        <p:spPr>
          <a:xfrm>
            <a:off x="10728655" y="33375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33 →</a:t>
            </a:r>
            <a:endParaRPr lang="ru-RU" sz="1100" dirty="0"/>
          </a:p>
        </p:txBody>
      </p:sp>
      <p:pic>
        <p:nvPicPr>
          <p:cNvPr id="68" name="Ссылка на слайд 33" descr="Переход: A13 Реальные кейсы">
            <a:hlinkClick r:id="rId26" tooltip="A13 Реальные кейсы" action="ppaction://hlinksldjump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448" y="3337560"/>
            <a:ext cx="5318608" cy="384048"/>
          </a:xfrm>
          <a:prstGeom prst="rect">
            <a:avLst/>
          </a:prstGeom>
        </p:spPr>
      </p:pic>
      <p:sp>
        <p:nvSpPr>
          <p:cNvPr id="69" name="Пункт оглавления A14"/>
          <p:cNvSpPr/>
          <p:nvPr/>
        </p:nvSpPr>
        <p:spPr>
          <a:xfrm>
            <a:off x="6324448" y="37947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0" name="Номер A14"/>
          <p:cNvSpPr txBox="1"/>
          <p:nvPr/>
        </p:nvSpPr>
        <p:spPr>
          <a:xfrm>
            <a:off x="6507328" y="3794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A14</a:t>
            </a:r>
            <a:endParaRPr lang="ru-RU" sz="1350" dirty="0"/>
          </a:p>
        </p:txBody>
      </p:sp>
      <p:sp>
        <p:nvSpPr>
          <p:cNvPr id="71" name="Пункт A14"/>
          <p:cNvSpPr txBox="1"/>
          <p:nvPr/>
        </p:nvSpPr>
        <p:spPr>
          <a:xfrm>
            <a:off x="7074256" y="37947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Открытые стандарты и SOTA 2026</a:t>
            </a:r>
            <a:endParaRPr lang="ru-RU" sz="1350" dirty="0"/>
          </a:p>
        </p:txBody>
      </p:sp>
      <p:sp>
        <p:nvSpPr>
          <p:cNvPr id="72" name="Text 57"/>
          <p:cNvSpPr txBox="1"/>
          <p:nvPr/>
        </p:nvSpPr>
        <p:spPr>
          <a:xfrm>
            <a:off x="10728655" y="37947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34 →</a:t>
            </a:r>
            <a:endParaRPr lang="ru-RU" sz="1100" dirty="0"/>
          </a:p>
        </p:txBody>
      </p:sp>
      <p:pic>
        <p:nvPicPr>
          <p:cNvPr id="73" name="Ссылка на слайд 34" descr="Переход: A14 Открытые стандарты и SOTA 2026">
            <a:hlinkClick r:id="rId28" tooltip="A14 Открытые стандарты и SOTA 2026" action="ppaction://hlinksldjump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448" y="3794760"/>
            <a:ext cx="5318608" cy="384048"/>
          </a:xfrm>
          <a:prstGeom prst="rect">
            <a:avLst/>
          </a:prstGeom>
        </p:spPr>
      </p:pic>
      <p:sp>
        <p:nvSpPr>
          <p:cNvPr id="74" name="Пункт оглавления A15"/>
          <p:cNvSpPr/>
          <p:nvPr/>
        </p:nvSpPr>
        <p:spPr>
          <a:xfrm>
            <a:off x="6324448" y="42519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5" name="Номер A15"/>
          <p:cNvSpPr txBox="1"/>
          <p:nvPr/>
        </p:nvSpPr>
        <p:spPr>
          <a:xfrm>
            <a:off x="6507328" y="4251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A15</a:t>
            </a:r>
            <a:endParaRPr lang="ru-RU" sz="1350" dirty="0"/>
          </a:p>
        </p:txBody>
      </p:sp>
      <p:sp>
        <p:nvSpPr>
          <p:cNvPr id="76" name="Пункт A15"/>
          <p:cNvSpPr txBox="1"/>
          <p:nvPr/>
        </p:nvSpPr>
        <p:spPr>
          <a:xfrm>
            <a:off x="7074256" y="42519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Трудные вопросы (1/2)</a:t>
            </a:r>
            <a:endParaRPr lang="ru-RU" sz="1350" dirty="0"/>
          </a:p>
        </p:txBody>
      </p:sp>
      <p:sp>
        <p:nvSpPr>
          <p:cNvPr id="77" name="Text 61"/>
          <p:cNvSpPr txBox="1"/>
          <p:nvPr/>
        </p:nvSpPr>
        <p:spPr>
          <a:xfrm>
            <a:off x="10728655" y="42519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35 →</a:t>
            </a:r>
            <a:endParaRPr lang="ru-RU" sz="1100" dirty="0"/>
          </a:p>
        </p:txBody>
      </p:sp>
      <p:pic>
        <p:nvPicPr>
          <p:cNvPr id="78" name="Ссылка на слайд 35" descr="">
            <a:extLst>
              <a:ext uri="{C183D7F6-B498-43B3-948B-1728B52AA6E4}">
                <adec:decorative xmlns:adec="http://schemas.microsoft.com/office/drawing/2017/decorative" val="1"/>
              </a:ext>
            </a:extLst>
            <a:hlinkClick r:id="rId30" tooltip="A15 Трудные вопросы (1/2)" action="ppaction://hlinksldjump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24448" y="4251960"/>
            <a:ext cx="5318608" cy="384048"/>
          </a:xfrm>
          <a:prstGeom prst="rect">
            <a:avLst/>
          </a:prstGeom>
        </p:spPr>
      </p:pic>
      <p:sp>
        <p:nvSpPr>
          <p:cNvPr id="79" name="Пункт оглавления A16"/>
          <p:cNvSpPr/>
          <p:nvPr/>
        </p:nvSpPr>
        <p:spPr>
          <a:xfrm>
            <a:off x="6324448" y="47091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0" name="Номер A16"/>
          <p:cNvSpPr txBox="1"/>
          <p:nvPr/>
        </p:nvSpPr>
        <p:spPr>
          <a:xfrm>
            <a:off x="6507328" y="4709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A16</a:t>
            </a:r>
            <a:endParaRPr lang="ru-RU" sz="1350" dirty="0"/>
          </a:p>
        </p:txBody>
      </p:sp>
      <p:sp>
        <p:nvSpPr>
          <p:cNvPr id="81" name="Пункт A16"/>
          <p:cNvSpPr txBox="1"/>
          <p:nvPr/>
        </p:nvSpPr>
        <p:spPr>
          <a:xfrm>
            <a:off x="7074256" y="47091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Трудные вопросы (2/2)</a:t>
            </a:r>
            <a:endParaRPr lang="ru-RU" sz="1350" dirty="0"/>
          </a:p>
        </p:txBody>
      </p:sp>
      <p:sp>
        <p:nvSpPr>
          <p:cNvPr id="82" name="Text 65"/>
          <p:cNvSpPr txBox="1"/>
          <p:nvPr/>
        </p:nvSpPr>
        <p:spPr>
          <a:xfrm>
            <a:off x="10728655" y="47091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36 →</a:t>
            </a:r>
            <a:endParaRPr lang="ru-RU" sz="1100" dirty="0"/>
          </a:p>
        </p:txBody>
      </p:sp>
      <p:pic>
        <p:nvPicPr>
          <p:cNvPr id="83" name="Ссылка на слайд 36" descr="">
            <a:extLst>
              <a:ext uri="{C183D7F6-B498-43B3-948B-1728B52AA6E4}">
                <adec:decorative xmlns:adec="http://schemas.microsoft.com/office/drawing/2017/decorative" val="1"/>
              </a:ext>
            </a:extLst>
            <a:hlinkClick r:id="rId32" tooltip="A16 Трудные вопросы (2/2)" action="ppaction://hlinksldjump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24448" y="4709160"/>
            <a:ext cx="5318608" cy="384048"/>
          </a:xfrm>
          <a:prstGeom prst="rect">
            <a:avLst/>
          </a:prstGeom>
        </p:spPr>
      </p:pic>
      <p:sp>
        <p:nvSpPr>
          <p:cNvPr id="84" name="Пункт оглавления A17"/>
          <p:cNvSpPr/>
          <p:nvPr/>
        </p:nvSpPr>
        <p:spPr>
          <a:xfrm>
            <a:off x="6324448" y="51663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5" name="Номер A17"/>
          <p:cNvSpPr txBox="1"/>
          <p:nvPr/>
        </p:nvSpPr>
        <p:spPr>
          <a:xfrm>
            <a:off x="6507328" y="5166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A17</a:t>
            </a:r>
            <a:endParaRPr lang="ru-RU" sz="1350" dirty="0"/>
          </a:p>
        </p:txBody>
      </p:sp>
      <p:sp>
        <p:nvSpPr>
          <p:cNvPr id="86" name="Пункт A17"/>
          <p:cNvSpPr txBox="1"/>
          <p:nvPr/>
        </p:nvSpPr>
        <p:spPr>
          <a:xfrm>
            <a:off x="7074256" y="51663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Нормативная база</a:t>
            </a:r>
            <a:endParaRPr lang="ru-RU" sz="1350" dirty="0"/>
          </a:p>
        </p:txBody>
      </p:sp>
      <p:sp>
        <p:nvSpPr>
          <p:cNvPr id="87" name="Text 69"/>
          <p:cNvSpPr txBox="1"/>
          <p:nvPr/>
        </p:nvSpPr>
        <p:spPr>
          <a:xfrm>
            <a:off x="10728655" y="51663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37 →</a:t>
            </a:r>
            <a:endParaRPr lang="ru-RU" sz="1100" dirty="0"/>
          </a:p>
        </p:txBody>
      </p:sp>
      <p:pic>
        <p:nvPicPr>
          <p:cNvPr id="88" name="Ссылка на слайд 37" descr="Переход: A17 Нормативная база">
            <a:hlinkClick r:id="rId34" tooltip="A17 Нормативная база" action="ppaction://hlinksldjump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24448" y="5166360"/>
            <a:ext cx="5318608" cy="384048"/>
          </a:xfrm>
          <a:prstGeom prst="rect">
            <a:avLst/>
          </a:prstGeom>
        </p:spPr>
      </p:pic>
      <p:sp>
        <p:nvSpPr>
          <p:cNvPr id="89" name="Пункт оглавления A18"/>
          <p:cNvSpPr/>
          <p:nvPr/>
        </p:nvSpPr>
        <p:spPr>
          <a:xfrm>
            <a:off x="6324448" y="5623560"/>
            <a:ext cx="5318608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0" name="Номер A18"/>
          <p:cNvSpPr txBox="1"/>
          <p:nvPr/>
        </p:nvSpPr>
        <p:spPr>
          <a:xfrm>
            <a:off x="6507328" y="5623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rgbClr val="00AAFF"/>
                </a:solidFill>
              </a:rPr>
              <a:t>A18</a:t>
            </a:r>
            <a:endParaRPr lang="ru-RU" sz="1350" dirty="0"/>
          </a:p>
        </p:txBody>
      </p:sp>
      <p:sp>
        <p:nvSpPr>
          <p:cNvPr id="91" name="Пункт A18"/>
          <p:cNvSpPr txBox="1"/>
          <p:nvPr/>
        </p:nvSpPr>
        <p:spPr>
          <a:xfrm>
            <a:off x="7074256" y="5623560"/>
            <a:ext cx="371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dirty="0">
                <a:solidFill>
                  <a:srgbClr val="FFFFFF"/>
                </a:solidFill>
              </a:rPr>
              <a:t>Дорожная карта</a:t>
            </a:r>
            <a:endParaRPr lang="ru-RU" sz="1350" dirty="0"/>
          </a:p>
        </p:txBody>
      </p:sp>
      <p:sp>
        <p:nvSpPr>
          <p:cNvPr id="92" name="Text 73"/>
          <p:cNvSpPr txBox="1"/>
          <p:nvPr/>
        </p:nvSpPr>
        <p:spPr>
          <a:xfrm>
            <a:off x="10728655" y="56235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CFE3FF"/>
                </a:solidFill>
              </a:rPr>
              <a:t>с. 38 →</a:t>
            </a:r>
            <a:endParaRPr lang="ru-RU" sz="1100" dirty="0"/>
          </a:p>
        </p:txBody>
      </p:sp>
      <p:pic>
        <p:nvPicPr>
          <p:cNvPr id="93" name="Ссылка на слайд 38" descr="Переход: A18 Дорожная карта">
            <a:hlinkClick r:id="rId36" tooltip="A18 Дорожная карта" action="ppaction://hlinksldjump"/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24448" y="5623560"/>
            <a:ext cx="531860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A1 · ВРАЖДЕБНЫЙ РАЗБОР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Семь взглядов на «Мандат»: главное возражение каждой роли и наш ответ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docs/audit/MURDER_BOARD-2026-10-20.md (банкир, юрист, правовед, безопасник, ИБ, пользователь, Red Team); docs/audit/AUDIT-2026-10-27-DIFFERENTIAL.md; docs/JURY.md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sp>
        <p:nvSpPr>
          <p:cNvPr id="7" name="Карточка"/>
          <p:cNvSpPr/>
          <p:nvPr/>
        </p:nvSpPr>
        <p:spPr>
          <a:xfrm>
            <a:off x="548640" y="1572768"/>
            <a:ext cx="2636444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8" name="Плитка значка"/>
          <p:cNvSpPr/>
          <p:nvPr/>
        </p:nvSpPr>
        <p:spPr>
          <a:xfrm>
            <a:off x="731520" y="17373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11" y="1821851"/>
            <a:ext cx="215067" cy="21506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07008" y="17373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Банкир</a:t>
            </a:r>
            <a:endParaRPr lang="ru-RU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21284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i="1" dirty="0">
                <a:solidFill>
                  <a:schemeClr val="accent1"/>
                </a:solidFill>
              </a:rPr>
              <a:t>«Сколько экономит и не вырастет ли очередь?»</a:t>
            </a:r>
            <a:endParaRPr lang="ru-RU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706624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Базовый сценарий: 75 ставок и 140 млн ₽ ущерба в год, окупаемость — 7,5 месяца. У очереди разбора приоритеты P1–P3 и сроки; порог доли «на разбор» — критерий пилота</a:t>
            </a:r>
            <a:endParaRPr lang="ru-RU" sz="1100" dirty="0"/>
          </a:p>
        </p:txBody>
      </p:sp>
      <p:sp>
        <p:nvSpPr>
          <p:cNvPr id="13" name="Карточка"/>
          <p:cNvSpPr/>
          <p:nvPr/>
        </p:nvSpPr>
        <p:spPr>
          <a:xfrm>
            <a:off x="3367964" y="1572768"/>
            <a:ext cx="2636444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4" name="Плитка значка"/>
          <p:cNvSpPr/>
          <p:nvPr/>
        </p:nvSpPr>
        <p:spPr>
          <a:xfrm>
            <a:off x="3550844" y="17373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5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334" y="1821851"/>
            <a:ext cx="215067" cy="215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26332" y="17373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Юрист банка</a:t>
            </a:r>
            <a:endParaRPr lang="ru-RU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3550844" y="221284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i="1" dirty="0">
                <a:solidFill>
                  <a:schemeClr val="accent1"/>
                </a:solidFill>
              </a:rPr>
              <a:t>«Кто отвечает за норму в правиле?»</a:t>
            </a:r>
            <a:endParaRPr lang="ru-RU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3550844" y="2706624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У каждого правила — норма, тест и статус. Юрист банка утверждает правила в первую неделю пилота; до утверждения строгий профиль не выдаёт по черновику ни «да», ни «нет»</a:t>
            </a:r>
            <a:endParaRPr lang="ru-RU" sz="1100" dirty="0"/>
          </a:p>
        </p:txBody>
      </p:sp>
      <p:sp>
        <p:nvSpPr>
          <p:cNvPr id="19" name="Карточка"/>
          <p:cNvSpPr/>
          <p:nvPr/>
        </p:nvSpPr>
        <p:spPr>
          <a:xfrm>
            <a:off x="6187288" y="1572768"/>
            <a:ext cx="2636444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0" name="Плитка значка"/>
          <p:cNvSpPr/>
          <p:nvPr/>
        </p:nvSpPr>
        <p:spPr>
          <a:xfrm>
            <a:off x="6370168" y="17373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1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4658" y="1821851"/>
            <a:ext cx="215067" cy="215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45656" y="17373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Правовед</a:t>
            </a:r>
            <a:endParaRPr lang="ru-RU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370168" y="221284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i="1" dirty="0">
                <a:solidFill>
                  <a:schemeClr val="accent1"/>
                </a:solidFill>
              </a:rPr>
              <a:t>«Полномочие — правоотношение на дату»</a:t>
            </a:r>
            <a:endParaRPr lang="ru-RU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370168" y="2706624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Так и смоделировано: граф на дату операции (ст. 185–189 ГК РФ). Полномочие из обстановки (ст. 182) вне модели: без документа «да» нет</a:t>
            </a:r>
            <a:endParaRPr lang="ru-RU" sz="1100" dirty="0"/>
          </a:p>
        </p:txBody>
      </p:sp>
      <p:sp>
        <p:nvSpPr>
          <p:cNvPr id="25" name="Карточка"/>
          <p:cNvSpPr/>
          <p:nvPr/>
        </p:nvSpPr>
        <p:spPr>
          <a:xfrm>
            <a:off x="9006611" y="1572768"/>
            <a:ext cx="2636444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6" name="Плитка значка"/>
          <p:cNvSpPr/>
          <p:nvPr/>
        </p:nvSpPr>
        <p:spPr>
          <a:xfrm>
            <a:off x="9189491" y="17373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7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3982" y="1821851"/>
            <a:ext cx="215067" cy="21506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664979" y="17373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ИБ банка</a:t>
            </a:r>
            <a:endParaRPr lang="ru-RU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9189491" y="221284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i="1" dirty="0">
                <a:solidFill>
                  <a:schemeClr val="accent1"/>
                </a:solidFill>
              </a:rPr>
              <a:t>«Ed25519, а не ГОСТ; root перепишет журнал»</a:t>
            </a:r>
            <a:endParaRPr lang="ru-RU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9189491" y="2706624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Ключ — в HSM, Vault или KMS; ГОСТ — через СКЗИ банка. Без внешнего якоря журнала pilot и prod не стартуют</a:t>
            </a:r>
            <a:endParaRPr lang="ru-RU" sz="1100" dirty="0"/>
          </a:p>
        </p:txBody>
      </p:sp>
      <p:sp>
        <p:nvSpPr>
          <p:cNvPr id="31" name="Карточка"/>
          <p:cNvSpPr/>
          <p:nvPr/>
        </p:nvSpPr>
        <p:spPr>
          <a:xfrm>
            <a:off x="548640" y="3950208"/>
            <a:ext cx="2636444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2" name="Плитка значка"/>
          <p:cNvSpPr/>
          <p:nvPr/>
        </p:nvSpPr>
        <p:spPr>
          <a:xfrm>
            <a:off x="731520" y="41148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3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011" y="4199291"/>
            <a:ext cx="215067" cy="215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207008" y="411480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Антифрод</a:t>
            </a:r>
            <a:endParaRPr lang="ru-RU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731520" y="459028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i="1" dirty="0">
                <a:solidFill>
                  <a:schemeClr val="accent1"/>
                </a:solidFill>
              </a:rPr>
              <a:t>«Подставной представитель с действующей МЧД»</a:t>
            </a:r>
            <a:endParaRPr lang="ru-RU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731520" y="5084064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Проверяем полномочие, а не намерение. Признаки ОД‑2506 — в антифроде банка; ему уходят подписанные события</a:t>
            </a:r>
            <a:endParaRPr lang="ru-RU" sz="1100" dirty="0"/>
          </a:p>
        </p:txBody>
      </p:sp>
      <p:sp>
        <p:nvSpPr>
          <p:cNvPr id="37" name="Карточка"/>
          <p:cNvSpPr/>
          <p:nvPr/>
        </p:nvSpPr>
        <p:spPr>
          <a:xfrm>
            <a:off x="3367964" y="3950208"/>
            <a:ext cx="2636444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8" name="Плитка значка"/>
          <p:cNvSpPr/>
          <p:nvPr/>
        </p:nvSpPr>
        <p:spPr>
          <a:xfrm>
            <a:off x="3550844" y="41148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5334" y="4199291"/>
            <a:ext cx="215067" cy="215067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4026332" y="411480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Сотрудник и клиент</a:t>
            </a:r>
            <a:endParaRPr lang="ru-RU" sz="1350" dirty="0"/>
          </a:p>
        </p:txBody>
      </p:sp>
      <p:sp>
        <p:nvSpPr>
          <p:cNvPr id="41" name="Text 32"/>
          <p:cNvSpPr txBox="1"/>
          <p:nvPr/>
        </p:nvSpPr>
        <p:spPr>
          <a:xfrm>
            <a:off x="3550844" y="459028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i="1" dirty="0">
                <a:solidFill>
                  <a:schemeClr val="accent1"/>
                </a:solidFill>
              </a:rPr>
              <a:t>«Всё сходится — почему „на разбор“?»</a:t>
            </a:r>
            <a:endParaRPr lang="ru-RU" sz="1150" dirty="0"/>
          </a:p>
        </p:txBody>
      </p:sp>
      <p:sp>
        <p:nvSpPr>
          <p:cNvPr id="42" name="Text 33"/>
          <p:cNvSpPr txBox="1"/>
          <p:nvPr/>
        </p:nvSpPr>
        <p:spPr>
          <a:xfrm>
            <a:off x="3550844" y="5084064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Карточка показывает сильнейшее возражение и следующий шаг; клиент получает список недостающего и может оспорить ответ</a:t>
            </a:r>
            <a:endParaRPr lang="ru-RU" sz="1100" dirty="0"/>
          </a:p>
        </p:txBody>
      </p:sp>
      <p:sp>
        <p:nvSpPr>
          <p:cNvPr id="43" name="Карточка"/>
          <p:cNvSpPr/>
          <p:nvPr/>
        </p:nvSpPr>
        <p:spPr>
          <a:xfrm>
            <a:off x="6187288" y="3950208"/>
            <a:ext cx="2636444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44" name="Плитка значка"/>
          <p:cNvSpPr/>
          <p:nvPr/>
        </p:nvSpPr>
        <p:spPr>
          <a:xfrm>
            <a:off x="6370168" y="41148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45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4658" y="4199291"/>
            <a:ext cx="215067" cy="215067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6845656" y="411480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tx2"/>
                </a:solidFill>
              </a:rPr>
              <a:t>Жюри</a:t>
            </a:r>
            <a:endParaRPr lang="ru-RU" sz="1350" dirty="0"/>
          </a:p>
        </p:txBody>
      </p:sp>
      <p:sp>
        <p:nvSpPr>
          <p:cNvPr id="47" name="Text 37"/>
          <p:cNvSpPr txBox="1"/>
          <p:nvPr/>
        </p:nvSpPr>
        <p:spPr>
          <a:xfrm>
            <a:off x="6370168" y="4590288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i="1" dirty="0">
                <a:solidFill>
                  <a:schemeClr val="accent1"/>
                </a:solidFill>
              </a:rPr>
              <a:t>«0 ложных „да“ — это точность 100%?»</a:t>
            </a:r>
            <a:endParaRPr lang="ru-RU" sz="1150" dirty="0"/>
          </a:p>
        </p:txBody>
      </p:sp>
      <p:sp>
        <p:nvSpPr>
          <p:cNvPr id="48" name="Text 38"/>
          <p:cNvSpPr txBox="1"/>
          <p:nvPr/>
        </p:nvSpPr>
        <p:spPr>
          <a:xfrm>
            <a:off x="6370168" y="5084064"/>
            <a:ext cx="22706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Это проверка логики на 288 кейсах‑ловушках: ни одной ошибки, верхняя граница 1,3%. На потоке ВТБ ту же метрику даёт пилот — со стоп‑критерием</a:t>
            </a:r>
            <a:endParaRPr lang="ru-RU" sz="1100" dirty="0"/>
          </a:p>
        </p:txBody>
      </p:sp>
      <p:sp>
        <p:nvSpPr>
          <p:cNvPr id="49" name="Карточка"/>
          <p:cNvSpPr/>
          <p:nvPr/>
        </p:nvSpPr>
        <p:spPr>
          <a:xfrm>
            <a:off x="9006611" y="3950208"/>
            <a:ext cx="2636444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50" name="Плитка значка"/>
          <p:cNvSpPr/>
          <p:nvPr/>
        </p:nvSpPr>
        <p:spPr>
          <a:xfrm>
            <a:off x="9189491" y="413308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51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3982" y="4217579"/>
            <a:ext cx="215067" cy="215067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9664979" y="4133088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50" b="1" dirty="0">
                <a:solidFill>
                  <a:schemeClr val="bg1"/>
                </a:solidFill>
              </a:rPr>
              <a:t>Полный разбор</a:t>
            </a:r>
            <a:endParaRPr lang="ru-RU" sz="1350" dirty="0"/>
          </a:p>
        </p:txBody>
      </p:sp>
      <p:sp>
        <p:nvSpPr>
          <p:cNvPr id="53" name="Text 42"/>
          <p:cNvSpPr txBox="1"/>
          <p:nvPr/>
        </p:nvSpPr>
        <p:spPr>
          <a:xfrm>
            <a:off x="9189491" y="4636008"/>
            <a:ext cx="22706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CFE3FF"/>
                </a:solidFill>
              </a:rPr>
              <a:t>Позиции, находки, статусы и тесты, которые их держат, — в docs/audit. Числа — только из реестра утверждений с командой воспроизведения</a:t>
            </a:r>
            <a:endParaRPr lang="ru-RU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21</a:t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A2 · КРИТЕРИИ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Критерии жюри — где в проекте ответ на каждый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Критерии трека MVP по Положению «Академии Финтеха» (шкала 0–2; по открытым источникам) и тема трека ВТБ «Финтех без границ: банк будущего для бизнеса и клиентов»; docs/research/REQUIREMENTS_MATRIX.md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graphicFrame>
        <p:nvGraphicFramePr>
          <p:cNvPr id="23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1920240"/>
                <a:gridCol w="313913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Критерий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 показываем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Где в колоде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Чем проверить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Готовность MVP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демо одной командой, 14 демо‑кейсов, CLI, HTTP API, Docker, видео‑демо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слайды 8, 9, 15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./run-demo.sh; docker compose в CI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Техническая реализация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39 правил с нормой и тестом, журнал Меркла, удостоверения со статусом, Cedar, сверка с внешними эталонами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слайды 5, 7, 10; A3, A8, A9, A14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1600 автотестов; evidence.json; AUDIT-2026-10-27-DIFFERENTIAL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Потенциал пилота в ВТБ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ВТБ сам продаёт комплект МЧД и КЭП; порты под реестр, ЕГРЮЛ, ЕФРСБ и СКЗИ; теневой режим без влияния на клиентов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слайды 13, 15, 17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docs/PILOT.md: теневой режим 6 недель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Бизнес‑модель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лицензия в контуре банка и подписка на правила; окупаемость для ВТБ — 7,5 месяца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слайд 12; A12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финансовая модель пакета аналитики; C‑15, C‑16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Тема трека: банк будущего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один движок полномочий для сотрудника, клиента и ИИ‑агента; мировая практика и реальные кейсы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слайды 14, 16; A13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M‑35–M‑39 реестра утверждений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Презентация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ответ сначала, демо в 4 шага, ответы на трудные вопросы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слайды 2, 8; A15, A16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docs/JURY.md; submission/deck/PROMPT.md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22</a:t>
            </a:fld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A3 · ПРОСЛЕЖИВАЕМОСТЬ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Каждое число на слайдах — с командой воспроизведения или источником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CLAIMS_REGISTRY.md — номера строк C-xx и M-xx; числа о продукте подставляются в колоду из evidence.json при сборке (make deck)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graphicFrame>
        <p:nvGraphicFramePr>
          <p:cNvPr id="24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91840"/>
                <a:gridCol w="4206240"/>
                <a:gridCol w="112745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Число на слайдах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 значит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Как воспроизвести или где источник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Строка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 из 288; 1,3%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ложные «подтверждено» и верхняя граница 95%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mandat eval --per-defect 6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C‑03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294 / 294; 49 видов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совпадение с ожидаемым вердиктом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то же; отложенный seed — synthetic_corpus_holdout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C‑03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38,8% / 61%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доля без человека / доля к человеку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то же; в профиле strict — 0%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C‑05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8 814 мутаций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ни одного ложного «да» и ни одного падения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python -m pytest tests/test_redteam_fuzz.py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C‑17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384 цепочки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передоверие не расширяет полномочия; Cedar совпал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pytest tests/test_properties.py tests/test_cedar.py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C‑06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≈2,9 мс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медиана проверки кейса без сети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python scripts/bench.py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C‑14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1600 автотестов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все автотесты проходят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python -m pytest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C‑13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33–167 ставок; 42–281 млн ₽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сценарии эффекта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python scripts/effect_model.py --scenarios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C‑15, C‑16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7,5 месяца; 2,4×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окупаемость и отдача для ВТБ, базовый сценарий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python submission/analytics/build_model.py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модель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≈1,07 млн ₽; 831 млн ₽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потери юрлиц во II кв. 2026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обзор Банка России, таблица по юрлицам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M‑07, M‑15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более 5 млн МЧД; ×3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реестр МЧД ФНС и рост за два года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nalog.gov.ru, 27.07.2026; emchd.ru, 10.2024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M‑08, M‑10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23</a:t>
            </a:fld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A4 · ПОЛЬЗОВАТЕЛЬ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Путь сотрудника и клиента: от ручной сводки трёх источников к одному ответу с доказательством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Шаги «сегодня» — по описанию процесса в открытых источниках и docs/MVP.md; время на кейс измеряется хронометражем в пилоте (C‑15). Пользовательские истории US-08 и US-09 — docs/MVP.md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sp>
        <p:nvSpPr>
          <p:cNvPr id="7" name="Карточка"/>
          <p:cNvSpPr/>
          <p:nvPr/>
        </p:nvSpPr>
        <p:spPr>
          <a:xfrm>
            <a:off x="548640" y="1572768"/>
            <a:ext cx="11094415" cy="2171700"/>
          </a:xfrm>
          <a:prstGeom prst="roundRect">
            <a:avLst>
              <a:gd name="adj" fmla="val 505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8" name="Плитка значка"/>
          <p:cNvSpPr/>
          <p:nvPr/>
        </p:nvSpPr>
        <p:spPr>
          <a:xfrm>
            <a:off x="777240" y="1801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1F6"/>
          </a:solidFill>
          <a:ln/>
        </p:spPr>
      </p:sp>
      <p:pic>
        <p:nvPicPr>
          <p:cNvPr id="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9019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Сегодня, вручную</a:t>
            </a:r>
            <a:endParaRPr lang="ru-RU" sz="1500" dirty="0"/>
          </a:p>
        </p:txBody>
      </p:sp>
      <p:sp>
        <p:nvSpPr>
          <p:cNvPr id="11" name="Карточка"/>
          <p:cNvSpPr/>
          <p:nvPr/>
        </p:nvSpPr>
        <p:spPr>
          <a:xfrm>
            <a:off x="777240" y="2414016"/>
            <a:ext cx="1907987" cy="868680"/>
          </a:xfrm>
          <a:prstGeom prst="roundRect">
            <a:avLst>
              <a:gd name="adj" fmla="val 10526"/>
            </a:avLst>
          </a:prstGeom>
          <a:solidFill>
            <a:srgbClr val="F3F6FB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86968" y="2414016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42557A"/>
                </a:solidFill>
              </a:rPr>
              <a:t>клиент приносит МЧД</a:t>
            </a:r>
            <a:endParaRPr lang="ru-RU" sz="1200" dirty="0"/>
          </a:p>
        </p:txBody>
      </p:sp>
      <p:sp>
        <p:nvSpPr>
          <p:cNvPr id="13" name="Стрелка"/>
          <p:cNvSpPr/>
          <p:nvPr/>
        </p:nvSpPr>
        <p:spPr>
          <a:xfrm>
            <a:off x="2712659" y="2848356"/>
            <a:ext cx="219456" cy="0"/>
          </a:xfrm>
          <a:prstGeom prst="line">
            <a:avLst/>
          </a:prstGeom>
          <a:noFill/>
          <a:ln w="19050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14" name="Карточка"/>
          <p:cNvSpPr/>
          <p:nvPr/>
        </p:nvSpPr>
        <p:spPr>
          <a:xfrm>
            <a:off x="2959547" y="2414016"/>
            <a:ext cx="1907987" cy="868680"/>
          </a:xfrm>
          <a:prstGeom prst="roundRect">
            <a:avLst>
              <a:gd name="adj" fmla="val 10526"/>
            </a:avLst>
          </a:prstGeom>
          <a:solidFill>
            <a:srgbClr val="F3F6FB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69275" y="2414016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42557A"/>
                </a:solidFill>
              </a:rPr>
              <a:t>сотрудник проверяет статус в реестре</a:t>
            </a:r>
            <a:endParaRPr lang="ru-RU" sz="1200" dirty="0"/>
          </a:p>
        </p:txBody>
      </p:sp>
      <p:sp>
        <p:nvSpPr>
          <p:cNvPr id="16" name="Стрелка"/>
          <p:cNvSpPr/>
          <p:nvPr/>
        </p:nvSpPr>
        <p:spPr>
          <a:xfrm>
            <a:off x="4894966" y="2848356"/>
            <a:ext cx="219456" cy="0"/>
          </a:xfrm>
          <a:prstGeom prst="line">
            <a:avLst/>
          </a:prstGeom>
          <a:noFill/>
          <a:ln w="19050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17" name="Карточка"/>
          <p:cNvSpPr/>
          <p:nvPr/>
        </p:nvSpPr>
        <p:spPr>
          <a:xfrm>
            <a:off x="5141854" y="2414016"/>
            <a:ext cx="1907987" cy="868680"/>
          </a:xfrm>
          <a:prstGeom prst="roundRect">
            <a:avLst>
              <a:gd name="adj" fmla="val 10526"/>
            </a:avLst>
          </a:prstGeom>
          <a:solidFill>
            <a:srgbClr val="F3F6FB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251582" y="2414016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42557A"/>
                </a:solidFill>
              </a:rPr>
              <a:t>запрашивает выписку ЕГРЮЛ</a:t>
            </a:r>
            <a:endParaRPr lang="ru-RU" sz="1200" dirty="0"/>
          </a:p>
        </p:txBody>
      </p:sp>
      <p:sp>
        <p:nvSpPr>
          <p:cNvPr id="19" name="Стрелка"/>
          <p:cNvSpPr/>
          <p:nvPr/>
        </p:nvSpPr>
        <p:spPr>
          <a:xfrm>
            <a:off x="7077273" y="2848356"/>
            <a:ext cx="219456" cy="0"/>
          </a:xfrm>
          <a:prstGeom prst="line">
            <a:avLst/>
          </a:prstGeom>
          <a:noFill/>
          <a:ln w="19050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20" name="Карточка"/>
          <p:cNvSpPr/>
          <p:nvPr/>
        </p:nvSpPr>
        <p:spPr>
          <a:xfrm>
            <a:off x="7324161" y="2414016"/>
            <a:ext cx="1907987" cy="868680"/>
          </a:xfrm>
          <a:prstGeom prst="roundRect">
            <a:avLst>
              <a:gd name="adj" fmla="val 10526"/>
            </a:avLst>
          </a:prstGeom>
          <a:solidFill>
            <a:srgbClr val="F3F6FB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433889" y="2414016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42557A"/>
                </a:solidFill>
              </a:rPr>
              <a:t>читает устав, при сомнении — к юристу</a:t>
            </a:r>
            <a:endParaRPr lang="ru-RU" sz="1200" dirty="0"/>
          </a:p>
        </p:txBody>
      </p:sp>
      <p:sp>
        <p:nvSpPr>
          <p:cNvPr id="22" name="Стрелка"/>
          <p:cNvSpPr/>
          <p:nvPr/>
        </p:nvSpPr>
        <p:spPr>
          <a:xfrm>
            <a:off x="9259580" y="2848356"/>
            <a:ext cx="219456" cy="0"/>
          </a:xfrm>
          <a:prstGeom prst="line">
            <a:avLst/>
          </a:prstGeom>
          <a:noFill/>
          <a:ln w="19050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23" name="Карточка"/>
          <p:cNvSpPr/>
          <p:nvPr/>
        </p:nvSpPr>
        <p:spPr>
          <a:xfrm>
            <a:off x="9506468" y="2414016"/>
            <a:ext cx="1907987" cy="868680"/>
          </a:xfrm>
          <a:prstGeom prst="roundRect">
            <a:avLst>
              <a:gd name="adj" fmla="val 10526"/>
            </a:avLst>
          </a:prstGeom>
          <a:solidFill>
            <a:srgbClr val="F3F6FB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616196" y="2414016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42557A"/>
                </a:solidFill>
              </a:rPr>
              <a:t>решение без записи оснований</a:t>
            </a:r>
            <a:endParaRPr lang="ru-RU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822960" y="3374136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A3161B"/>
                </a:solidFill>
              </a:rPr>
              <a:t>Пробел: </a:t>
            </a:r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A3161B"/>
                </a:solidFill>
              </a:rPr>
              <a:t>между обращениями смену директора никто не видит</a:t>
            </a:r>
            <a:endParaRPr lang="ru-RU" sz="1200" dirty="0"/>
          </a:p>
        </p:txBody>
      </p:sp>
      <p:sp>
        <p:nvSpPr>
          <p:cNvPr id="26" name="Карточка"/>
          <p:cNvSpPr/>
          <p:nvPr/>
        </p:nvSpPr>
        <p:spPr>
          <a:xfrm>
            <a:off x="548640" y="3973068"/>
            <a:ext cx="11094415" cy="2171700"/>
          </a:xfrm>
          <a:prstGeom prst="roundRect">
            <a:avLst>
              <a:gd name="adj" fmla="val 5053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7" name="Плитка значка"/>
          <p:cNvSpPr/>
          <p:nvPr/>
        </p:nvSpPr>
        <p:spPr>
          <a:xfrm>
            <a:off x="777240" y="42016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pic>
        <p:nvPicPr>
          <p:cNvPr id="28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302252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71600" y="42016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С «Мандатом»</a:t>
            </a:r>
            <a:endParaRPr lang="ru-RU" sz="1500" dirty="0"/>
          </a:p>
        </p:txBody>
      </p:sp>
      <p:sp>
        <p:nvSpPr>
          <p:cNvPr id="30" name="Карточка"/>
          <p:cNvSpPr/>
          <p:nvPr/>
        </p:nvSpPr>
        <p:spPr>
          <a:xfrm>
            <a:off x="777240" y="4814316"/>
            <a:ext cx="1907987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86968" y="4814316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0A2973"/>
                </a:solidFill>
              </a:rPr>
              <a:t>клиент передаёт пакет</a:t>
            </a:r>
            <a:endParaRPr lang="ru-RU" sz="1200" dirty="0"/>
          </a:p>
        </p:txBody>
      </p:sp>
      <p:sp>
        <p:nvSpPr>
          <p:cNvPr id="32" name="Стрелка"/>
          <p:cNvSpPr/>
          <p:nvPr/>
        </p:nvSpPr>
        <p:spPr>
          <a:xfrm>
            <a:off x="2712659" y="5248656"/>
            <a:ext cx="21945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33" name="Карточка"/>
          <p:cNvSpPr/>
          <p:nvPr/>
        </p:nvSpPr>
        <p:spPr>
          <a:xfrm>
            <a:off x="2959547" y="4814316"/>
            <a:ext cx="1907987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069275" y="4814316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0A2973"/>
                </a:solidFill>
              </a:rPr>
              <a:t>граф полномочий на дату — за миллисекунды</a:t>
            </a:r>
            <a:endParaRPr lang="ru-RU" sz="1200" dirty="0"/>
          </a:p>
        </p:txBody>
      </p:sp>
      <p:sp>
        <p:nvSpPr>
          <p:cNvPr id="35" name="Стрелка"/>
          <p:cNvSpPr/>
          <p:nvPr/>
        </p:nvSpPr>
        <p:spPr>
          <a:xfrm>
            <a:off x="4894966" y="5248656"/>
            <a:ext cx="21945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36" name="Карточка"/>
          <p:cNvSpPr/>
          <p:nvPr/>
        </p:nvSpPr>
        <p:spPr>
          <a:xfrm>
            <a:off x="5141854" y="4814316"/>
            <a:ext cx="1907987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251582" y="4814316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0A2973"/>
                </a:solidFill>
              </a:rPr>
              <a:t>вердикт с нормой и полем документа</a:t>
            </a:r>
            <a:endParaRPr lang="ru-RU" sz="1200" dirty="0"/>
          </a:p>
        </p:txBody>
      </p:sp>
      <p:sp>
        <p:nvSpPr>
          <p:cNvPr id="38" name="Стрелка"/>
          <p:cNvSpPr/>
          <p:nvPr/>
        </p:nvSpPr>
        <p:spPr>
          <a:xfrm>
            <a:off x="7077273" y="5248656"/>
            <a:ext cx="21945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39" name="Карточка"/>
          <p:cNvSpPr/>
          <p:nvPr/>
        </p:nvSpPr>
        <p:spPr>
          <a:xfrm>
            <a:off x="7324161" y="4814316"/>
            <a:ext cx="1907987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433889" y="4814316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0A2973"/>
                </a:solidFill>
              </a:rPr>
              <a:t>спорное — досье с приоритетом и сроком</a:t>
            </a:r>
            <a:endParaRPr lang="ru-RU" sz="1200" dirty="0"/>
          </a:p>
        </p:txBody>
      </p:sp>
      <p:sp>
        <p:nvSpPr>
          <p:cNvPr id="41" name="Стрелка"/>
          <p:cNvSpPr/>
          <p:nvPr/>
        </p:nvSpPr>
        <p:spPr>
          <a:xfrm>
            <a:off x="9259580" y="5248656"/>
            <a:ext cx="21945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42" name="Карточка"/>
          <p:cNvSpPr/>
          <p:nvPr/>
        </p:nvSpPr>
        <p:spPr>
          <a:xfrm>
            <a:off x="9506468" y="4814316"/>
            <a:ext cx="1907987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9616196" y="4814316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0A2973"/>
                </a:solidFill>
              </a:rPr>
              <a:t>решение в журнале, удостоверение со статусом</a:t>
            </a:r>
            <a:endParaRPr lang="ru-RU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822960" y="5774436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004CBC"/>
                </a:solidFill>
              </a:rPr>
              <a:t>Дальше: </a:t>
            </a:r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rgbClr val="004CBC"/>
                </a:solidFill>
              </a:rPr>
              <a:t>после выдачи прав монитор следит за событиями ЕГРЮЛ и реестра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24</a:t>
            </a:fld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A5 · РЫНОК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Реестр, ЭДО и сервисы данных отвечают «действует ли МЧД» и «кто компания», «Мандат» — «можно ли эту операцию сегодня»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«—» — нет в открытых описаниях продукта на 28.10.2026. Источники: vtb.ru/malyj-biznes/ukep/mchd; i.vkontur.ru/news/3157; developer.kontur.ru; описания Контур.Фокуса и СПАРК; docs/COMPETITORS.md; Signicat (M‑37)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graphicFrame>
        <p:nvGraphicFramePr>
          <p:cNvPr id="26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783080"/>
                <a:gridCol w="1920240"/>
                <a:gridCol w="1874520"/>
                <a:gridCol w="1508760"/>
                <a:gridCol w="21332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 сравниваем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Сервис МЧД «ВТБ Бизнес»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ЭДО: Контур.Диадок, 1С‑ЭДО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Данные: Контур.Фокус, СПАРК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Реестр МЧД ФНС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«Мандат»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B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Объект проверки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выпуск исходящих МЧД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даты МЧД и сертификат под документом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досье и изменения компании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действует ли МЧД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04CB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операция банка на дату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Полномочие на операцию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«Диадок не может» (Контур)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04CB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39 правил с нормой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Передоверие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признак передоверия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сведения о цепочке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04CB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сроки, сужение, каскад отмены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ЕГРЮЛ на дату и устав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история ЕГРЮЛ, без устава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04CB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 одной проверке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Смена директора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уведомление об изменении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04CB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сигнал или разбор; отзыв удостоверений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Доказательство и аудит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выписки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статус в реестре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04CB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XPath, ГРН, норма; журнал; удостоверение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</a:tbl>
          </a:graphicData>
        </a:graphic>
      </p:graphicFrame>
      <p:sp>
        <p:nvSpPr>
          <p:cNvPr id="8" name="Плашка вывода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E6F0FF"/>
          </a:solidFill>
          <a:ln/>
        </p:spPr>
      </p:sp>
      <p:sp>
        <p:nvSpPr>
          <p:cNvPr id="9" name="Плитка значка"/>
          <p:cNvSpPr/>
          <p:nvPr/>
        </p:nvSpPr>
        <p:spPr>
          <a:xfrm>
            <a:off x="749808" y="55549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pic>
        <p:nvPicPr>
          <p:cNvPr id="10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6555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89888" y="5440680"/>
            <a:ext cx="99788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2"/>
                </a:solidFill>
              </a:rPr>
              <a:t>В ЕС проверка полномочия — уже отдельный продукт (Signicat InstantAuthority, Нидерланды). Мы не конкурируем с выпуском МЧД и данными о компаниях — берём их на вход.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25</a:t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A6 · ПРАВИЛА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39 правил со ссылкой на норму: что они ловят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Полная таблица «правило → норма → эффект → тест» — docs/RULES.md. Юрист банка утверждает правила подписанной записью; до утверждения строгий профиль не выносит по правилу ни «да», ни «нет»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graphicFrame>
        <p:nvGraphicFramePr>
          <p:cNvPr id="27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429000"/>
                <a:gridCol w="59280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Группа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Правила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 ловят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Формат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R-FMT-001…005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битый XML и XML‑бомбы, чужой формат, реквизиты по Приказу № 1001, безотзывная доверенность, повтор документов и полей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Стороны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R-ID-001…005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контрольные числа, чужая компания, чужой представитель, наименование не по ЕГРЮЛ, ИНН и СНИЛС разных людей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Реестр и срок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R-REG-001, R-TERM-001…002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отмена и истечение, недоступный реестр, срок по закону — год со дня совершения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Руководитель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R-EIO-001…006, R-BNK-001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подписант не директор на дату, смена директора (сигнал или разбор), недостоверность, ликвидация и банкротство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Покрытие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R-COV-001…002, R-JNT-001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 полномочия на операцию, код исключён из классификатора, совместные полномочия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Передоверие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R-SUB-001…010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запрет, однократность, расширение, срок, пропущенное звено, каскад отмены, утрата полномочий, длинная цепочка, нотариальная форма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Устав и подпись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R-CHR-001…002, R-TXT-001, R-PAP-001, R-SIG-001…002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порог одобрения, неразобранный устав, текстовые полномочия, бумажная доверенность, КЭП и подпись распоряжения руководителя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26</a:t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A7 · ПРАВО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Пять норм, на которых ошибается ручная сверка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ГК РФ, ст. 186–188; 127‑ФЗ, ст. 64, 94, 126; разъяснения ФНС о смене руководителя; описание схемы МЧД (ПрУтрПолн). Перед пилотом ссылки сверяет юрист банка — docs/REGULATORY.md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sp>
        <p:nvSpPr>
          <p:cNvPr id="7" name="Карточка"/>
          <p:cNvSpPr/>
          <p:nvPr/>
        </p:nvSpPr>
        <p:spPr>
          <a:xfrm>
            <a:off x="548640" y="1572768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1755648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Смена директора</a:t>
            </a:r>
            <a:endParaRPr lang="ru-RU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50008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chemeClr val="accent1"/>
                </a:solidFill>
              </a:rPr>
              <a:t>п. 1 ст. 188 ГК РФ</a:t>
            </a:r>
            <a:endParaRPr lang="ru-RU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34640"/>
            <a:ext cx="17068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МЧД прежнего директора действует, пока её не отменили</a:t>
            </a:r>
            <a:endParaRPr lang="ru-RU" sz="1200" dirty="0"/>
          </a:p>
        </p:txBody>
      </p:sp>
      <p:sp>
        <p:nvSpPr>
          <p:cNvPr id="11" name="Вердикт: ПОДТВЕРЖДЕНО"/>
          <p:cNvSpPr/>
          <p:nvPr/>
        </p:nvSpPr>
        <p:spPr>
          <a:xfrm>
            <a:off x="731520" y="3968496"/>
            <a:ext cx="1706819" cy="292608"/>
          </a:xfrm>
          <a:prstGeom prst="roundRect">
            <a:avLst>
              <a:gd name="adj" fmla="val 50000"/>
            </a:avLst>
          </a:prstGeom>
          <a:solidFill>
            <a:srgbClr val="E2F4EB"/>
          </a:solidFill>
          <a:ln/>
        </p:spPr>
      </p:sp>
      <p:sp>
        <p:nvSpPr>
          <p:cNvPr id="12" name="Метка статуса"/>
          <p:cNvSpPr/>
          <p:nvPr/>
        </p:nvSpPr>
        <p:spPr>
          <a:xfrm>
            <a:off x="868680" y="4069080"/>
            <a:ext cx="91440" cy="91440"/>
          </a:xfrm>
          <a:prstGeom prst="ellipse">
            <a:avLst/>
          </a:prstGeom>
          <a:solidFill>
            <a:srgbClr val="1A9F6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33272" y="3968496"/>
            <a:ext cx="1341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00" b="1" dirty="0">
                <a:solidFill>
                  <a:srgbClr val="0B6B44"/>
                </a:solidFill>
              </a:rPr>
              <a:t>ПОДТВЕРЖДЕНО</a:t>
            </a:r>
            <a:endParaRPr lang="ru-RU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361688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42557A"/>
                </a:solidFill>
              </a:rPr>
              <a:t>давняя смена — сигнал; свежая — на разбор</a:t>
            </a:r>
            <a:endParaRPr lang="ru-RU" sz="1150" dirty="0"/>
          </a:p>
        </p:txBody>
      </p:sp>
      <p:sp>
        <p:nvSpPr>
          <p:cNvPr id="15" name="Карточка"/>
          <p:cNvSpPr/>
          <p:nvPr/>
        </p:nvSpPr>
        <p:spPr>
          <a:xfrm>
            <a:off x="2804099" y="1572768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986979" y="1755648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Отмена основной МЧД</a:t>
            </a:r>
            <a:endParaRPr lang="ru-RU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986979" y="2350008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chemeClr val="accent1"/>
                </a:solidFill>
              </a:rPr>
              <a:t>п. 3 ст. 188 ГК РФ</a:t>
            </a:r>
            <a:endParaRPr lang="ru-RU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986979" y="2834640"/>
            <a:ext cx="17068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вместе с ней теряет силу передоверие</a:t>
            </a:r>
            <a:endParaRPr lang="ru-RU" sz="1200" dirty="0"/>
          </a:p>
        </p:txBody>
      </p:sp>
      <p:sp>
        <p:nvSpPr>
          <p:cNvPr id="19" name="Вердикт: ОПРОВЕРГНУТО"/>
          <p:cNvSpPr/>
          <p:nvPr/>
        </p:nvSpPr>
        <p:spPr>
          <a:xfrm>
            <a:off x="2986979" y="3968496"/>
            <a:ext cx="1706819" cy="292608"/>
          </a:xfrm>
          <a:prstGeom prst="roundRect">
            <a:avLst>
              <a:gd name="adj" fmla="val 50000"/>
            </a:avLst>
          </a:prstGeom>
          <a:solidFill>
            <a:srgbClr val="FDE6E7"/>
          </a:solidFill>
          <a:ln/>
        </p:spPr>
      </p:sp>
      <p:sp>
        <p:nvSpPr>
          <p:cNvPr id="20" name="Метка статуса"/>
          <p:cNvSpPr/>
          <p:nvPr/>
        </p:nvSpPr>
        <p:spPr>
          <a:xfrm>
            <a:off x="3124139" y="4069080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288731" y="3968496"/>
            <a:ext cx="1341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00" b="1" dirty="0">
                <a:solidFill>
                  <a:srgbClr val="A3161B"/>
                </a:solidFill>
              </a:rPr>
              <a:t>ОПРОВЕРГНУТО</a:t>
            </a:r>
            <a:endParaRPr lang="ru-RU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986979" y="4361688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42557A"/>
                </a:solidFill>
              </a:rPr>
              <a:t>каскад по всей цепочке</a:t>
            </a:r>
            <a:endParaRPr lang="ru-RU" sz="1150" dirty="0"/>
          </a:p>
        </p:txBody>
      </p:sp>
      <p:sp>
        <p:nvSpPr>
          <p:cNvPr id="23" name="Карточка"/>
          <p:cNvSpPr/>
          <p:nvPr/>
        </p:nvSpPr>
        <p:spPr>
          <a:xfrm>
            <a:off x="5059558" y="1572768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242438" y="1755648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Срок не указан</a:t>
            </a:r>
            <a:endParaRPr lang="ru-RU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242438" y="2350008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chemeClr val="accent1"/>
                </a:solidFill>
              </a:rPr>
              <a:t>п. 1 ст. 186 ГК РФ</a:t>
            </a:r>
            <a:endParaRPr lang="ru-RU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242438" y="2834640"/>
            <a:ext cx="17068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МЧД действует год со дня совершения</a:t>
            </a:r>
            <a:endParaRPr lang="ru-RU" sz="1200" dirty="0"/>
          </a:p>
        </p:txBody>
      </p:sp>
      <p:sp>
        <p:nvSpPr>
          <p:cNvPr id="27" name="Вердикт: НА РАЗБОР"/>
          <p:cNvSpPr/>
          <p:nvPr/>
        </p:nvSpPr>
        <p:spPr>
          <a:xfrm>
            <a:off x="5242438" y="3968496"/>
            <a:ext cx="1706819" cy="292608"/>
          </a:xfrm>
          <a:prstGeom prst="roundRect">
            <a:avLst>
              <a:gd name="adj" fmla="val 50000"/>
            </a:avLst>
          </a:prstGeom>
          <a:solidFill>
            <a:srgbClr val="FFF1D4"/>
          </a:solidFill>
          <a:ln/>
        </p:spPr>
      </p:sp>
      <p:sp>
        <p:nvSpPr>
          <p:cNvPr id="28" name="Метка статуса"/>
          <p:cNvSpPr/>
          <p:nvPr/>
        </p:nvSpPr>
        <p:spPr>
          <a:xfrm>
            <a:off x="5379598" y="4069080"/>
            <a:ext cx="91440" cy="91440"/>
          </a:xfrm>
          <a:prstGeom prst="ellipse">
            <a:avLst/>
          </a:prstGeom>
          <a:solidFill>
            <a:srgbClr val="F5A30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44190" y="3968496"/>
            <a:ext cx="1341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00" b="1" dirty="0">
                <a:solidFill>
                  <a:srgbClr val="7A4E00"/>
                </a:solidFill>
              </a:rPr>
              <a:t>НА РАЗБОР</a:t>
            </a:r>
            <a:endParaRPr lang="ru-RU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242438" y="4361688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42557A"/>
                </a:solidFill>
              </a:rPr>
              <a:t>истёк год — опровергнуто</a:t>
            </a:r>
            <a:endParaRPr lang="ru-RU" sz="1150" dirty="0"/>
          </a:p>
        </p:txBody>
      </p:sp>
      <p:sp>
        <p:nvSpPr>
          <p:cNvPr id="31" name="Карточка"/>
          <p:cNvSpPr/>
          <p:nvPr/>
        </p:nvSpPr>
        <p:spPr>
          <a:xfrm>
            <a:off x="7315017" y="1572768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7497897" y="1755648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Передоверие с утратой</a:t>
            </a:r>
            <a:endParaRPr lang="ru-RU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497897" y="2350008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chemeClr val="accent1"/>
                </a:solidFill>
              </a:rPr>
              <a:t>признак ПрУтрПолн = 2</a:t>
            </a:r>
            <a:endParaRPr lang="ru-RU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497897" y="2834640"/>
            <a:ext cx="17068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передоверитель больше не вправе действовать</a:t>
            </a:r>
            <a:endParaRPr lang="ru-RU" sz="1200" dirty="0"/>
          </a:p>
        </p:txBody>
      </p:sp>
      <p:sp>
        <p:nvSpPr>
          <p:cNvPr id="35" name="Вердикт: ОПРОВЕРГНУТО"/>
          <p:cNvSpPr/>
          <p:nvPr/>
        </p:nvSpPr>
        <p:spPr>
          <a:xfrm>
            <a:off x="7497897" y="3968496"/>
            <a:ext cx="1706819" cy="292608"/>
          </a:xfrm>
          <a:prstGeom prst="roundRect">
            <a:avLst>
              <a:gd name="adj" fmla="val 50000"/>
            </a:avLst>
          </a:prstGeom>
          <a:solidFill>
            <a:srgbClr val="FDE6E7"/>
          </a:solidFill>
          <a:ln/>
        </p:spPr>
      </p:sp>
      <p:sp>
        <p:nvSpPr>
          <p:cNvPr id="36" name="Метка статуса"/>
          <p:cNvSpPr/>
          <p:nvPr/>
        </p:nvSpPr>
        <p:spPr>
          <a:xfrm>
            <a:off x="7635057" y="4069080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799649" y="3968496"/>
            <a:ext cx="1341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00" b="1" dirty="0">
                <a:solidFill>
                  <a:srgbClr val="A3161B"/>
                </a:solidFill>
              </a:rPr>
              <a:t>ОПРОВЕРГНУТО</a:t>
            </a:r>
            <a:endParaRPr lang="ru-RU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7497897" y="4361688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42557A"/>
                </a:solidFill>
              </a:rPr>
              <a:t>действует только новый представитель</a:t>
            </a:r>
            <a:endParaRPr lang="ru-RU" sz="1150" dirty="0"/>
          </a:p>
        </p:txBody>
      </p:sp>
      <p:sp>
        <p:nvSpPr>
          <p:cNvPr id="39" name="Карточка"/>
          <p:cNvSpPr/>
          <p:nvPr/>
        </p:nvSpPr>
        <p:spPr>
          <a:xfrm>
            <a:off x="9570476" y="1572768"/>
            <a:ext cx="2072579" cy="361188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9753356" y="1755648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chemeClr val="tx2"/>
                </a:solidFill>
              </a:rPr>
              <a:t>Банкротство</a:t>
            </a:r>
            <a:endParaRPr lang="ru-RU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9753356" y="2350008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b="1" dirty="0">
                <a:solidFill>
                  <a:schemeClr val="accent1"/>
                </a:solidFill>
              </a:rPr>
              <a:t>подп. 7 п. 1 ст. 188 ГК РФ; 127‑ФЗ</a:t>
            </a:r>
            <a:endParaRPr lang="ru-RU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9753356" y="2834640"/>
            <a:ext cx="17068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конкурсное производство и внешнее управление прекращают МЧД</a:t>
            </a:r>
            <a:endParaRPr lang="ru-RU" sz="1200" dirty="0"/>
          </a:p>
        </p:txBody>
      </p:sp>
      <p:sp>
        <p:nvSpPr>
          <p:cNvPr id="43" name="Вердикт: ОПРОВЕРГНУТО"/>
          <p:cNvSpPr/>
          <p:nvPr/>
        </p:nvSpPr>
        <p:spPr>
          <a:xfrm>
            <a:off x="9753356" y="3968496"/>
            <a:ext cx="1706819" cy="292608"/>
          </a:xfrm>
          <a:prstGeom prst="roundRect">
            <a:avLst>
              <a:gd name="adj" fmla="val 50000"/>
            </a:avLst>
          </a:prstGeom>
          <a:solidFill>
            <a:srgbClr val="FDE6E7"/>
          </a:solidFill>
          <a:ln/>
        </p:spPr>
      </p:sp>
      <p:sp>
        <p:nvSpPr>
          <p:cNvPr id="44" name="Метка статуса"/>
          <p:cNvSpPr/>
          <p:nvPr/>
        </p:nvSpPr>
        <p:spPr>
          <a:xfrm>
            <a:off x="9890516" y="4069080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0055108" y="3968496"/>
            <a:ext cx="1341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900" b="1" dirty="0">
                <a:solidFill>
                  <a:srgbClr val="A3161B"/>
                </a:solidFill>
              </a:rPr>
              <a:t>ОПРОВЕРГНУТО</a:t>
            </a:r>
            <a:endParaRPr lang="ru-RU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9753356" y="4361688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50" dirty="0">
                <a:solidFill>
                  <a:srgbClr val="42557A"/>
                </a:solidFill>
              </a:rPr>
              <a:t>наблюдение — на разбор</a:t>
            </a:r>
            <a:endParaRPr lang="ru-RU" sz="1150" dirty="0"/>
          </a:p>
        </p:txBody>
      </p:sp>
      <p:sp>
        <p:nvSpPr>
          <p:cNvPr id="47" name="Плашка вывода"/>
          <p:cNvSpPr/>
          <p:nvPr/>
        </p:nvSpPr>
        <p:spPr>
          <a:xfrm>
            <a:off x="548640" y="5413248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48" name="Плитка значка"/>
          <p:cNvSpPr/>
          <p:nvPr/>
        </p:nvSpPr>
        <p:spPr>
          <a:xfrm>
            <a:off x="749808" y="55504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4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650992"/>
            <a:ext cx="256032" cy="256032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1389888" y="5413248"/>
            <a:ext cx="99788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dirty="0">
                <a:solidFill>
                  <a:schemeClr val="bg1"/>
                </a:solidFill>
              </a:rPr>
              <a:t>Ручная сверка «на сегодня» ошибается в обе стороны: отказывает по действующей МЧД и пропускает оборванную цепочку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27</a:t>
            </a:fld>
            <a:endParaRPr 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A8 · ДОВЕРИЕ БЕЗ БАЗЫ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Доверие без доступа к базе: подписанное удостоверение, статус и журнал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Стандарты: W3C Verifiable Credentials 2.0 и Bitstring Status List v1.0 (Рекомендации W3C, 15.05.2025); RFC 6962 / RFC 9162. На стенде подпись Ed25519, к пилоту — ГОСТ через СКЗИ банка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sp>
        <p:nvSpPr>
          <p:cNvPr id="7" name="Карточка"/>
          <p:cNvSpPr/>
          <p:nvPr/>
        </p:nvSpPr>
        <p:spPr>
          <a:xfrm>
            <a:off x="548640" y="1572768"/>
            <a:ext cx="3545738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8" name="Плитка значка"/>
          <p:cNvSpPr/>
          <p:nvPr/>
        </p:nvSpPr>
        <p:spPr>
          <a:xfrm>
            <a:off x="777240" y="177393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47" y="1878543"/>
            <a:ext cx="266273" cy="26627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89888" y="1773936"/>
            <a:ext cx="25398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tx2"/>
                </a:solidFill>
              </a:rPr>
              <a:t>Удостоверение</a:t>
            </a:r>
            <a:endParaRPr lang="ru-RU" sz="1600" dirty="0"/>
          </a:p>
        </p:txBody>
      </p:sp>
      <p:sp>
        <p:nvSpPr>
          <p:cNvPr id="11" name="Список"/>
          <p:cNvSpPr txBox="1"/>
          <p:nvPr/>
        </p:nvSpPr>
        <p:spPr>
          <a:xfrm>
            <a:off x="822960" y="2441448"/>
            <a:ext cx="30428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вердикт, операция, хеш набора правил и входов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номера МЧД цепочки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без ФИО, только хеш ИНН представителя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привязка к сумме, получателю и одноразовому nonce</a:t>
            </a:r>
            <a:endParaRPr lang="ru-RU" sz="1300" dirty="0"/>
          </a:p>
        </p:txBody>
      </p:sp>
      <p:sp>
        <p:nvSpPr>
          <p:cNvPr id="12" name="Карточка"/>
          <p:cNvSpPr/>
          <p:nvPr/>
        </p:nvSpPr>
        <p:spPr>
          <a:xfrm>
            <a:off x="4322978" y="1572768"/>
            <a:ext cx="3545738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3" name="Плитка значка"/>
          <p:cNvSpPr/>
          <p:nvPr/>
        </p:nvSpPr>
        <p:spPr>
          <a:xfrm>
            <a:off x="4551578" y="177393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186" y="1878543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64226" y="1773936"/>
            <a:ext cx="25398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tx2"/>
                </a:solidFill>
              </a:rPr>
              <a:t>Статус</a:t>
            </a:r>
            <a:endParaRPr lang="ru-RU" sz="1600" dirty="0"/>
          </a:p>
        </p:txBody>
      </p:sp>
      <p:sp>
        <p:nvSpPr>
          <p:cNvPr id="16" name="Список"/>
          <p:cNvSpPr txBox="1"/>
          <p:nvPr/>
        </p:nvSpPr>
        <p:spPr>
          <a:xfrm>
            <a:off x="4597298" y="2441448"/>
            <a:ext cx="30428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списки «отозвано» и «приостановлено»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мониторинг меняет статус по событию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проверяющий видит статус сам и отвергает подложенный старый список</a:t>
            </a:r>
            <a:endParaRPr lang="ru-RU" sz="1300" dirty="0"/>
          </a:p>
        </p:txBody>
      </p:sp>
      <p:sp>
        <p:nvSpPr>
          <p:cNvPr id="17" name="Карточка"/>
          <p:cNvSpPr/>
          <p:nvPr/>
        </p:nvSpPr>
        <p:spPr>
          <a:xfrm>
            <a:off x="8097317" y="1572768"/>
            <a:ext cx="3545738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8" name="Плитка значка"/>
          <p:cNvSpPr/>
          <p:nvPr/>
        </p:nvSpPr>
        <p:spPr>
          <a:xfrm>
            <a:off x="8325917" y="177393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524" y="1878543"/>
            <a:ext cx="266273" cy="26627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38565" y="1773936"/>
            <a:ext cx="25398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tx2"/>
                </a:solidFill>
              </a:rPr>
              <a:t>Журнал решений</a:t>
            </a:r>
            <a:endParaRPr lang="ru-RU" sz="1600" dirty="0"/>
          </a:p>
        </p:txBody>
      </p:sp>
      <p:sp>
        <p:nvSpPr>
          <p:cNvPr id="21" name="Список"/>
          <p:cNvSpPr txBox="1"/>
          <p:nvPr/>
        </p:nvSpPr>
        <p:spPr>
          <a:xfrm>
            <a:off x="8371637" y="2441448"/>
            <a:ext cx="30428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хеш‑цепочка и HMAC: правка записи видна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дерево Меркла: доказательство одной записи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аудитор не получает весь журнал</a:t>
            </a:r>
            <a:endParaRPr lang="ru-RU" sz="13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внешний якорь сегментов в контуре банка</a:t>
            </a:r>
            <a:endParaRPr lang="ru-RU" sz="1300" dirty="0"/>
          </a:p>
        </p:txBody>
      </p:sp>
      <p:sp>
        <p:nvSpPr>
          <p:cNvPr id="22" name="Карточка"/>
          <p:cNvSpPr/>
          <p:nvPr/>
        </p:nvSpPr>
        <p:spPr>
          <a:xfrm>
            <a:off x="548640" y="4910328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E6F0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2960" y="5093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spc="50" kern="0" dirty="0">
                <a:solidFill>
                  <a:schemeClr val="accent1"/>
                </a:solidFill>
              </a:rPr>
              <a:t>Сценарий</a:t>
            </a:r>
            <a:endParaRPr lang="ru-RU" sz="1200" dirty="0"/>
          </a:p>
        </p:txBody>
      </p:sp>
      <p:sp>
        <p:nvSpPr>
          <p:cNvPr id="24" name="Карточка"/>
          <p:cNvSpPr/>
          <p:nvPr/>
        </p:nvSpPr>
        <p:spPr>
          <a:xfrm>
            <a:off x="822960" y="5477256"/>
            <a:ext cx="1889699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32688" y="5477256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2"/>
                </a:solidFill>
              </a:rPr>
              <a:t>проверка</a:t>
            </a:r>
            <a:endParaRPr lang="ru-RU" sz="1250" dirty="0"/>
          </a:p>
        </p:txBody>
      </p:sp>
      <p:sp>
        <p:nvSpPr>
          <p:cNvPr id="26" name="Стрелка"/>
          <p:cNvSpPr/>
          <p:nvPr/>
        </p:nvSpPr>
        <p:spPr>
          <a:xfrm>
            <a:off x="2740091" y="5705856"/>
            <a:ext cx="21945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27" name="Карточка"/>
          <p:cNvSpPr/>
          <p:nvPr/>
        </p:nvSpPr>
        <p:spPr>
          <a:xfrm>
            <a:off x="2986979" y="5477256"/>
            <a:ext cx="1889699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3096707" y="5477256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2"/>
                </a:solidFill>
              </a:rPr>
              <a:t>удостоверение — в «ВТБ Бизнес»</a:t>
            </a:r>
            <a:endParaRPr lang="ru-RU" sz="1250" dirty="0"/>
          </a:p>
        </p:txBody>
      </p:sp>
      <p:sp>
        <p:nvSpPr>
          <p:cNvPr id="29" name="Стрелка"/>
          <p:cNvSpPr/>
          <p:nvPr/>
        </p:nvSpPr>
        <p:spPr>
          <a:xfrm>
            <a:off x="4904110" y="5705856"/>
            <a:ext cx="21945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30" name="Карточка"/>
          <p:cNvSpPr/>
          <p:nvPr/>
        </p:nvSpPr>
        <p:spPr>
          <a:xfrm>
            <a:off x="5150998" y="5477256"/>
            <a:ext cx="1889699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260726" y="5477256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2"/>
                </a:solidFill>
              </a:rPr>
              <a:t>основную МЧД отменили</a:t>
            </a:r>
            <a:endParaRPr lang="ru-RU" sz="1250" dirty="0"/>
          </a:p>
        </p:txBody>
      </p:sp>
      <p:sp>
        <p:nvSpPr>
          <p:cNvPr id="32" name="Стрелка"/>
          <p:cNvSpPr/>
          <p:nvPr/>
        </p:nvSpPr>
        <p:spPr>
          <a:xfrm>
            <a:off x="7068129" y="5705856"/>
            <a:ext cx="21945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33" name="Карточка"/>
          <p:cNvSpPr/>
          <p:nvPr/>
        </p:nvSpPr>
        <p:spPr>
          <a:xfrm>
            <a:off x="7315017" y="5477256"/>
            <a:ext cx="1889699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424745" y="5477256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50" dirty="0">
                <a:solidFill>
                  <a:schemeClr val="tx2"/>
                </a:solidFill>
              </a:rPr>
              <a:t>мониторинг ставит «отозвано»</a:t>
            </a:r>
            <a:endParaRPr lang="ru-RU" sz="1250" dirty="0"/>
          </a:p>
        </p:txBody>
      </p:sp>
      <p:sp>
        <p:nvSpPr>
          <p:cNvPr id="35" name="Стрелка"/>
          <p:cNvSpPr/>
          <p:nvPr/>
        </p:nvSpPr>
        <p:spPr>
          <a:xfrm>
            <a:off x="9232148" y="5705856"/>
            <a:ext cx="219456" cy="0"/>
          </a:xfrm>
          <a:prstGeom prst="line">
            <a:avLst/>
          </a:prstGeom>
          <a:noFill/>
          <a:ln w="19050">
            <a:solidFill>
              <a:srgbClr val="004CBC"/>
            </a:solidFill>
            <a:prstDash val="solid"/>
            <a:tailEnd type="triangle"/>
          </a:ln>
        </p:spPr>
      </p:sp>
      <p:sp>
        <p:nvSpPr>
          <p:cNvPr id="36" name="Карточка"/>
          <p:cNvSpPr/>
          <p:nvPr/>
        </p:nvSpPr>
        <p:spPr>
          <a:xfrm>
            <a:off x="9479036" y="5477256"/>
            <a:ext cx="1889699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CFA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9588764" y="5477256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ru-RU" sz="1250" b="1" dirty="0">
                <a:solidFill>
                  <a:schemeClr val="tx2"/>
                </a:solidFill>
              </a:rPr>
              <a:t>интернет-банк видит статус сам</a:t>
            </a:r>
            <a:endParaRPr lang="ru-RU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28</a:t>
            </a:fld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A9 · ИЗМЕРЕНИЕ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Как мы измеряем качество — и как пилот переносит метрики на данные ВТБ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Источники: evidence.json, docs/EVALUATION.md, docs/audit/AUDIT-2026-10-27-DIFFERENTIAL.md; Brown, Cai, DasGupta (2001) — интервал Вилсона; Geifman, El-Yaniv (2017) — «риск — покрытие»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graphicFrame>
        <p:nvGraphicFramePr>
          <p:cNvPr id="30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0"/>
                <a:gridCol w="33220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Сейчас: корпус из 294 кейсов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 пилоте: данные ВТБ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Корпус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294 кейса, 49 видов: 1 зелёный, 18 опровергающих, 21 на разбор, 9 без данных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50–100 обезличенных пакетов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Ложные «подтверждено»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 из 288, верхняя граница 95% — 1,3%; по видам дефектов 0 из 48, граница 7,4%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стоп‑критерий: 0 на всех кейсах пилота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Полнота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все опровергающие найдены, нижняя граница 95% — 96,6%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 меньше 139 дефектных случаев для ±5%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Покрытие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38,8% автоматических вердиктов в профиле demo, риск среди них ≤ 3,2%; 0,0% в strict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порог согласуем с банком до старта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Устойчивость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8 814 мутаций сценариев без ложного «да»; отложенный seed без расхождений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отдельная попытка построить ложное «да»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Независимая проверка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384 цепочки: «Мандат» и Cedar совпали; JCS, Меркл и подпись сверены с внешними эталонами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символьное доказательство свойства на Cedar SymCC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Разметка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ожидаемый вердикт задан генератором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два независимых эксперта, каппа Коэна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29</a:t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A10 · ИНФОРМАЦИОННАЯ БЕЗОПАСНОСТЬ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Всё в контуре банка: данные, модель и решения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Проектные решения «Мандата»; оценку соответствия проводят ИБ и юристы банка в пилоте. Меры по 821‑П, 851‑П и ГОСТ Р 57580.1 сопоставлены в docs/REGULATORY.md; docs/DATA_PROTECTION.md, docs/THREAT_MODEL.md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sp>
        <p:nvSpPr>
          <p:cNvPr id="7" name="Карточка"/>
          <p:cNvSpPr/>
          <p:nvPr/>
        </p:nvSpPr>
        <p:spPr>
          <a:xfrm>
            <a:off x="548640" y="1572768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8" name="Плитка значка"/>
          <p:cNvSpPr/>
          <p:nvPr/>
        </p:nvSpPr>
        <p:spPr>
          <a:xfrm>
            <a:off x="777240" y="18013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47" y="1905975"/>
            <a:ext cx="266273" cy="26627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89888" y="1801368"/>
            <a:ext cx="25398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On-prem без сети</a:t>
            </a:r>
            <a:endParaRPr lang="ru-RU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41448"/>
            <a:ext cx="308853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ядро не делает внешних запросов; модель — только хосты из белого списка, по умолчанию выключена</a:t>
            </a:r>
            <a:endParaRPr lang="ru-RU" sz="1300" dirty="0"/>
          </a:p>
        </p:txBody>
      </p:sp>
      <p:sp>
        <p:nvSpPr>
          <p:cNvPr id="12" name="Карточка"/>
          <p:cNvSpPr/>
          <p:nvPr/>
        </p:nvSpPr>
        <p:spPr>
          <a:xfrm>
            <a:off x="4322978" y="1572768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3" name="Плитка значка"/>
          <p:cNvSpPr/>
          <p:nvPr/>
        </p:nvSpPr>
        <p:spPr>
          <a:xfrm>
            <a:off x="4551578" y="18013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186" y="1905975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64226" y="1801368"/>
            <a:ext cx="25398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Персональные данные</a:t>
            </a:r>
            <a:endParaRPr lang="ru-RU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51578" y="2441448"/>
            <a:ext cx="308853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псевдонимизация ИНН, СНИЛС, паспорта, телефона, почты; в модель — только строки о полномочиях</a:t>
            </a:r>
            <a:endParaRPr lang="ru-RU" sz="1300" dirty="0"/>
          </a:p>
        </p:txBody>
      </p:sp>
      <p:sp>
        <p:nvSpPr>
          <p:cNvPr id="17" name="Карточка"/>
          <p:cNvSpPr/>
          <p:nvPr/>
        </p:nvSpPr>
        <p:spPr>
          <a:xfrm>
            <a:off x="8097317" y="1572768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8" name="Плитка значка"/>
          <p:cNvSpPr/>
          <p:nvPr/>
        </p:nvSpPr>
        <p:spPr>
          <a:xfrm>
            <a:off x="8325917" y="18013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524" y="1905975"/>
            <a:ext cx="266273" cy="26627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38565" y="1801368"/>
            <a:ext cx="25398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Вредоносные файлы</a:t>
            </a:r>
            <a:endParaRPr lang="ru-RU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25917" y="2441448"/>
            <a:ext cx="308853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защита от XML‑бомб и внешних сущностей, строгий JSON на всех внешних входах, лимиты размера и глубины</a:t>
            </a:r>
            <a:endParaRPr lang="ru-RU" sz="1300" dirty="0"/>
          </a:p>
        </p:txBody>
      </p:sp>
      <p:sp>
        <p:nvSpPr>
          <p:cNvPr id="22" name="Карточка"/>
          <p:cNvSpPr/>
          <p:nvPr/>
        </p:nvSpPr>
        <p:spPr>
          <a:xfrm>
            <a:off x="548640" y="3973068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3" name="Плитка значка"/>
          <p:cNvSpPr/>
          <p:nvPr/>
        </p:nvSpPr>
        <p:spPr>
          <a:xfrm>
            <a:off x="777240" y="42016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847" y="4306275"/>
            <a:ext cx="266273" cy="266273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89888" y="4201668"/>
            <a:ext cx="25398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API и роли</a:t>
            </a:r>
            <a:endParaRPr lang="ru-RU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4841748"/>
            <a:ext cx="308853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оператор, рецензент, аудитор; чужой кейс не виден; токены — только хеши, лимит частоты и тела</a:t>
            </a:r>
            <a:endParaRPr lang="ru-RU" sz="1300" dirty="0"/>
          </a:p>
        </p:txBody>
      </p:sp>
      <p:sp>
        <p:nvSpPr>
          <p:cNvPr id="27" name="Карточка"/>
          <p:cNvSpPr/>
          <p:nvPr/>
        </p:nvSpPr>
        <p:spPr>
          <a:xfrm>
            <a:off x="4322978" y="3973068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8" name="Плитка значка"/>
          <p:cNvSpPr/>
          <p:nvPr/>
        </p:nvSpPr>
        <p:spPr>
          <a:xfrm>
            <a:off x="4551578" y="42016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6186" y="4306275"/>
            <a:ext cx="266273" cy="266273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164226" y="4201668"/>
            <a:ext cx="25398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152‑ФЗ и 115‑ФЗ</a:t>
            </a:r>
            <a:endParaRPr lang="ru-RU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51578" y="4841748"/>
            <a:ext cx="308853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спроектировано с учётом 152‑ФЗ; идентификацию по 115‑ФЗ не подменяем — она за каналами банка</a:t>
            </a:r>
            <a:endParaRPr lang="ru-RU" sz="1300" dirty="0"/>
          </a:p>
        </p:txBody>
      </p:sp>
      <p:sp>
        <p:nvSpPr>
          <p:cNvPr id="32" name="Карточка"/>
          <p:cNvSpPr/>
          <p:nvPr/>
        </p:nvSpPr>
        <p:spPr>
          <a:xfrm>
            <a:off x="8097317" y="3973068"/>
            <a:ext cx="3545738" cy="2171700"/>
          </a:xfrm>
          <a:prstGeom prst="roundRect">
            <a:avLst>
              <a:gd name="adj" fmla="val 5053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3" name="Плитка значка"/>
          <p:cNvSpPr/>
          <p:nvPr/>
        </p:nvSpPr>
        <p:spPr>
          <a:xfrm>
            <a:off x="8325917" y="42016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524" y="4306275"/>
            <a:ext cx="266273" cy="266273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938565" y="4201668"/>
            <a:ext cx="25398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Подпись и сборка</a:t>
            </a:r>
            <a:endParaRPr lang="ru-RU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325917" y="4841748"/>
            <a:ext cx="308853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КЭП — через СКЗИ банка, ключ — HSM, Vault или KMS; в CI закреплённые версии, pip-audit, CodeQL, SBOM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30</a:t>
            </a:fld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A11 · РИСКИ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Риски, которые банк увидит первыми, — и как мы их снимаем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LIMITS.md — полный список границ; docs/AI_RISKS.md — матрица рисков ИИ; docs/audit — Red Team допуска операции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graphicFrame>
        <p:nvGraphicFramePr>
          <p:cNvPr id="32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34134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Риск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Как снимаем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Чем контролируем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Ложное подтверждение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неизвестное не становится «да», обязательные группы проверок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 ложных «подтверждено» — стоп‑критерий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Удостоверение на чужую дату или компанию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сверка дня по Москве и ИНН организации; срок не длиннее 30 дней и сроков цепочки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тесты привязки к запросу; Red Team допуска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Ошибка в норме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норма у каждого правила, статус draft/approved, юрист банка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доля правил, утверждённых юристом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Ошибка модели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 цитаты — нет факта; вердикт модель не меняет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тест «модель не меняет вердикт»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Формат МЧД изменится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теги — в файле соответствия, формы ЦБ по 315‑ФЗ — через адаптер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пересборка примеров одной командой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Нагрузка «на разбор»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сигнал вместо разбора там, где закон позволяет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доля «на разбор» с порогом банка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Интеграция с ДБО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на пилоте — только рекомендация, без изменений в ДБО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2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сценарий пилота без доработок ДБО</a:t>
                      </a:r>
                      <a:endParaRPr lang="ru-RU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31</a:t>
            </a:fld>
            <a:endParaRPr lang="ru-R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A12 · ЭКОНОМИКА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Расчёт эффекта: формулы, база Банка России и мировые ориентиры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Источники: Банк России, I–II кв. 2026 (M‑07, M‑15); ВТБ, пресс‑релиз к МСФО за 1П 2026 (M‑09); Fenergo — отраслевые опросы 2022 и 2025 гг. (M‑11); Companies House, 30.06.2025 (M‑36); финансовая модель пакета аналитики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sp>
        <p:nvSpPr>
          <p:cNvPr id="7" name="Карточка"/>
          <p:cNvSpPr/>
          <p:nvPr/>
        </p:nvSpPr>
        <p:spPr>
          <a:xfrm>
            <a:off x="548640" y="1572768"/>
            <a:ext cx="5432908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8" name="Плитка значка"/>
          <p:cNvSpPr/>
          <p:nvPr/>
        </p:nvSpPr>
        <p:spPr>
          <a:xfrm>
            <a:off x="777240" y="17739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77" y="186647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1773936"/>
            <a:ext cx="44270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Формулы «Мандата»</a:t>
            </a:r>
            <a:endParaRPr lang="ru-RU" sz="1500" dirty="0"/>
          </a:p>
        </p:txBody>
      </p:sp>
      <p:sp>
        <p:nvSpPr>
          <p:cNvPr id="11" name="Список"/>
          <p:cNvSpPr txBox="1"/>
          <p:nvPr/>
        </p:nvSpPr>
        <p:spPr>
          <a:xfrm>
            <a:off x="822960" y="2395728"/>
            <a:ext cx="49299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Ставки = клиенты × доля с событием представительства × минуты на кейс (с разбором) ÷ 60 ÷ 1 800 ч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Ущерб = 799 × 4 × доля ВТБ × доля случаев с полномочиями × 0,88 млн ₽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База — I полугодие 2026: 1598 операций против юрлиц на 1,4 млрд ₽ (Банк России)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Доли и минуты калибруются в первые две недели пилота; расчёт — python scripts/effect_model.py --scenarios</a:t>
            </a:r>
            <a:endParaRPr lang="ru-RU" sz="1250" dirty="0"/>
          </a:p>
        </p:txBody>
      </p:sp>
      <p:sp>
        <p:nvSpPr>
          <p:cNvPr id="12" name="Карточка"/>
          <p:cNvSpPr/>
          <p:nvPr/>
        </p:nvSpPr>
        <p:spPr>
          <a:xfrm>
            <a:off x="6210148" y="1572768"/>
            <a:ext cx="5432908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3" name="Плитка значка"/>
          <p:cNvSpPr/>
          <p:nvPr/>
        </p:nvSpPr>
        <p:spPr>
          <a:xfrm>
            <a:off x="6438748" y="17739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285" y="1866473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87388" y="1773936"/>
            <a:ext cx="44270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tx2"/>
                </a:solidFill>
              </a:rPr>
              <a:t>Мировые ориентиры</a:t>
            </a:r>
            <a:endParaRPr lang="ru-RU" sz="1500" dirty="0"/>
          </a:p>
        </p:txBody>
      </p:sp>
      <p:sp>
        <p:nvSpPr>
          <p:cNvPr id="16" name="Список"/>
          <p:cNvSpPr txBox="1"/>
          <p:nvPr/>
        </p:nvSpPr>
        <p:spPr>
          <a:xfrm>
            <a:off x="6484468" y="2395728"/>
            <a:ext cx="49299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1 500–3 000 долл. США — столько больше половины корпоративных банков тратят на одну KYC‑проверку клиента (опрос Fenergo, 2022)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70% финансовых организаций теряли клиентов из‑за медленного подключения (опрос Fenergo, 2025)</a:t>
            </a:r>
            <a:endParaRPr lang="ru-RU" sz="12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50" dirty="0">
                <a:solidFill>
                  <a:schemeClr val="tx1"/>
                </a:solidFill>
              </a:rPr>
              <a:t>Великобритания: за год регистратор оспорил ложные сведения по 100 400 компаниям и отклонил 10 200 подозрительных заявлений (Companies House, 2025)</a:t>
            </a:r>
            <a:endParaRPr lang="ru-RU" sz="1250" dirty="0"/>
          </a:p>
        </p:txBody>
      </p:sp>
      <p:sp>
        <p:nvSpPr>
          <p:cNvPr id="17" name="Плашка вывода"/>
          <p:cNvSpPr/>
          <p:nvPr/>
        </p:nvSpPr>
        <p:spPr>
          <a:xfrm>
            <a:off x="548640" y="5047488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8" name="Плитка значка"/>
          <p:cNvSpPr/>
          <p:nvPr/>
        </p:nvSpPr>
        <p:spPr>
          <a:xfrm>
            <a:off x="749808" y="53675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1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4681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89888" y="5047488"/>
            <a:ext cx="99788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dirty="0">
                <a:solidFill>
                  <a:schemeClr val="bg1"/>
                </a:solidFill>
              </a:rPr>
              <a:t>Для ВТБ в базовом сценарии: окупаемость разовых затрат — 7,5 месяца, чистая отдача — 2,4 ₽ на рубль затрат за три года. Пилот заменяет параметры фактами банка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32</a:t>
            </a:fld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A13 · РЕАЛЬНЫЕ КЕЙСЫ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Реальные кейсы: где ошибка в полномочиях стоит денег — и что делает «Мандат»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M‑15, M‑17, M‑35–M‑38 реестра утверждений: Банк России; Forbes и АБН по данным РБК; ВС РФ; Companies House; документация Signicat; Google AP2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graphicFrame>
        <p:nvGraphicFramePr>
          <p:cNvPr id="34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3886200"/>
                <a:gridCol w="2331720"/>
                <a:gridCol w="26362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Кейс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 произошло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Урок для банка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 делает «Мандат»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«ЭОС», Россия, октябрь 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09.10 в ЕГРЮЛ внесли неизвестного компании гендиректора; по версии компании — по поддельным документам; 19.10 прежние руководители восстановлены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захват начинается в реестре, а заканчивается в банке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свежая смена — «на разбор»; событие ЕГРЮЛ приостанавливает удостоверения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ВС РФ, 2023, № 308‑ЭС22‑17199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банк отказал в переводе 6,5 млн ₽ по поручению действующего руководителя; суд обязал провести операцию, ВС РФ оставил это в силе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ошибка «нет» тоже стоит банку денег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проверка на дату: законный подписант получает «да» с доказательством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Банк России, II кв. 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780 операций без согласия у юрлиц на 831 млн ₽; возмещено 19,5% по счетам и 0,5% через СБП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потери бизнеса крупные и почти не возвращаются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предотвращение до операции: неизвестное не становится «да»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Companies House, Великобритания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 закону ECCTA 2023 за год до 03.2025 отклонено 10 200 подозрительных заявлений; с 18.11.2025 — проверка личности директоров до регистрации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реестр закрывает вход, но не операцию в банке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банк проверяет полномочие на дату операции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Signicat InstantAuthority, Нидерланды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запрос в Торговый реестр KvK и вход через iDIN возвращают роль, мандат и его ограничения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проверка полномочия — уже отдельный продукт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то же для МЧД, ЕГРЮЛ и устава — с нормой и журналом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Google AP2, 2025–2026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платёж ИИ‑агента опирается на подписанные мандаты с пределами пользователя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агенту нужен проверяемый мандат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удостоверение привязано к операции, сумме, получателю и nonce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33</a:t>
            </a:fld>
            <a:endParaRPr lang="ru-R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A14 · СТАНДАРТЫ И SOTA 2026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Открытые стандарты и практики 2025–2026 в основе «Мандата»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W3C, 15.05.2025; w3c/vc-di-eddsa; RFC 9162, RFC 3161; Sigstore; CNCF; standardwebhooks.com; GLEIF; OWASP Top 10 for LLM Applications 2025; SLSA, CycloneDX, OpenSSF Scorecard. docs/SOTA.md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sp>
        <p:nvSpPr>
          <p:cNvPr id="7" name="Карточка"/>
          <p:cNvSpPr/>
          <p:nvPr/>
        </p:nvSpPr>
        <p:spPr>
          <a:xfrm>
            <a:off x="548640" y="1572768"/>
            <a:ext cx="2636444" cy="1760220"/>
          </a:xfrm>
          <a:prstGeom prst="roundRect">
            <a:avLst>
              <a:gd name="adj" fmla="val 623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8" name="Плитка значка"/>
          <p:cNvSpPr/>
          <p:nvPr/>
        </p:nvSpPr>
        <p:spPr>
          <a:xfrm>
            <a:off x="731520" y="175564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4" y="1844162"/>
            <a:ext cx="225308" cy="2253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43584" y="1719072"/>
            <a:ext cx="1813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W3C VC 2.0 и Bitstring Status List</a:t>
            </a:r>
            <a:endParaRPr lang="ru-RU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286000"/>
            <a:ext cx="2288972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удостоверение проверки со статусом «действует / приостановлено / отозвано» (Рекомендации W3C, май 2025)</a:t>
            </a:r>
            <a:endParaRPr lang="ru-RU" sz="1100" dirty="0"/>
          </a:p>
        </p:txBody>
      </p:sp>
      <p:sp>
        <p:nvSpPr>
          <p:cNvPr id="12" name="Карточка"/>
          <p:cNvSpPr/>
          <p:nvPr/>
        </p:nvSpPr>
        <p:spPr>
          <a:xfrm>
            <a:off x="3367964" y="1572768"/>
            <a:ext cx="2636444" cy="1760220"/>
          </a:xfrm>
          <a:prstGeom prst="roundRect">
            <a:avLst>
              <a:gd name="adj" fmla="val 623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3" name="Плитка значка"/>
          <p:cNvSpPr/>
          <p:nvPr/>
        </p:nvSpPr>
        <p:spPr>
          <a:xfrm>
            <a:off x="3550844" y="175564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58" y="1844162"/>
            <a:ext cx="225308" cy="2253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062908" y="1719072"/>
            <a:ext cx="1813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eddsa-jcs-2022</a:t>
            </a:r>
            <a:endParaRPr lang="ru-RU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550844" y="2286000"/>
            <a:ext cx="2288972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каноническая запись, хеш и подпись совпадают с эталонными векторами W3C</a:t>
            </a:r>
            <a:endParaRPr lang="ru-RU" sz="1100" dirty="0"/>
          </a:p>
        </p:txBody>
      </p:sp>
      <p:sp>
        <p:nvSpPr>
          <p:cNvPr id="17" name="Карточка"/>
          <p:cNvSpPr/>
          <p:nvPr/>
        </p:nvSpPr>
        <p:spPr>
          <a:xfrm>
            <a:off x="6187288" y="1572768"/>
            <a:ext cx="2636444" cy="1760220"/>
          </a:xfrm>
          <a:prstGeom prst="roundRect">
            <a:avLst>
              <a:gd name="adj" fmla="val 623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8" name="Плитка значка"/>
          <p:cNvSpPr/>
          <p:nvPr/>
        </p:nvSpPr>
        <p:spPr>
          <a:xfrm>
            <a:off x="6370168" y="175564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1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682" y="1844162"/>
            <a:ext cx="225308" cy="2253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82232" y="1719072"/>
            <a:ext cx="1813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RFC 9162 и внешний якорь</a:t>
            </a:r>
            <a:endParaRPr lang="ru-RU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370168" y="2286000"/>
            <a:ext cx="2288972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журнал с доказательством одной записи; хеш сегмента — под метку RFC 3161 или в Sigstore Rekor</a:t>
            </a:r>
            <a:endParaRPr lang="ru-RU" sz="1100" dirty="0"/>
          </a:p>
        </p:txBody>
      </p:sp>
      <p:sp>
        <p:nvSpPr>
          <p:cNvPr id="22" name="Карточка"/>
          <p:cNvSpPr/>
          <p:nvPr/>
        </p:nvSpPr>
        <p:spPr>
          <a:xfrm>
            <a:off x="9006611" y="1572768"/>
            <a:ext cx="2636444" cy="1760220"/>
          </a:xfrm>
          <a:prstGeom prst="roundRect">
            <a:avLst>
              <a:gd name="adj" fmla="val 623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3" name="Плитка значка"/>
          <p:cNvSpPr/>
          <p:nvPr/>
        </p:nvSpPr>
        <p:spPr>
          <a:xfrm>
            <a:off x="9189491" y="175564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8005" y="1844162"/>
            <a:ext cx="225308" cy="2253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701555" y="1719072"/>
            <a:ext cx="1813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Cedar · CNCF</a:t>
            </a:r>
            <a:endParaRPr lang="ru-RU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9189491" y="2286000"/>
            <a:ext cx="2288972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вторая независимая реализация передоверия; символьная проверка Cedar SymCC — в плане</a:t>
            </a:r>
            <a:endParaRPr lang="ru-RU" sz="1100" dirty="0"/>
          </a:p>
        </p:txBody>
      </p:sp>
      <p:sp>
        <p:nvSpPr>
          <p:cNvPr id="27" name="Карточка"/>
          <p:cNvSpPr/>
          <p:nvPr/>
        </p:nvSpPr>
        <p:spPr>
          <a:xfrm>
            <a:off x="548640" y="3515868"/>
            <a:ext cx="2636444" cy="1760220"/>
          </a:xfrm>
          <a:prstGeom prst="roundRect">
            <a:avLst>
              <a:gd name="adj" fmla="val 623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8" name="Плитка значка"/>
          <p:cNvSpPr/>
          <p:nvPr/>
        </p:nvSpPr>
        <p:spPr>
          <a:xfrm>
            <a:off x="731520" y="369874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2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34" y="3787262"/>
            <a:ext cx="225308" cy="22530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243584" y="3662172"/>
            <a:ext cx="1813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Standard Webhooks</a:t>
            </a:r>
            <a:endParaRPr lang="ru-RU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731520" y="4229100"/>
            <a:ext cx="2288972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подписанные события о полномочиях для антифрода банка</a:t>
            </a:r>
            <a:endParaRPr lang="ru-RU" sz="1100" dirty="0"/>
          </a:p>
        </p:txBody>
      </p:sp>
      <p:sp>
        <p:nvSpPr>
          <p:cNvPr id="32" name="Карточка"/>
          <p:cNvSpPr/>
          <p:nvPr/>
        </p:nvSpPr>
        <p:spPr>
          <a:xfrm>
            <a:off x="3367964" y="3515868"/>
            <a:ext cx="2636444" cy="1760220"/>
          </a:xfrm>
          <a:prstGeom prst="roundRect">
            <a:avLst>
              <a:gd name="adj" fmla="val 623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3" name="Плитка значка"/>
          <p:cNvSpPr/>
          <p:nvPr/>
        </p:nvSpPr>
        <p:spPr>
          <a:xfrm>
            <a:off x="3550844" y="369874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9358" y="3787262"/>
            <a:ext cx="225308" cy="22530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062908" y="3662172"/>
            <a:ext cx="1813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GLEIF vLEI · ISO 17442‑3</a:t>
            </a:r>
            <a:endParaRPr lang="ru-RU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3550844" y="4229100"/>
            <a:ext cx="2288972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роль представителя как проверяемое удостоверение — тот же принцип</a:t>
            </a:r>
            <a:endParaRPr lang="ru-RU" sz="1100" dirty="0"/>
          </a:p>
        </p:txBody>
      </p:sp>
      <p:sp>
        <p:nvSpPr>
          <p:cNvPr id="37" name="Карточка"/>
          <p:cNvSpPr/>
          <p:nvPr/>
        </p:nvSpPr>
        <p:spPr>
          <a:xfrm>
            <a:off x="6187288" y="3515868"/>
            <a:ext cx="2636444" cy="1760220"/>
          </a:xfrm>
          <a:prstGeom prst="roundRect">
            <a:avLst>
              <a:gd name="adj" fmla="val 623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38" name="Плитка значка"/>
          <p:cNvSpPr/>
          <p:nvPr/>
        </p:nvSpPr>
        <p:spPr>
          <a:xfrm>
            <a:off x="6370168" y="369874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3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8682" y="3787262"/>
            <a:ext cx="225308" cy="225308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882232" y="3662172"/>
            <a:ext cx="1813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OWASP LLM Top 10 2025</a:t>
            </a:r>
            <a:endParaRPr lang="ru-RU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6370168" y="4229100"/>
            <a:ext cx="2288972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риски советника-ИИ разобраны: шлюз цитат, данные в маркерах, без инструментов</a:t>
            </a:r>
            <a:endParaRPr lang="ru-RU" sz="1100" dirty="0"/>
          </a:p>
        </p:txBody>
      </p:sp>
      <p:sp>
        <p:nvSpPr>
          <p:cNvPr id="42" name="Карточка"/>
          <p:cNvSpPr/>
          <p:nvPr/>
        </p:nvSpPr>
        <p:spPr>
          <a:xfrm>
            <a:off x="9006611" y="3515868"/>
            <a:ext cx="2636444" cy="1760220"/>
          </a:xfrm>
          <a:prstGeom prst="roundRect">
            <a:avLst>
              <a:gd name="adj" fmla="val 623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43" name="Плитка значка"/>
          <p:cNvSpPr/>
          <p:nvPr/>
        </p:nvSpPr>
        <p:spPr>
          <a:xfrm>
            <a:off x="9189491" y="369874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0FF"/>
          </a:solidFill>
          <a:ln/>
        </p:spPr>
      </p:sp>
      <p:pic>
        <p:nvPicPr>
          <p:cNvPr id="44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8005" y="3787262"/>
            <a:ext cx="225308" cy="22530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9701555" y="3662172"/>
            <a:ext cx="1813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tx2"/>
                </a:solidFill>
              </a:rPr>
              <a:t>SLSA, SBOM, Scorecard</a:t>
            </a:r>
            <a:endParaRPr lang="ru-RU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9189491" y="4229100"/>
            <a:ext cx="2288972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100" dirty="0">
                <a:solidFill>
                  <a:schemeClr val="tx1"/>
                </a:solidFill>
              </a:rPr>
              <a:t>подписанное происхождение сборки, CycloneDX SBOM, закреплённые версии</a:t>
            </a:r>
            <a:endParaRPr lang="ru-RU" sz="1100" dirty="0"/>
          </a:p>
        </p:txBody>
      </p:sp>
      <p:sp>
        <p:nvSpPr>
          <p:cNvPr id="47" name="Плашка вывода"/>
          <p:cNvSpPr/>
          <p:nvPr/>
        </p:nvSpPr>
        <p:spPr>
          <a:xfrm>
            <a:off x="548640" y="5458968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48" name="Плитка значка"/>
          <p:cNvSpPr/>
          <p:nvPr/>
        </p:nvSpPr>
        <p:spPr>
          <a:xfrm>
            <a:off x="749808" y="55732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4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392" y="5673852"/>
            <a:ext cx="256032" cy="256032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1389888" y="5458968"/>
            <a:ext cx="99788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dirty="0">
                <a:solidFill>
                  <a:schemeClr val="bg1"/>
                </a:solidFill>
              </a:rPr>
              <a:t>Всё на открытых стандартах: банк проверяет удостоверение, журнал и правила своими средствами и не зависит от поставщика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34</a:t>
            </a:fld>
            <a:endParaRPr lang="ru-R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A15 · ТРУДНЫЕ ВОПРОСЫ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Трудные вопросы жюри (1/2)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Ответы опираются на CLAIMS_REGISTRY.md и LIMITS.md: каждое число — с командой воспроизведения и границей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graphicFrame>
        <p:nvGraphicFramePr>
          <p:cNvPr id="36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68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Вопрос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Ответ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Чем вы лучше проверки статуса МЧД в реестре ФНС?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Реестр отвечает «действует или отменена». Мы — покрывает ли МЧД эту операцию у этой компании на эту дату, с ЕГРЮЛ, уставом, передоверием и событиями. Статус реестра — одно из 39 правил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 ложных «да» на синтетике — что это доказывает?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 правила ловят каждый из 48 видов дефектов: 0 из 288, верхняя граница 1,3%. На потоке ВТБ ту же метрику даёт пилот — она же стоп‑критерий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Кто отвечает, если «подтверждено», а это мошенник?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Решение остаётся за банком по его регламенту. «Мандат» даёт доказательство и журнал; в пилоте — теневой режим, права он не выдаёт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Почему правила, а не машинное обучение?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Полномочия — вопрос права, а не вероятности. Правила объяснимы и проверяемы; машинное обучение уместно для сигналов риска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Зачем тогда ИИ?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Извлечь положения устава и текстовые полномочия с дословной цитатой. Без модели продукт работает полностью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Откуда 42–281 млн ₽?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База — хищения у юрлиц по данным Банка России за I полугодие 2026; три явных параметра калибрует пилот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 работает сейчас, а что подключается в пилоте?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Работают ядро, правила, журнал, удостоверения, мониторинг, API с ролями, SBOM. В пилоте — адаптеры к реестру МЧД, ЕГРЮЛ, ЕФРСБ и СКЗИ банка через готовые порты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Почему в демо одно «подтверждено»?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Демо — набор ловушек: 13 из 14 кейсов содержат дефект или сомнение. «Да» выдаётся только при полном доказательстве, включая устав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35</a:t>
            </a:fld>
            <a:endParaRPr lang="ru-R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A16 · ТРУДНЫЕ ВОПРОСЫ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Трудные вопросы жюри (2/2)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Ответы опираются на CLAIMS_REGISTRY.md и LIMITS.md: каждое число — с командой воспроизведения и границей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graphicFrame>
        <p:nvGraphicFramePr>
          <p:cNvPr id="37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68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Вопрос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Ответ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Почему смена директора не прекращает МЧД?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Перечень оснований в п. 1 ст. 188 ГК РФ закрытый, ФНС это подтверждает. Новый директор может отменить МЧД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 при конфликте ЕГРЮЛ и МЧД?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Корневую МЧД подписал не директор по ЕГРЮЛ на дату выдачи — «опровергнуто» (R-EIO-001). Сверить нельзя — «на разбор». Свежая смена директора — всегда разбор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Как с ИБ и ПДн?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On-prem, без сети, псевдонимизация, удостоверение без ФИО, роли в API. Оценку соответствия проводит банк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Сколько стоит внедрение?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Пилот — 6 недель на одной операции. Модель для ВТБ: внедрение ≈8 млн ₽ и подписка ≈15 млн ₽ в год — ≈9% прямого эффекта банка; итоговую цену называем по замерам пилота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Это требование только российское?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Нет. FATF требует проверять, что представитель уполномочен; в ЕС с 10.07.2027 — Регламент 2024/1624 и стандарты AMLA; в Нидерландах это уже отдельный сервис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Если запрос придёт от ИИ-агента?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Агент действует от имени человека, а тот — от имени компании. «Мандат» проверяет всю цепочку и выдаёт удостоверение с пределами операции — как мандаты AP2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Почему вам можно доверять код?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1600 автотестов проходят (v0.3.0, evidence.json), независимая проверка на Cedar, сверка с внешними эталонами, реестр утверждений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Есть ли юрлицо для пилота?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10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Для конкурса не нужно. К пилоту через Акселератор ВТБ — регистрация компании или партнёр-интегратор</a:t>
                      </a:r>
                      <a:endParaRPr lang="ru-RU" sz="11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36</a:t>
            </a:fld>
            <a:endParaRPr lang="ru-RU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A17 · НОРМАТИВНАЯ БАЗА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Нормативная база на октябрь 2026 и что она меняет в «Мандате»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Ревизия 28.10.2026 по открытым источникам; перед пилотом каждую строку сверяет юрист банка. docs/REGULATORY.md, docs/SOURCES.md, реестр утверждений M‑01–M‑04, M‑16, M‑40, M‑41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graphicFrame>
        <p:nvGraphicFramePr>
          <p:cNvPr id="38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286000"/>
                <a:gridCol w="592805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Акт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 какой даты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Что меняет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73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63‑ФЗ в ред. 476‑ФЗ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01.09.2024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представитель юрлица подписывает своей КЭП вместе с МЧД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ГК РФ, ст. 185–189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действует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срок по умолчанию — год; передоверие; закрытый перечень прекращения; каскад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127‑ФЗ; подп. 7 п. 1 ст. 188 ГК РФ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действует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конкурсное производство и внешнее управление прекращают МЧД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115‑ФЗ, ст. 7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действует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идентификация представителя и документ-основание: номер, дата, срок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Приказ Банка России № ОД‑2506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01.01.2026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12 признаков операций без согласия вместо 6; признак из ГИС — с 01.03.2026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Приказ Минцифры № 1001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01.02.2026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СНИЛС и ИНН представителя, КПП, наименование полномочия рядом с кодом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Реестр МЧД ФНС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01.03.2026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поиск МЧД по номеру, ИНН доверителя и ИНН представителя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41‑ФЗ, ГИС «Антифрод»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01.03.2026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обмен сведениями о мошенничестве банков, операторов и госорганов; события «Мандата» — в антифрод банка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243‑ФЗ о технологиях ИИ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01.09.2026; ст. 5 — 01.03.2027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национальные модели — по решению Правительства, для банков — с Банком России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210‑ФЗ, антифрод-пакет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поэтапно с 01.09.2026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обязанности банков по защите и возмещению; применимость к юрлицам определяет юрист банка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821‑П в ред. № 7220‑У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01.10.2026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защита информации при переводах; меры «Мандата» сопоставлены в docs/REGULATORY.md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Кодекс этики ИИ; 3‑МР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2025; 16.06.2026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прозрачность, человек в контуре, подтверждение человеком при высоком риске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0A2973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315‑ФЗ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01.09.2027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dirty="0">
                          <a:solidFill>
                            <a:srgbClr val="0B1F4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единая форма МЧД основная; формы Банка России — дополнительные</a:t>
                      </a:r>
                      <a:endParaRPr lang="ru-RU" sz="10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37</a:t>
            </a:fld>
            <a:endParaRPr lang="ru-R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chemeClr val="accent1"/>
                </a:solidFill>
              </a:rPr>
              <a:t>A18 · ДОРОЖНАЯ КАРТА</a:t>
            </a:r>
            <a:endParaRPr lang="ru-RU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585216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chemeClr val="tx2"/>
                </a:solidFill>
              </a:rPr>
              <a:t>Дорожная карта: от онлайн‑питча до решения о пилоте</a:t>
            </a:r>
            <a:endParaRPr lang="ru-RU" sz="26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6272784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000" dirty="0">
                <a:solidFill>
                  <a:srgbClr val="5E6D8C"/>
                </a:solidFill>
              </a:rPr>
              <a:t>Сроки этапов — по сайту соревнования fintechacademy.ru (submission/README.md); задачи — docs/ROADMAP.md, docs/MVP.md, docs/HANDOFF_NEXT_QUOTA.md</a:t>
            </a:r>
            <a:endParaRPr lang="ru-RU" sz="1000" dirty="0"/>
          </a:p>
        </p:txBody>
      </p:sp>
      <p:sp>
        <p:nvSpPr>
          <p:cNvPr id="5" name="Ссылка на оглавление"/>
          <p:cNvSpPr txBox="1"/>
          <p:nvPr/>
        </p:nvSpPr>
        <p:spPr>
          <a:xfrm>
            <a:off x="7863840" y="274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ru-RU" sz="1050" b="1" dirty="0">
                <a:solidFill>
                  <a:schemeClr val="accent1"/>
                </a:solidFill>
              </a:rPr>
              <a:t>← к оглавлению приложения</a:t>
            </a:r>
            <a:endParaRPr lang="ru-RU" sz="1050" dirty="0"/>
          </a:p>
        </p:txBody>
      </p:sp>
      <p:pic>
        <p:nvPicPr>
          <p:cNvPr id="6" name="Ссылка на слайд 20" descr="Переход: оглавление приложения">
            <a:hlinkClick r:id="rId2" tooltip="оглавление приложения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6032"/>
            <a:ext cx="2651760" cy="310896"/>
          </a:xfrm>
          <a:prstGeom prst="rect">
            <a:avLst/>
          </a:prstGeom>
        </p:spPr>
      </p:pic>
      <p:sp>
        <p:nvSpPr>
          <p:cNvPr id="7" name="Карточка"/>
          <p:cNvSpPr/>
          <p:nvPr/>
        </p:nvSpPr>
        <p:spPr>
          <a:xfrm>
            <a:off x="548640" y="1572768"/>
            <a:ext cx="2072579" cy="347472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9808" y="17556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до 01.11</a:t>
            </a:r>
            <a:endParaRPr lang="ru-RU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048256"/>
            <a:ext cx="16702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700" b="1" dirty="0">
                <a:solidFill>
                  <a:schemeClr val="tx2"/>
                </a:solidFill>
              </a:rPr>
              <a:t>Спринт 1</a:t>
            </a:r>
            <a:endParaRPr lang="ru-RU" sz="1700" dirty="0"/>
          </a:p>
        </p:txBody>
      </p:sp>
      <p:sp>
        <p:nvSpPr>
          <p:cNvPr id="10" name="Список"/>
          <p:cNvSpPr txBox="1"/>
          <p:nvPr/>
        </p:nvSpPr>
        <p:spPr>
          <a:xfrm>
            <a:off x="768096" y="2560320"/>
            <a:ext cx="1688531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готово: вертикальный срез — 14 демо‑кейсов, отчёт, журнал, удостоверения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пакет аналитики и видео‑демо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в работе: интервью владельцев процесса</a:t>
            </a:r>
            <a:endParaRPr lang="ru-RU" sz="1200" dirty="0"/>
          </a:p>
        </p:txBody>
      </p:sp>
      <p:sp>
        <p:nvSpPr>
          <p:cNvPr id="11" name="Карточка"/>
          <p:cNvSpPr/>
          <p:nvPr/>
        </p:nvSpPr>
        <p:spPr>
          <a:xfrm>
            <a:off x="2804099" y="1572768"/>
            <a:ext cx="2072579" cy="347472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005267" y="17556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10–15.11</a:t>
            </a:r>
            <a:endParaRPr lang="ru-RU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005267" y="2048256"/>
            <a:ext cx="16702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700" b="1" dirty="0">
                <a:solidFill>
                  <a:schemeClr val="tx2"/>
                </a:solidFill>
              </a:rPr>
              <a:t>Онлайн‑питч</a:t>
            </a:r>
            <a:endParaRPr lang="ru-RU" sz="1700" dirty="0"/>
          </a:p>
        </p:txBody>
      </p:sp>
      <p:sp>
        <p:nvSpPr>
          <p:cNvPr id="14" name="Список"/>
          <p:cNvSpPr txBox="1"/>
          <p:nvPr/>
        </p:nvSpPr>
        <p:spPr>
          <a:xfrm>
            <a:off x="3023555" y="2560320"/>
            <a:ext cx="1688531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питч 5 минут по сценарию показа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живое демо: кейсы 01, 05, 10, 11 и мониторинг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сверка критериев трека с организатором</a:t>
            </a:r>
            <a:endParaRPr lang="ru-RU" sz="1200" dirty="0"/>
          </a:p>
        </p:txBody>
      </p:sp>
      <p:sp>
        <p:nvSpPr>
          <p:cNvPr id="15" name="Карточка"/>
          <p:cNvSpPr/>
          <p:nvPr/>
        </p:nvSpPr>
        <p:spPr>
          <a:xfrm>
            <a:off x="5059558" y="1572768"/>
            <a:ext cx="2072579" cy="347472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260726" y="17556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16–29.11</a:t>
            </a:r>
            <a:endParaRPr lang="ru-RU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260726" y="2048256"/>
            <a:ext cx="16702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700" b="1" dirty="0">
                <a:solidFill>
                  <a:schemeClr val="tx2"/>
                </a:solidFill>
              </a:rPr>
              <a:t>Спринт 2</a:t>
            </a:r>
            <a:endParaRPr lang="ru-RU" sz="1700" dirty="0"/>
          </a:p>
        </p:txBody>
      </p:sp>
      <p:sp>
        <p:nvSpPr>
          <p:cNvPr id="18" name="Список"/>
          <p:cNvSpPr txBox="1"/>
          <p:nvPr/>
        </p:nvSpPr>
        <p:spPr>
          <a:xfrm>
            <a:off x="5279014" y="2560320"/>
            <a:ext cx="1688531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профиль strict и правки по обратной связи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обезличенные кейсы от эксперта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коды из выгрузки ЕСНСИ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прототип проверки КЭП через СКЗИ</a:t>
            </a:r>
            <a:endParaRPr lang="ru-RU" sz="1200" dirty="0"/>
          </a:p>
        </p:txBody>
      </p:sp>
      <p:sp>
        <p:nvSpPr>
          <p:cNvPr id="19" name="Карточка"/>
          <p:cNvSpPr/>
          <p:nvPr/>
        </p:nvSpPr>
        <p:spPr>
          <a:xfrm>
            <a:off x="7315017" y="1572768"/>
            <a:ext cx="2072579" cy="347472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516185" y="17556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chemeClr val="accent1"/>
                </a:solidFill>
              </a:rPr>
              <a:t>03–08.12</a:t>
            </a:r>
            <a:endParaRPr lang="ru-RU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516185" y="2048256"/>
            <a:ext cx="16702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700" b="1" dirty="0">
                <a:solidFill>
                  <a:schemeClr val="tx2"/>
                </a:solidFill>
              </a:rPr>
              <a:t>Спринт 3</a:t>
            </a:r>
            <a:endParaRPr lang="ru-RU" sz="1700" dirty="0"/>
          </a:p>
        </p:txBody>
      </p:sp>
      <p:sp>
        <p:nvSpPr>
          <p:cNvPr id="22" name="Список"/>
          <p:cNvSpPr txBox="1"/>
          <p:nvPr/>
        </p:nvSpPr>
        <p:spPr>
          <a:xfrm>
            <a:off x="7534473" y="2560320"/>
            <a:ext cx="1688531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план пилота, расчёт эффекта на данных интервью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контракт интеграции с ДБО (OpenAPI)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символьная проверка на Cedar SymCC</a:t>
            </a:r>
            <a:endParaRPr lang="ru-RU" sz="1200" dirty="0"/>
          </a:p>
        </p:txBody>
      </p:sp>
      <p:sp>
        <p:nvSpPr>
          <p:cNvPr id="23" name="Карточка"/>
          <p:cNvSpPr/>
          <p:nvPr/>
        </p:nvSpPr>
        <p:spPr>
          <a:xfrm>
            <a:off x="9570476" y="1572768"/>
            <a:ext cx="2072579" cy="3474720"/>
          </a:xfrm>
          <a:prstGeom prst="roundRect">
            <a:avLst>
              <a:gd name="adj" fmla="val 529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771644" y="17556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200" b="1" dirty="0">
                <a:solidFill>
                  <a:srgbClr val="00AAFF"/>
                </a:solidFill>
              </a:rPr>
              <a:t>после 11.12</a:t>
            </a:r>
            <a:endParaRPr lang="ru-RU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771644" y="2048256"/>
            <a:ext cx="16702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700" b="1" dirty="0">
                <a:solidFill>
                  <a:schemeClr val="bg1"/>
                </a:solidFill>
              </a:rPr>
              <a:t>Пилот</a:t>
            </a:r>
            <a:endParaRPr lang="ru-RU" sz="1700" dirty="0"/>
          </a:p>
        </p:txBody>
      </p:sp>
      <p:sp>
        <p:nvSpPr>
          <p:cNvPr id="26" name="Список"/>
          <p:cNvSpPr txBox="1"/>
          <p:nvPr/>
        </p:nvSpPr>
        <p:spPr>
          <a:xfrm>
            <a:off x="9789932" y="2560320"/>
            <a:ext cx="1688531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6 недель в теневом режиме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одна операция</a:t>
            </a:r>
            <a:endParaRPr lang="ru-RU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решение: продолжать или остановить</a:t>
            </a:r>
            <a:endParaRPr lang="ru-RU" sz="1200" dirty="0"/>
          </a:p>
        </p:txBody>
      </p:sp>
      <p:sp>
        <p:nvSpPr>
          <p:cNvPr id="27" name="Плашка вывода"/>
          <p:cNvSpPr/>
          <p:nvPr/>
        </p:nvSpPr>
        <p:spPr>
          <a:xfrm>
            <a:off x="548640" y="5276088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A2973">
                <a:alpha val="10000"/>
              </a:srgbClr>
            </a:outerShdw>
          </a:effectLst>
        </p:spPr>
      </p:sp>
      <p:sp>
        <p:nvSpPr>
          <p:cNvPr id="28" name="Плитка значка"/>
          <p:cNvSpPr/>
          <p:nvPr/>
        </p:nvSpPr>
        <p:spPr>
          <a:xfrm>
            <a:off x="749808" y="54818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6A8"/>
          </a:solidFill>
          <a:ln/>
        </p:spPr>
      </p:sp>
      <p:pic>
        <p:nvPicPr>
          <p:cNvPr id="29" name="Значок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582412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389888" y="5276088"/>
            <a:ext cx="99788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500" b="1" dirty="0">
                <a:solidFill>
                  <a:schemeClr val="bg1"/>
                </a:solidFill>
              </a:rPr>
              <a:t>Финал 11.12.2026: живое демо и — если банк даст данные — результаты на обезличенных кейсах ВТБ</a:t>
            </a:r>
            <a:endParaRPr lang="ru-RU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D8C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38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dat VTB">
  <a:themeElements>
    <a:clrScheme name="Mandat VTB">
      <a:dk1>
        <a:srgbClr val="0B1F44"/>
      </a:dk1>
      <a:lt1>
        <a:srgbClr val="FFFFFF"/>
      </a:lt1>
      <a:dk2>
        <a:srgbClr val="0A2973"/>
      </a:dk2>
      <a:lt2>
        <a:srgbClr val="F3F6FB"/>
      </a:lt2>
      <a:accent1>
        <a:srgbClr val="004CBC"/>
      </a:accent1>
      <a:accent2>
        <a:srgbClr val="00AAFF"/>
      </a:accent2>
      <a:accent3>
        <a:srgbClr val="1A9F68"/>
      </a:accent3>
      <a:accent4>
        <a:srgbClr val="F5A300"/>
      </a:accent4>
      <a:accent5>
        <a:srgbClr val="E5484D"/>
      </a:accent5>
      <a:accent6>
        <a:srgbClr val="6B7A99"/>
      </a:accent6>
      <a:hlink>
        <a:srgbClr val="004CBC"/>
      </a:hlink>
      <a:folHlink>
        <a:srgbClr val="0A2973"/>
      </a:folHlink>
    </a:clrScheme>
    <a:fontScheme name="Mandat VTB">
      <a:majorFont>
        <a:latin typeface="Golos T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olos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Мандат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Команда «Мандат»</Company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Мандат — единое окно полномочий для бизнес-клиентов банка</dc:title>
  <dc:subject>Академия Финтеха 2026, трек ВТБ «Финтех без границ»: онбординг и проверка полномочий</dc:subject>
  <dc:creator>Команда «Мандат»</dc:creator>
  <cp:lastModifiedBy>Команда «Мандат»</cp:lastModifiedBy>
  <cp:revision>1</cp:revision>
  <dcterms:created xsi:type="dcterms:W3CDTF">2026-10-28T16:13:44Z</dcterms:created>
  <dcterms:modified xsi:type="dcterms:W3CDTF">2026-10-28T16:13:44Z</dcterms:modified>
</cp:coreProperties>
</file>